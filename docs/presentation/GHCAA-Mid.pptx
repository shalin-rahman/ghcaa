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5" d="100"/>
          <a:sy n="75" d="100"/>
        </p:scale>
        <p:origin x="72" y="39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0"/>
    <c:plotArea>
      <c:layout/>
      <c:barChart>
        <c:barDir val="bar"/>
        <c:grouping val="stacked"/>
        <c:varyColors val="1"/>
        <c:ser>
          <c:idx val="0"/>
          <c:order val="0"/>
          <c:tx>
            <c:strRef>
              <c:f>Sheet1!$B$1</c:f>
              <c:strCache>
                <c:ptCount val="1"/>
                <c:pt idx="0">
                  <c:v>Must</c:v>
                </c:pt>
              </c:strCache>
            </c:strRef>
          </c:tx>
          <c:spPr>
            <a:solidFill>
              <a:srgbClr val="0F6C73"/>
            </a:solidFill>
            <a:ln>
              <a:noFill/>
            </a:ln>
          </c:spPr>
          <c:invertIfNegative val="1"/>
          <c:dLbls>
            <c:numFmt formatCode="0;;;" sourceLinked="0"/>
            <c:spPr>
              <a:noFill/>
              <a:ln>
                <a:noFill/>
              </a:ln>
              <a:effectLst/>
            </c:spPr>
            <c:txPr>
              <a:bodyPr/>
              <a:lstStyle/>
              <a:p>
                <a:pPr>
                  <a:defRPr sz="1050">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Membership</c:v>
                </c:pt>
                <c:pt idx="1">
                  <c:v>Authentication</c:v>
                </c:pt>
                <c:pt idx="2">
                  <c:v>Events</c:v>
                </c:pt>
                <c:pt idx="3">
                  <c:v>Payments</c:v>
                </c:pt>
                <c:pt idx="4">
                  <c:v>News</c:v>
                </c:pt>
                <c:pt idx="5">
                  <c:v>Governance</c:v>
                </c:pt>
                <c:pt idx="6">
                  <c:v>Administration</c:v>
                </c:pt>
                <c:pt idx="7">
                  <c:v>Mobile</c:v>
                </c:pt>
                <c:pt idx="8">
                  <c:v>Job Board</c:v>
                </c:pt>
              </c:strCache>
            </c:strRef>
          </c:cat>
          <c:val>
            <c:numRef>
              <c:f>Sheet1!$B$2:$B$10</c:f>
              <c:numCache>
                <c:formatCode>General</c:formatCode>
                <c:ptCount val="9"/>
                <c:pt idx="0">
                  <c:v>6</c:v>
                </c:pt>
                <c:pt idx="1">
                  <c:v>4</c:v>
                </c:pt>
                <c:pt idx="2">
                  <c:v>2</c:v>
                </c:pt>
                <c:pt idx="3">
                  <c:v>7</c:v>
                </c:pt>
                <c:pt idx="4">
                  <c:v>3</c:v>
                </c:pt>
                <c:pt idx="5">
                  <c:v>8</c:v>
                </c:pt>
                <c:pt idx="6">
                  <c:v>5</c:v>
                </c:pt>
                <c:pt idx="7">
                  <c:v>3</c:v>
                </c:pt>
                <c:pt idx="8">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E00-416F-9192-C9730DD9EF28}"/>
            </c:ext>
          </c:extLst>
        </c:ser>
        <c:ser>
          <c:idx val="1"/>
          <c:order val="1"/>
          <c:tx>
            <c:strRef>
              <c:f>Sheet1!$C$1</c:f>
              <c:strCache>
                <c:ptCount val="1"/>
                <c:pt idx="0">
                  <c:v>Should</c:v>
                </c:pt>
              </c:strCache>
            </c:strRef>
          </c:tx>
          <c:spPr>
            <a:solidFill>
              <a:srgbClr val="5B6675"/>
            </a:solidFill>
            <a:ln>
              <a:noFill/>
            </a:ln>
          </c:spPr>
          <c:invertIfNegative val="1"/>
          <c:dLbls>
            <c:numFmt formatCode="0;;;" sourceLinked="0"/>
            <c:spPr>
              <a:noFill/>
              <a:ln>
                <a:noFill/>
              </a:ln>
              <a:effectLst/>
            </c:spPr>
            <c:txPr>
              <a:bodyPr/>
              <a:lstStyle/>
              <a:p>
                <a:pPr>
                  <a:defRPr sz="1050">
                    <a:solidFill>
                      <a:srgbClr val="FFFFFF"/>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Membership</c:v>
                </c:pt>
                <c:pt idx="1">
                  <c:v>Authentication</c:v>
                </c:pt>
                <c:pt idx="2">
                  <c:v>Events</c:v>
                </c:pt>
                <c:pt idx="3">
                  <c:v>Payments</c:v>
                </c:pt>
                <c:pt idx="4">
                  <c:v>News</c:v>
                </c:pt>
                <c:pt idx="5">
                  <c:v>Governance</c:v>
                </c:pt>
                <c:pt idx="6">
                  <c:v>Administration</c:v>
                </c:pt>
                <c:pt idx="7">
                  <c:v>Mobile</c:v>
                </c:pt>
                <c:pt idx="8">
                  <c:v>Job Board</c:v>
                </c:pt>
              </c:strCache>
            </c:strRef>
          </c:cat>
          <c:val>
            <c:numRef>
              <c:f>Sheet1!$C$2:$C$10</c:f>
              <c:numCache>
                <c:formatCode>General</c:formatCode>
                <c:ptCount val="9"/>
                <c:pt idx="0">
                  <c:v>2</c:v>
                </c:pt>
                <c:pt idx="1">
                  <c:v>1</c:v>
                </c:pt>
                <c:pt idx="2">
                  <c:v>3</c:v>
                </c:pt>
                <c:pt idx="3">
                  <c:v>0</c:v>
                </c:pt>
                <c:pt idx="4">
                  <c:v>4</c:v>
                </c:pt>
                <c:pt idx="5">
                  <c:v>0</c:v>
                </c:pt>
                <c:pt idx="6">
                  <c:v>1</c:v>
                </c:pt>
                <c:pt idx="7">
                  <c:v>1</c:v>
                </c:pt>
                <c:pt idx="8">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E00-416F-9192-C9730DD9EF28}"/>
            </c:ext>
          </c:extLst>
        </c:ser>
        <c:ser>
          <c:idx val="2"/>
          <c:order val="2"/>
          <c:tx>
            <c:strRef>
              <c:f>Sheet1!$D$1</c:f>
              <c:strCache>
                <c:ptCount val="1"/>
                <c:pt idx="0">
                  <c:v>Could</c:v>
                </c:pt>
              </c:strCache>
            </c:strRef>
          </c:tx>
          <c:spPr>
            <a:solidFill>
              <a:srgbClr val="C9CED6"/>
            </a:solidFill>
            <a:ln>
              <a:noFill/>
            </a:ln>
          </c:spPr>
          <c:invertIfNegative val="1"/>
          <c:dLbls>
            <c:numFmt formatCode="0;;;" sourceLinked="0"/>
            <c:spPr>
              <a:noFill/>
              <a:ln>
                <a:noFill/>
              </a:ln>
              <a:effectLst/>
            </c:spPr>
            <c:txPr>
              <a:bodyPr/>
              <a:lstStyle/>
              <a:p>
                <a:pPr>
                  <a:defRPr sz="1050">
                    <a:solidFill>
                      <a:srgbClr val="1B2430"/>
                    </a:solidFil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Membership</c:v>
                </c:pt>
                <c:pt idx="1">
                  <c:v>Authentication</c:v>
                </c:pt>
                <c:pt idx="2">
                  <c:v>Events</c:v>
                </c:pt>
                <c:pt idx="3">
                  <c:v>Payments</c:v>
                </c:pt>
                <c:pt idx="4">
                  <c:v>News</c:v>
                </c:pt>
                <c:pt idx="5">
                  <c:v>Governance</c:v>
                </c:pt>
                <c:pt idx="6">
                  <c:v>Administration</c:v>
                </c:pt>
                <c:pt idx="7">
                  <c:v>Mobile</c:v>
                </c:pt>
                <c:pt idx="8">
                  <c:v>Job Board</c:v>
                </c:pt>
              </c:strCache>
            </c:strRef>
          </c:cat>
          <c:val>
            <c:numRef>
              <c:f>Sheet1!$D$2:$D$10</c:f>
              <c:numCache>
                <c:formatCode>General</c:formatCode>
                <c:ptCount val="9"/>
                <c:pt idx="0">
                  <c:v>0</c:v>
                </c:pt>
                <c:pt idx="1">
                  <c:v>0</c:v>
                </c:pt>
                <c:pt idx="2">
                  <c:v>2</c:v>
                </c:pt>
                <c:pt idx="3">
                  <c:v>0</c:v>
                </c:pt>
                <c:pt idx="4">
                  <c:v>1</c:v>
                </c:pt>
                <c:pt idx="5">
                  <c:v>1</c:v>
                </c:pt>
                <c:pt idx="6">
                  <c:v>1</c:v>
                </c:pt>
                <c:pt idx="7">
                  <c:v>1</c:v>
                </c:pt>
                <c:pt idx="8">
                  <c:v>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E00-416F-9192-C9730DD9EF28}"/>
            </c:ext>
          </c:extLst>
        </c:ser>
        <c:dLbls>
          <c:showLegendKey val="0"/>
          <c:showVal val="0"/>
          <c:showCatName val="0"/>
          <c:showSerName val="0"/>
          <c:showPercent val="0"/>
          <c:showBubbleSize val="0"/>
        </c:dLbls>
        <c:gapWidth val="55"/>
        <c:overlap val="10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CED6"/>
            </a:solidFill>
          </a:ln>
        </c:spPr>
        <c:txPr>
          <a:bodyPr/>
          <a:lstStyle/>
          <a:p>
            <a:pPr>
              <a:defRPr sz="1100">
                <a:solidFill>
                  <a:srgbClr val="1B2430"/>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legend>
      <c:legendPos val="t"/>
      <c:overlay val="0"/>
      <c:txPr>
        <a:bodyPr/>
        <a:lstStyle/>
        <a:p>
          <a:pPr>
            <a:defRPr sz="1100"/>
          </a:pPr>
          <a:endParaRPr lang="en-US"/>
        </a:p>
      </c:txPr>
    </c:legend>
    <c:plotVisOnly val="1"/>
    <c:dispBlanksAs val="gap"/>
    <c:showDLblsOverMax val="1"/>
  </c:chart>
  <c:txPr>
    <a:bodyPr/>
    <a:lstStyle/>
    <a:p>
      <a:pPr>
        <a:defRPr sz="1100">
          <a:solidFill>
            <a:srgbClr val="1B2430"/>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Tests</c:v>
                </c:pt>
              </c:strCache>
            </c:strRef>
          </c:tx>
          <c:spPr>
            <a:solidFill>
              <a:srgbClr val="0F6C73"/>
            </a:solidFill>
          </c:spPr>
          <c:invertIfNegative val="1"/>
          <c:dLbls>
            <c:numFmt formatCode="#,##0" sourceLinked="0"/>
            <c:spPr>
              <a:noFill/>
              <a:ln>
                <a:noFill/>
              </a:ln>
              <a:effectLst/>
            </c:spPr>
            <c:txPr>
              <a:bodyPr/>
              <a:lstStyle/>
              <a:p>
                <a:pPr>
                  <a:defRPr sz="1150">
                    <a:solidFill>
                      <a:srgbClr val="1B2430"/>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Backend tests  [Test]</c:v>
                </c:pt>
                <c:pt idx="1">
                  <c:v>Backend cases  [TestCase]</c:v>
                </c:pt>
                <c:pt idx="2">
                  <c:v>Angular specs</c:v>
                </c:pt>
                <c:pt idx="3">
                  <c:v>Flutter tests</c:v>
                </c:pt>
              </c:strCache>
            </c:strRef>
          </c:cat>
          <c:val>
            <c:numRef>
              <c:f>Sheet1!$B$2:$B$5</c:f>
              <c:numCache>
                <c:formatCode>General</c:formatCode>
                <c:ptCount val="4"/>
                <c:pt idx="0">
                  <c:v>1530</c:v>
                </c:pt>
                <c:pt idx="1">
                  <c:v>292</c:v>
                </c:pt>
                <c:pt idx="2">
                  <c:v>905</c:v>
                </c:pt>
                <c:pt idx="3">
                  <c:v>372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87E-4EFB-80EB-7F94D91B2BFE}"/>
            </c:ext>
          </c:extLst>
        </c:ser>
        <c:dLbls>
          <c:showLegendKey val="0"/>
          <c:showVal val="0"/>
          <c:showCatName val="0"/>
          <c:showSerName val="0"/>
          <c:showPercent val="0"/>
          <c:showBubbleSize val="0"/>
        </c:dLbls>
        <c:gapWidth val="60"/>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C9CED6"/>
            </a:solidFill>
          </a:ln>
        </c:spPr>
        <c:txPr>
          <a:bodyPr/>
          <a:lstStyle/>
          <a:p>
            <a:pPr>
              <a:defRPr sz="1150">
                <a:solidFill>
                  <a:srgbClr val="1B2430"/>
                </a:solidFill>
              </a:defRPr>
            </a:pPr>
            <a:endParaRPr lang="en-US"/>
          </a:p>
        </c:txPr>
        <c:crossAx val="-2113994440"/>
        <c:crosses val="autoZero"/>
        <c:auto val="1"/>
        <c:lblAlgn val="ctr"/>
        <c:lblOffset val="100"/>
        <c:noMultiLvlLbl val="0"/>
      </c:catAx>
      <c:valAx>
        <c:axId val="-2113994440"/>
        <c:scaling>
          <c:orientation val="minMax"/>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50">
          <a:solidFill>
            <a:srgbClr val="1B2430"/>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49899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Progress since the last review, focused on two parts: the election module and the data model behind it. Every number in the deck was counted from the repository on 31 October.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counts of what exists in the code, not of features used in production. Test declarations are not a pass rate; quote the latest run separately.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Clean Architecture. Domain has no outward references; Application defines the interfaces; Infrastructure implements them with EF Core, storage, email and payment adapters; the API layer hosts controllers, SignalR hubs and the middleware pipeline.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order of the middleware matters. Exceptions are caught before anything else can fail; rate limits apply before any identity work; the security stamp is checked after the token is validated, so a revoked session stops on its next request.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Dates move the election through nomination and withdrawal on their own. The five gated steps need one official to request and a different official to approve. From the open-polling request until the result is declared, the election rules are frozen; a change needs a time-limited unlock with a written reason.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Posts are filled per election and never carry over. A post is active only after the appointee accepts and signs a neutrality declaration. A candidate cannot hold a post, and there is one live Returning Officer at a time.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by what is not drawn. Member links to five records. SeatVote records only that a member voted for a seat. No foreign key from Member reaches the four ballot tables, and the audit chain logs a vote without its seat or time of day. The database holds 83 entity types in all; 24 belong to elections and polls.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Trust model, stated plainly: this is a trusted-server secret ballot, not an end-to-end verifiable one. Whoever holds the private key can open every sealed ballot. The Returning Officer keeps the key off the server, a second person must approve the count, and the key is destroyed afterwards.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Priorities use MoSCoW. Every quality requirement has a measurable acceptance criterion; ones that could not be given one were rejected. The full catalogue is the printed handout.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Counts are test declarations found in source on 31 October, not a pass rate; run the suites before the talk and quote the result separately. The design has been checked by tests and the scripted run; it has not yet been used in a live election. Demo: scripts\run-election-walkthrough.bat setup the day before, then resume slow in the room; clean-election-test-data.bat afterwards.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None of these is law for the association. They are used to check the design, and each row says where the design deliberately stops short. Certification would need an independent assessor, and no such claim is made.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tracker counts understate progress, because finished items move to an archive. Phone checks on a real device and two follow-up fixes wait for the election calendar.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245EB-4271-6E88-6C24-F0766A8E3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A00A3A-6F97-0437-9D92-B6F72191DC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E150312-023D-885F-7105-96527AC2F540}"/>
              </a:ext>
            </a:extLst>
          </p:cNvPr>
          <p:cNvSpPr>
            <a:spLocks noGrp="1"/>
          </p:cNvSpPr>
          <p:nvPr>
            <p:ph type="body" sz="quarter" idx="3"/>
          </p:nvPr>
        </p:nvSpPr>
        <p:spPr/>
        <p:txBody>
          <a:bodyPr/>
          <a:lstStyle/>
          <a:p>
            <a:r>
              <a:t>The tracker counts understate progress, because finished items move to an archive. Phone checks on a real device and two follow-up fixes wait for the election calendar.</a:t>
            </a:r>
          </a:p>
        </p:txBody>
      </p:sp>
      <p:sp>
        <p:nvSpPr>
          <p:cNvPr id="4" name="Slide Number Placeholder 3">
            <a:extLst>
              <a:ext uri="{FF2B5EF4-FFF2-40B4-BE49-F238E27FC236}">
                <a16:creationId xmlns:a16="http://schemas.microsoft.com/office/drawing/2014/main" id="{DA2E5565-8912-3605-CFC3-46F78DEFC726}"/>
              </a:ext>
            </a:extLst>
          </p:cNvPr>
          <p:cNvSpPr>
            <a:spLocks noGrp="1"/>
          </p:cNvSpPr>
          <p:nvPr>
            <p:ph type="sldNum" sz="quarter" idx="5"/>
          </p:nvPr>
        </p:nvSpPr>
        <p:spPr/>
      </p:sp>
    </p:spTree>
    <p:extLst>
      <p:ext uri="{BB962C8B-B14F-4D97-AF65-F5344CB8AC3E}">
        <p14:creationId xmlns:p14="http://schemas.microsoft.com/office/powerpoint/2010/main" val="22690918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hyperlink" Target="https://github.com/shalin-rahman/GHCAA/blob/preprod/docs/book/03-requirements.md#34-non-functional-requirements-and-quality-attribute-scenarios" TargetMode="External"/><Relationship Id="rId13" Type="http://schemas.openxmlformats.org/officeDocument/2006/relationships/hyperlink" Target="https://github.com/shalin-rahman/GHCAA/blob/preprod/docs/specs/023-election-ballot-secrecy-and-standards/spec.md" TargetMode="External"/><Relationship Id="rId3" Type="http://schemas.openxmlformats.org/officeDocument/2006/relationships/hyperlink" Target="https://github.com/shalin-rahman/GHCAA/blob/preprod/docs/book/05-system-analysis.md#56-data-modelling-and-analysis-model-review" TargetMode="External"/><Relationship Id="rId7" Type="http://schemas.openxmlformats.org/officeDocument/2006/relationships/hyperlink" Target="https://github.com/shalin-rahman/GHCAA/blob/preprod/docs/SRS.md#4-non-functional-requirements-nfr" TargetMode="External"/><Relationship Id="rId12" Type="http://schemas.openxmlformats.org/officeDocument/2006/relationships/hyperlink" Target="https://github.com/shalin-rahman/GHCAA/blob/preprod/docs/Elections/00-Election-Master-Overview.md" TargetMode="External"/><Relationship Id="rId17" Type="http://schemas.openxmlformats.org/officeDocument/2006/relationships/hyperlink" Target="https://ghcaa-ryl6.onrender.com/" TargetMode="External"/><Relationship Id="rId2" Type="http://schemas.openxmlformats.org/officeDocument/2006/relationships/notesSlide" Target="../notesSlides/notesSlide12.xml"/><Relationship Id="rId16" Type="http://schemas.openxmlformats.org/officeDocument/2006/relationships/hyperlink" Target="https://ghcaa-ryl6.onrender.com/admin/dev-tracker" TargetMode="External"/><Relationship Id="rId1" Type="http://schemas.openxmlformats.org/officeDocument/2006/relationships/slideLayout" Target="../slideLayouts/slideLayout7.xml"/><Relationship Id="rId6" Type="http://schemas.openxmlformats.org/officeDocument/2006/relationships/hyperlink" Target="https://github.com/shalin-rahman/GHCAA/blob/preprod/docs/book/03-requirements.md#33-requirements-specification" TargetMode="External"/><Relationship Id="rId11" Type="http://schemas.openxmlformats.org/officeDocument/2006/relationships/hyperlink" Target="https://github.com/shalin-rahman/GHCAA/blob/preprod/docs/book/GHCAA-Documentation-Book-2col.html" TargetMode="External"/><Relationship Id="rId5" Type="http://schemas.openxmlformats.org/officeDocument/2006/relationships/hyperlink" Target="https://github.com/shalin-rahman/GHCAA/blob/preprod/docs/SRS.md#3-functional-requirements-fr" TargetMode="External"/><Relationship Id="rId15" Type="http://schemas.openxmlformats.org/officeDocument/2006/relationships/hyperlink" Target="vscode-webview://03uaaprv1858hjf1bjoine9r16d47kujsl6cl8j2v7b6756op9nu/docs/book/build/tracker.html" TargetMode="External"/><Relationship Id="rId10" Type="http://schemas.openxmlformats.org/officeDocument/2006/relationships/hyperlink" Target="https://htmlpreview.github.io/?https://github.com/shalin-rahman/GHCAA/blob/preprod/docs/book/GHCAA-Documentation-Book.html" TargetMode="External"/><Relationship Id="rId4" Type="http://schemas.openxmlformats.org/officeDocument/2006/relationships/hyperlink" Target="https://github.com/shalin-rahman/GHCAA/blob/preprod/docs/SRS.md" TargetMode="External"/><Relationship Id="rId9" Type="http://schemas.openxmlformats.org/officeDocument/2006/relationships/hyperlink" Target="https://github.com/shalin-rahman/GHCAA/blob/preprod/docs/book/GHCAA-Documentation-Book.html" TargetMode="External"/><Relationship Id="rId14" Type="http://schemas.openxmlformats.org/officeDocument/2006/relationships/hyperlink" Target="https://github.com/shalin-rahman/GHCAA/blob/preprod/docs/TODO.md"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548640"/>
            <a:ext cx="8229600" cy="320040"/>
          </a:xfrm>
          <a:prstGeom prst="rect">
            <a:avLst/>
          </a:prstGeom>
          <a:noFill/>
        </p:spPr>
        <p:txBody>
          <a:bodyPr wrap="square" lIns="0" tIns="0" rIns="0" bIns="0" anchor="t"/>
          <a:lstStyle/>
          <a:p>
            <a:pPr algn="l">
              <a:spcAft>
                <a:spcPts val="0"/>
              </a:spcAft>
            </a:pPr>
            <a:r>
              <a:rPr sz="1100">
                <a:solidFill>
                  <a:srgbClr val="0F6C73"/>
                </a:solidFill>
                <a:latin typeface="Segoe UI Semibold"/>
              </a:rPr>
              <a:t>PROGRESS REVIEW  ·  31 OCTOBER 2026</a:t>
            </a:r>
          </a:p>
        </p:txBody>
      </p:sp>
      <p:sp>
        <p:nvSpPr>
          <p:cNvPr id="3" name="TextBox 2"/>
          <p:cNvSpPr txBox="1"/>
          <p:nvPr/>
        </p:nvSpPr>
        <p:spPr>
          <a:xfrm>
            <a:off x="548640" y="1143000"/>
            <a:ext cx="10241280" cy="2103120"/>
          </a:xfrm>
          <a:prstGeom prst="rect">
            <a:avLst/>
          </a:prstGeom>
          <a:noFill/>
        </p:spPr>
        <p:txBody>
          <a:bodyPr wrap="square" lIns="0" tIns="0" rIns="0" bIns="0" anchor="b"/>
          <a:lstStyle/>
          <a:p>
            <a:pPr algn="l">
              <a:spcAft>
                <a:spcPts val="0"/>
              </a:spcAft>
            </a:pPr>
            <a:r>
              <a:rPr sz="3200">
                <a:solidFill>
                  <a:srgbClr val="1B2430"/>
                </a:solidFill>
                <a:latin typeface="Segoe UI Semibold"/>
              </a:rPr>
              <a:t>Design, Development and Evaluation of a Specification-Driven, Reusable Alumni Management Platform for Resource-Constrained Institutions</a:t>
            </a:r>
          </a:p>
        </p:txBody>
      </p:sp>
      <p:cxnSp>
        <p:nvCxnSpPr>
          <p:cNvPr id="4" name="Connector 3"/>
          <p:cNvCxnSpPr/>
          <p:nvPr/>
        </p:nvCxnSpPr>
        <p:spPr>
          <a:xfrm>
            <a:off x="548640" y="3520440"/>
            <a:ext cx="1097279" cy="0"/>
          </a:xfrm>
          <a:prstGeom prst="line">
            <a:avLst/>
          </a:prstGeom>
          <a:ln w="38100">
            <a:solidFill>
              <a:srgbClr val="0F6C73"/>
            </a:solidFill>
          </a:ln>
        </p:spPr>
      </p:cxnSp>
      <p:sp>
        <p:nvSpPr>
          <p:cNvPr id="5" name="TextBox 4"/>
          <p:cNvSpPr txBox="1"/>
          <p:nvPr/>
        </p:nvSpPr>
        <p:spPr>
          <a:xfrm>
            <a:off x="548640" y="3703320"/>
            <a:ext cx="10058400" cy="457200"/>
          </a:xfrm>
          <a:prstGeom prst="rect">
            <a:avLst/>
          </a:prstGeom>
          <a:noFill/>
        </p:spPr>
        <p:txBody>
          <a:bodyPr wrap="square" lIns="0" tIns="0" rIns="0" bIns="0" anchor="t"/>
          <a:lstStyle/>
          <a:p>
            <a:pPr algn="l">
              <a:spcAft>
                <a:spcPts val="0"/>
              </a:spcAft>
            </a:pPr>
            <a:r>
              <a:rPr sz="1800">
                <a:solidFill>
                  <a:srgbClr val="5B6675"/>
                </a:solidFill>
                <a:latin typeface="Segoe UI"/>
              </a:rPr>
              <a:t>Platform progress. Focus: the election module and the data model.</a:t>
            </a:r>
          </a:p>
        </p:txBody>
      </p:sp>
      <p:cxnSp>
        <p:nvCxnSpPr>
          <p:cNvPr id="6" name="Connector 5"/>
          <p:cNvCxnSpPr/>
          <p:nvPr/>
        </p:nvCxnSpPr>
        <p:spPr>
          <a:xfrm>
            <a:off x="548640" y="4892040"/>
            <a:ext cx="11094415" cy="0"/>
          </a:xfrm>
          <a:prstGeom prst="line">
            <a:avLst/>
          </a:prstGeom>
          <a:ln w="9525">
            <a:solidFill>
              <a:srgbClr val="C9CED6"/>
            </a:solidFill>
          </a:ln>
        </p:spPr>
      </p:cxnSp>
      <p:sp>
        <p:nvSpPr>
          <p:cNvPr id="7" name="TextBox 6"/>
          <p:cNvSpPr txBox="1"/>
          <p:nvPr/>
        </p:nvSpPr>
        <p:spPr>
          <a:xfrm>
            <a:off x="548640" y="5029200"/>
            <a:ext cx="7315200" cy="1188720"/>
          </a:xfrm>
          <a:prstGeom prst="rect">
            <a:avLst/>
          </a:prstGeom>
          <a:noFill/>
        </p:spPr>
        <p:txBody>
          <a:bodyPr wrap="square" lIns="0" tIns="0" rIns="0" bIns="0" anchor="t"/>
          <a:lstStyle/>
          <a:p>
            <a:pPr algn="l">
              <a:spcAft>
                <a:spcPts val="400"/>
              </a:spcAft>
            </a:pPr>
            <a:r>
              <a:rPr sz="1500">
                <a:solidFill>
                  <a:srgbClr val="1B2430"/>
                </a:solidFill>
                <a:latin typeface="Segoe UI Semibold"/>
              </a:rPr>
              <a:t>Md Habibur Rahman  ·  EMIT, Batch 7  ·  2512220</a:t>
            </a:r>
          </a:p>
          <a:p>
            <a:pPr algn="l">
              <a:spcAft>
                <a:spcPts val="400"/>
              </a:spcAft>
            </a:pPr>
            <a:r>
              <a:rPr sz="1400">
                <a:solidFill>
                  <a:srgbClr val="5B6675"/>
                </a:solidFill>
                <a:latin typeface="Segoe UI"/>
              </a:rPr>
              <a:t>Supervised by Professor Dr. Kazi Muheymin-Us-Sakib</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Where the project stands</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2 / 12</a:t>
            </a:r>
          </a:p>
        </p:txBody>
      </p:sp>
      <p:cxnSp>
        <p:nvCxnSpPr>
          <p:cNvPr id="7" name="Connector 6"/>
          <p:cNvCxnSpPr/>
          <p:nvPr/>
        </p:nvCxnSpPr>
        <p:spPr>
          <a:xfrm>
            <a:off x="548640" y="1417320"/>
            <a:ext cx="3428999" cy="0"/>
          </a:xfrm>
          <a:prstGeom prst="line">
            <a:avLst/>
          </a:prstGeom>
          <a:ln w="12700">
            <a:solidFill>
              <a:srgbClr val="1B2430"/>
            </a:solidFill>
          </a:ln>
        </p:spPr>
      </p:cxnSp>
      <p:sp>
        <p:nvSpPr>
          <p:cNvPr id="8" name="TextBox 7"/>
          <p:cNvSpPr txBox="1"/>
          <p:nvPr/>
        </p:nvSpPr>
        <p:spPr>
          <a:xfrm>
            <a:off x="548640" y="1554480"/>
            <a:ext cx="3429000" cy="777240"/>
          </a:xfrm>
          <a:prstGeom prst="rect">
            <a:avLst/>
          </a:prstGeom>
          <a:noFill/>
        </p:spPr>
        <p:txBody>
          <a:bodyPr wrap="square" lIns="0" tIns="0" rIns="0" bIns="0" anchor="t"/>
          <a:lstStyle/>
          <a:p>
            <a:pPr algn="l">
              <a:spcAft>
                <a:spcPts val="0"/>
              </a:spcAft>
            </a:pPr>
            <a:r>
              <a:rPr sz="4000">
                <a:solidFill>
                  <a:srgbClr val="1B2430"/>
                </a:solidFill>
                <a:latin typeface="Segoe UI Semibold"/>
              </a:rPr>
              <a:t>406</a:t>
            </a:r>
          </a:p>
        </p:txBody>
      </p:sp>
      <p:sp>
        <p:nvSpPr>
          <p:cNvPr id="9" name="TextBox 8"/>
          <p:cNvSpPr txBox="1"/>
          <p:nvPr/>
        </p:nvSpPr>
        <p:spPr>
          <a:xfrm>
            <a:off x="548640" y="2331720"/>
            <a:ext cx="3429000" cy="640080"/>
          </a:xfrm>
          <a:prstGeom prst="rect">
            <a:avLst/>
          </a:prstGeom>
          <a:noFill/>
        </p:spPr>
        <p:txBody>
          <a:bodyPr wrap="square" lIns="0" tIns="0" rIns="0" bIns="0" anchor="t"/>
          <a:lstStyle/>
          <a:p>
            <a:pPr algn="l">
              <a:spcAft>
                <a:spcPts val="0"/>
              </a:spcAft>
            </a:pPr>
            <a:r>
              <a:rPr sz="1300">
                <a:solidFill>
                  <a:srgbClr val="5B6675"/>
                </a:solidFill>
                <a:latin typeface="Segoe UI"/>
              </a:rPr>
              <a:t>HTTP endpoints across 49 API controllers</a:t>
            </a:r>
          </a:p>
        </p:txBody>
      </p:sp>
      <p:cxnSp>
        <p:nvCxnSpPr>
          <p:cNvPr id="10" name="Connector 9"/>
          <p:cNvCxnSpPr/>
          <p:nvPr/>
        </p:nvCxnSpPr>
        <p:spPr>
          <a:xfrm>
            <a:off x="4381347" y="1417320"/>
            <a:ext cx="3429000" cy="0"/>
          </a:xfrm>
          <a:prstGeom prst="line">
            <a:avLst/>
          </a:prstGeom>
          <a:ln w="12700">
            <a:solidFill>
              <a:srgbClr val="1B2430"/>
            </a:solidFill>
          </a:ln>
        </p:spPr>
      </p:cxnSp>
      <p:sp>
        <p:nvSpPr>
          <p:cNvPr id="11" name="TextBox 10"/>
          <p:cNvSpPr txBox="1"/>
          <p:nvPr/>
        </p:nvSpPr>
        <p:spPr>
          <a:xfrm>
            <a:off x="4381347" y="1554480"/>
            <a:ext cx="3429000" cy="777240"/>
          </a:xfrm>
          <a:prstGeom prst="rect">
            <a:avLst/>
          </a:prstGeom>
          <a:noFill/>
        </p:spPr>
        <p:txBody>
          <a:bodyPr wrap="square" lIns="0" tIns="0" rIns="0" bIns="0" anchor="t"/>
          <a:lstStyle/>
          <a:p>
            <a:pPr algn="l">
              <a:spcAft>
                <a:spcPts val="0"/>
              </a:spcAft>
            </a:pPr>
            <a:r>
              <a:rPr sz="4000">
                <a:solidFill>
                  <a:srgbClr val="1B2430"/>
                </a:solidFill>
                <a:latin typeface="Segoe UI Semibold"/>
              </a:rPr>
              <a:t>83</a:t>
            </a:r>
          </a:p>
        </p:txBody>
      </p:sp>
      <p:sp>
        <p:nvSpPr>
          <p:cNvPr id="12" name="TextBox 11"/>
          <p:cNvSpPr txBox="1"/>
          <p:nvPr/>
        </p:nvSpPr>
        <p:spPr>
          <a:xfrm>
            <a:off x="4381347" y="2331720"/>
            <a:ext cx="3429000" cy="640080"/>
          </a:xfrm>
          <a:prstGeom prst="rect">
            <a:avLst/>
          </a:prstGeom>
          <a:noFill/>
        </p:spPr>
        <p:txBody>
          <a:bodyPr wrap="square" lIns="0" tIns="0" rIns="0" bIns="0" anchor="t"/>
          <a:lstStyle/>
          <a:p>
            <a:pPr algn="l">
              <a:spcAft>
                <a:spcPts val="0"/>
              </a:spcAft>
            </a:pPr>
            <a:r>
              <a:rPr sz="1300">
                <a:solidFill>
                  <a:srgbClr val="5B6675"/>
                </a:solidFill>
                <a:latin typeface="Segoe UI"/>
              </a:rPr>
              <a:t>entity types in the database; 24 serve elections and polls</a:t>
            </a:r>
          </a:p>
        </p:txBody>
      </p:sp>
      <p:cxnSp>
        <p:nvCxnSpPr>
          <p:cNvPr id="13" name="Connector 12"/>
          <p:cNvCxnSpPr/>
          <p:nvPr/>
        </p:nvCxnSpPr>
        <p:spPr>
          <a:xfrm>
            <a:off x="8214055" y="1417320"/>
            <a:ext cx="3429000" cy="0"/>
          </a:xfrm>
          <a:prstGeom prst="line">
            <a:avLst/>
          </a:prstGeom>
          <a:ln w="12700">
            <a:solidFill>
              <a:srgbClr val="1B2430"/>
            </a:solidFill>
          </a:ln>
        </p:spPr>
      </p:cxnSp>
      <p:sp>
        <p:nvSpPr>
          <p:cNvPr id="14" name="TextBox 13"/>
          <p:cNvSpPr txBox="1"/>
          <p:nvPr/>
        </p:nvSpPr>
        <p:spPr>
          <a:xfrm>
            <a:off x="8214055" y="1554480"/>
            <a:ext cx="3429000" cy="777240"/>
          </a:xfrm>
          <a:prstGeom prst="rect">
            <a:avLst/>
          </a:prstGeom>
          <a:noFill/>
        </p:spPr>
        <p:txBody>
          <a:bodyPr wrap="square" lIns="0" tIns="0" rIns="0" bIns="0" anchor="t"/>
          <a:lstStyle/>
          <a:p>
            <a:pPr algn="l">
              <a:spcAft>
                <a:spcPts val="0"/>
              </a:spcAft>
            </a:pPr>
            <a:r>
              <a:rPr sz="4000">
                <a:solidFill>
                  <a:srgbClr val="1B2430"/>
                </a:solidFill>
                <a:latin typeface="Segoe UI Semibold"/>
              </a:rPr>
              <a:t>34</a:t>
            </a:r>
          </a:p>
        </p:txBody>
      </p:sp>
      <p:sp>
        <p:nvSpPr>
          <p:cNvPr id="15" name="TextBox 14"/>
          <p:cNvSpPr txBox="1"/>
          <p:nvPr/>
        </p:nvSpPr>
        <p:spPr>
          <a:xfrm>
            <a:off x="8214055" y="2331720"/>
            <a:ext cx="3429000" cy="640080"/>
          </a:xfrm>
          <a:prstGeom prst="rect">
            <a:avLst/>
          </a:prstGeom>
          <a:noFill/>
        </p:spPr>
        <p:txBody>
          <a:bodyPr wrap="square" lIns="0" tIns="0" rIns="0" bIns="0" anchor="t"/>
          <a:lstStyle/>
          <a:p>
            <a:pPr algn="l">
              <a:spcAft>
                <a:spcPts val="0"/>
              </a:spcAft>
            </a:pPr>
            <a:r>
              <a:rPr sz="1300">
                <a:solidFill>
                  <a:srgbClr val="5B6675"/>
                </a:solidFill>
                <a:latin typeface="Segoe UI"/>
              </a:rPr>
              <a:t>PostgreSQL schema migrations</a:t>
            </a:r>
          </a:p>
        </p:txBody>
      </p:sp>
      <p:cxnSp>
        <p:nvCxnSpPr>
          <p:cNvPr id="16" name="Connector 15"/>
          <p:cNvCxnSpPr/>
          <p:nvPr/>
        </p:nvCxnSpPr>
        <p:spPr>
          <a:xfrm>
            <a:off x="548640" y="3246120"/>
            <a:ext cx="3428999" cy="0"/>
          </a:xfrm>
          <a:prstGeom prst="line">
            <a:avLst/>
          </a:prstGeom>
          <a:ln w="12700">
            <a:solidFill>
              <a:srgbClr val="1B2430"/>
            </a:solidFill>
          </a:ln>
        </p:spPr>
      </p:cxnSp>
      <p:sp>
        <p:nvSpPr>
          <p:cNvPr id="17" name="TextBox 16"/>
          <p:cNvSpPr txBox="1"/>
          <p:nvPr/>
        </p:nvSpPr>
        <p:spPr>
          <a:xfrm>
            <a:off x="548640" y="3383279"/>
            <a:ext cx="3429000" cy="777240"/>
          </a:xfrm>
          <a:prstGeom prst="rect">
            <a:avLst/>
          </a:prstGeom>
          <a:noFill/>
        </p:spPr>
        <p:txBody>
          <a:bodyPr wrap="square" lIns="0" tIns="0" rIns="0" bIns="0" anchor="t"/>
          <a:lstStyle/>
          <a:p>
            <a:pPr algn="l">
              <a:spcAft>
                <a:spcPts val="0"/>
              </a:spcAft>
            </a:pPr>
            <a:r>
              <a:rPr sz="4000">
                <a:solidFill>
                  <a:srgbClr val="1B2430"/>
                </a:solidFill>
                <a:latin typeface="Segoe UI Semibold"/>
              </a:rPr>
              <a:t>3,099</a:t>
            </a:r>
          </a:p>
        </p:txBody>
      </p:sp>
      <p:sp>
        <p:nvSpPr>
          <p:cNvPr id="18" name="TextBox 17"/>
          <p:cNvSpPr txBox="1"/>
          <p:nvPr/>
        </p:nvSpPr>
        <p:spPr>
          <a:xfrm>
            <a:off x="548640" y="4160520"/>
            <a:ext cx="3429000" cy="640080"/>
          </a:xfrm>
          <a:prstGeom prst="rect">
            <a:avLst/>
          </a:prstGeom>
          <a:noFill/>
        </p:spPr>
        <p:txBody>
          <a:bodyPr wrap="square" lIns="0" tIns="0" rIns="0" bIns="0" anchor="t"/>
          <a:lstStyle/>
          <a:p>
            <a:pPr algn="l">
              <a:spcAft>
                <a:spcPts val="0"/>
              </a:spcAft>
            </a:pPr>
            <a:r>
              <a:rPr sz="1300">
                <a:solidFill>
                  <a:srgbClr val="5B6675"/>
                </a:solidFill>
                <a:latin typeface="Segoe UI"/>
              </a:rPr>
              <a:t>test declarations across backend, web and mobile</a:t>
            </a:r>
          </a:p>
        </p:txBody>
      </p:sp>
      <p:cxnSp>
        <p:nvCxnSpPr>
          <p:cNvPr id="19" name="Connector 18"/>
          <p:cNvCxnSpPr/>
          <p:nvPr/>
        </p:nvCxnSpPr>
        <p:spPr>
          <a:xfrm>
            <a:off x="4381347" y="3246120"/>
            <a:ext cx="3429000" cy="0"/>
          </a:xfrm>
          <a:prstGeom prst="line">
            <a:avLst/>
          </a:prstGeom>
          <a:ln w="12700">
            <a:solidFill>
              <a:srgbClr val="1B2430"/>
            </a:solidFill>
          </a:ln>
        </p:spPr>
      </p:cxnSp>
      <p:sp>
        <p:nvSpPr>
          <p:cNvPr id="20" name="TextBox 19"/>
          <p:cNvSpPr txBox="1"/>
          <p:nvPr/>
        </p:nvSpPr>
        <p:spPr>
          <a:xfrm>
            <a:off x="4381347" y="3383279"/>
            <a:ext cx="3429000" cy="777240"/>
          </a:xfrm>
          <a:prstGeom prst="rect">
            <a:avLst/>
          </a:prstGeom>
          <a:noFill/>
        </p:spPr>
        <p:txBody>
          <a:bodyPr wrap="square" lIns="0" tIns="0" rIns="0" bIns="0" anchor="t"/>
          <a:lstStyle/>
          <a:p>
            <a:pPr algn="l">
              <a:spcAft>
                <a:spcPts val="0"/>
              </a:spcAft>
            </a:pPr>
            <a:r>
              <a:rPr sz="4000">
                <a:solidFill>
                  <a:srgbClr val="1B2430"/>
                </a:solidFill>
                <a:latin typeface="Segoe UI Semibold"/>
              </a:rPr>
              <a:t>57 / 37 / 11</a:t>
            </a:r>
          </a:p>
        </p:txBody>
      </p:sp>
      <p:sp>
        <p:nvSpPr>
          <p:cNvPr id="21" name="TextBox 20"/>
          <p:cNvSpPr txBox="1"/>
          <p:nvPr/>
        </p:nvSpPr>
        <p:spPr>
          <a:xfrm>
            <a:off x="4381347" y="4160520"/>
            <a:ext cx="3429000" cy="640080"/>
          </a:xfrm>
          <a:prstGeom prst="rect">
            <a:avLst/>
          </a:prstGeom>
          <a:noFill/>
        </p:spPr>
        <p:txBody>
          <a:bodyPr wrap="square" lIns="0" tIns="0" rIns="0" bIns="0" anchor="t"/>
          <a:lstStyle/>
          <a:p>
            <a:pPr algn="l">
              <a:spcAft>
                <a:spcPts val="0"/>
              </a:spcAft>
            </a:pPr>
            <a:r>
              <a:rPr sz="1300">
                <a:solidFill>
                  <a:srgbClr val="5B6675"/>
                </a:solidFill>
                <a:latin typeface="Segoe UI"/>
              </a:rPr>
              <a:t>functional requirements / quality requirements / scenarios</a:t>
            </a:r>
          </a:p>
        </p:txBody>
      </p:sp>
      <p:cxnSp>
        <p:nvCxnSpPr>
          <p:cNvPr id="22" name="Connector 21"/>
          <p:cNvCxnSpPr/>
          <p:nvPr/>
        </p:nvCxnSpPr>
        <p:spPr>
          <a:xfrm>
            <a:off x="8214055" y="3246120"/>
            <a:ext cx="3429000" cy="0"/>
          </a:xfrm>
          <a:prstGeom prst="line">
            <a:avLst/>
          </a:prstGeom>
          <a:ln w="12700">
            <a:solidFill>
              <a:srgbClr val="1B2430"/>
            </a:solidFill>
          </a:ln>
        </p:spPr>
      </p:cxnSp>
      <p:sp>
        <p:nvSpPr>
          <p:cNvPr id="23" name="TextBox 22"/>
          <p:cNvSpPr txBox="1"/>
          <p:nvPr/>
        </p:nvSpPr>
        <p:spPr>
          <a:xfrm>
            <a:off x="8214055" y="3383279"/>
            <a:ext cx="3429000" cy="777240"/>
          </a:xfrm>
          <a:prstGeom prst="rect">
            <a:avLst/>
          </a:prstGeom>
          <a:noFill/>
        </p:spPr>
        <p:txBody>
          <a:bodyPr wrap="square" lIns="0" tIns="0" rIns="0" bIns="0" anchor="t"/>
          <a:lstStyle/>
          <a:p>
            <a:pPr algn="l">
              <a:spcAft>
                <a:spcPts val="0"/>
              </a:spcAft>
            </a:pPr>
            <a:r>
              <a:rPr sz="4000">
                <a:solidFill>
                  <a:srgbClr val="1B2430"/>
                </a:solidFill>
                <a:latin typeface="Segoe UI Semibold"/>
              </a:rPr>
              <a:t>378</a:t>
            </a:r>
          </a:p>
        </p:txBody>
      </p:sp>
      <p:sp>
        <p:nvSpPr>
          <p:cNvPr id="24" name="TextBox 23"/>
          <p:cNvSpPr txBox="1"/>
          <p:nvPr/>
        </p:nvSpPr>
        <p:spPr>
          <a:xfrm>
            <a:off x="8214055" y="4160520"/>
            <a:ext cx="3429000" cy="640080"/>
          </a:xfrm>
          <a:prstGeom prst="rect">
            <a:avLst/>
          </a:prstGeom>
          <a:noFill/>
        </p:spPr>
        <p:txBody>
          <a:bodyPr wrap="square" lIns="0" tIns="0" rIns="0" bIns="0" anchor="t"/>
          <a:lstStyle/>
          <a:p>
            <a:pPr algn="l">
              <a:spcAft>
                <a:spcPts val="0"/>
              </a:spcAft>
            </a:pPr>
            <a:r>
              <a:rPr sz="1300">
                <a:solidFill>
                  <a:srgbClr val="5B6675"/>
                </a:solidFill>
                <a:latin typeface="Segoe UI"/>
              </a:rPr>
              <a:t>commits in the repository</a:t>
            </a:r>
          </a:p>
        </p:txBody>
      </p:sp>
      <p:cxnSp>
        <p:nvCxnSpPr>
          <p:cNvPr id="25" name="Connector 24"/>
          <p:cNvCxnSpPr/>
          <p:nvPr/>
        </p:nvCxnSpPr>
        <p:spPr>
          <a:xfrm>
            <a:off x="548640" y="5257800"/>
            <a:ext cx="11094415" cy="0"/>
          </a:xfrm>
          <a:prstGeom prst="line">
            <a:avLst/>
          </a:prstGeom>
          <a:ln w="9525">
            <a:solidFill>
              <a:srgbClr val="C9CED6"/>
            </a:solidFill>
          </a:ln>
        </p:spPr>
      </p:cxnSp>
      <p:sp>
        <p:nvSpPr>
          <p:cNvPr id="26" name="TextBox 25"/>
          <p:cNvSpPr txBox="1"/>
          <p:nvPr/>
        </p:nvSpPr>
        <p:spPr>
          <a:xfrm>
            <a:off x="548640" y="5376672"/>
            <a:ext cx="11094415" cy="365760"/>
          </a:xfrm>
          <a:prstGeom prst="rect">
            <a:avLst/>
          </a:prstGeom>
          <a:noFill/>
        </p:spPr>
        <p:txBody>
          <a:bodyPr wrap="square" lIns="0" tIns="0" rIns="0" bIns="0" anchor="t"/>
          <a:lstStyle/>
          <a:p>
            <a:pPr algn="l">
              <a:spcAft>
                <a:spcPts val="0"/>
              </a:spcAft>
            </a:pPr>
            <a:r>
              <a:rPr sz="1300">
                <a:solidFill>
                  <a:srgbClr val="1B2430"/>
                </a:solidFill>
                <a:latin typeface="Segoe UI Semibold"/>
              </a:rPr>
              <a:t>Stack   </a:t>
            </a:r>
            <a:r>
              <a:rPr sz="1300">
                <a:solidFill>
                  <a:srgbClr val="1B2430"/>
                </a:solidFill>
                <a:latin typeface="Segoe UI"/>
              </a:rPr>
              <a:t>ASP.NET Core 9  ·  EF Core 9  ·  PostgreSQL 16  ·  Angular 21  ·  Flutter  ·  SignalR  ·  S3 object storage</a:t>
            </a:r>
          </a:p>
        </p:txBody>
      </p:sp>
      <p:sp>
        <p:nvSpPr>
          <p:cNvPr id="27" name="TextBox 26"/>
          <p:cNvSpPr txBox="1"/>
          <p:nvPr/>
        </p:nvSpPr>
        <p:spPr>
          <a:xfrm>
            <a:off x="548640" y="5760720"/>
            <a:ext cx="11094415" cy="365760"/>
          </a:xfrm>
          <a:prstGeom prst="rect">
            <a:avLst/>
          </a:prstGeom>
          <a:noFill/>
        </p:spPr>
        <p:txBody>
          <a:bodyPr wrap="square" lIns="0" tIns="0" rIns="0" bIns="0" anchor="t"/>
          <a:lstStyle/>
          <a:p>
            <a:pPr algn="l">
              <a:spcAft>
                <a:spcPts val="0"/>
              </a:spcAft>
            </a:pPr>
            <a:r>
              <a:rPr sz="1300">
                <a:solidFill>
                  <a:srgbClr val="1B2430"/>
                </a:solidFill>
                <a:latin typeface="Segoe UI Semibold"/>
              </a:rPr>
              <a:t>Clients   </a:t>
            </a:r>
            <a:r>
              <a:rPr sz="1300">
                <a:solidFill>
                  <a:srgbClr val="1B2430"/>
                </a:solidFill>
                <a:latin typeface="Segoe UI"/>
              </a:rPr>
              <a:t>one API serves the Angular web app and the Flutter mobile app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Architecture: one API, four layers, dependencies point inward</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3 / 12</a:t>
            </a:r>
          </a:p>
        </p:txBody>
      </p:sp>
      <p:sp>
        <p:nvSpPr>
          <p:cNvPr id="7" name="TextBox 6"/>
          <p:cNvSpPr txBox="1"/>
          <p:nvPr/>
        </p:nvSpPr>
        <p:spPr>
          <a:xfrm>
            <a:off x="548640" y="1280160"/>
            <a:ext cx="219456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CLIENTS</a:t>
            </a:r>
          </a:p>
        </p:txBody>
      </p:sp>
      <p:sp>
        <p:nvSpPr>
          <p:cNvPr id="8" name="Rectangle 7"/>
          <p:cNvSpPr/>
          <p:nvPr/>
        </p:nvSpPr>
        <p:spPr>
          <a:xfrm>
            <a:off x="548640" y="1645920"/>
            <a:ext cx="2057400" cy="1005840"/>
          </a:xfrm>
          <a:prstGeom prst="rect">
            <a:avLst/>
          </a:prstGeom>
          <a:solidFill>
            <a:srgbClr val="F3F4F6"/>
          </a:solidFill>
          <a:ln>
            <a:noFill/>
          </a:ln>
        </p:spPr>
        <p:txBody>
          <a:bodyPr wrap="square" lIns="109728" rIns="109728" rtlCol="0" anchor="ctr"/>
          <a:lstStyle/>
          <a:p>
            <a:pPr algn="l">
              <a:spcAft>
                <a:spcPts val="200"/>
              </a:spcAft>
            </a:pPr>
            <a:r>
              <a:rPr sz="1300">
                <a:solidFill>
                  <a:srgbClr val="1B2430"/>
                </a:solidFill>
                <a:latin typeface="Segoe UI Semibold"/>
              </a:rPr>
              <a:t>Web app</a:t>
            </a:r>
          </a:p>
          <a:p>
            <a:pPr algn="l">
              <a:spcAft>
                <a:spcPts val="200"/>
              </a:spcAft>
            </a:pPr>
            <a:r>
              <a:rPr sz="1100">
                <a:solidFill>
                  <a:srgbClr val="0F6C73"/>
                </a:solidFill>
                <a:latin typeface="Segoe UI"/>
              </a:rPr>
              <a:t>Angular 21, Signals</a:t>
            </a:r>
          </a:p>
          <a:p>
            <a:pPr algn="l">
              <a:spcAft>
                <a:spcPts val="0"/>
              </a:spcAft>
            </a:pPr>
            <a:r>
              <a:rPr sz="1050">
                <a:solidFill>
                  <a:srgbClr val="5B6675"/>
                </a:solidFill>
                <a:latin typeface="Segoe UI"/>
              </a:rPr>
              <a:t>member, admin and officials areas</a:t>
            </a:r>
          </a:p>
        </p:txBody>
      </p:sp>
      <p:sp>
        <p:nvSpPr>
          <p:cNvPr id="9" name="Rectangle 8"/>
          <p:cNvSpPr/>
          <p:nvPr/>
        </p:nvSpPr>
        <p:spPr>
          <a:xfrm>
            <a:off x="548640" y="2834640"/>
            <a:ext cx="2057400" cy="1005840"/>
          </a:xfrm>
          <a:prstGeom prst="rect">
            <a:avLst/>
          </a:prstGeom>
          <a:solidFill>
            <a:srgbClr val="F3F4F6"/>
          </a:solidFill>
          <a:ln>
            <a:noFill/>
          </a:ln>
        </p:spPr>
        <p:txBody>
          <a:bodyPr wrap="square" lIns="109728" rIns="109728" rtlCol="0" anchor="ctr"/>
          <a:lstStyle/>
          <a:p>
            <a:pPr algn="l">
              <a:spcAft>
                <a:spcPts val="200"/>
              </a:spcAft>
            </a:pPr>
            <a:r>
              <a:rPr sz="1300">
                <a:solidFill>
                  <a:srgbClr val="1B2430"/>
                </a:solidFill>
                <a:latin typeface="Segoe UI Semibold"/>
              </a:rPr>
              <a:t>Mobile app</a:t>
            </a:r>
          </a:p>
          <a:p>
            <a:pPr algn="l">
              <a:spcAft>
                <a:spcPts val="200"/>
              </a:spcAft>
            </a:pPr>
            <a:r>
              <a:rPr sz="1100">
                <a:solidFill>
                  <a:srgbClr val="0F6C73"/>
                </a:solidFill>
                <a:latin typeface="Segoe UI"/>
              </a:rPr>
              <a:t>Flutter, Riverpod</a:t>
            </a:r>
          </a:p>
          <a:p>
            <a:pPr algn="l">
              <a:spcAft>
                <a:spcPts val="0"/>
              </a:spcAft>
            </a:pPr>
            <a:r>
              <a:rPr sz="1050">
                <a:solidFill>
                  <a:srgbClr val="5B6675"/>
                </a:solidFill>
                <a:latin typeface="Segoe UI"/>
              </a:rPr>
              <a:t>member and officials areas</a:t>
            </a:r>
          </a:p>
        </p:txBody>
      </p:sp>
      <p:sp>
        <p:nvSpPr>
          <p:cNvPr id="10" name="Rectangle 9"/>
          <p:cNvSpPr/>
          <p:nvPr/>
        </p:nvSpPr>
        <p:spPr>
          <a:xfrm>
            <a:off x="548640" y="4023360"/>
            <a:ext cx="2057400" cy="1005840"/>
          </a:xfrm>
          <a:prstGeom prst="rect">
            <a:avLst/>
          </a:prstGeom>
          <a:solidFill>
            <a:srgbClr val="F3F4F6"/>
          </a:solidFill>
          <a:ln>
            <a:noFill/>
          </a:ln>
        </p:spPr>
        <p:txBody>
          <a:bodyPr wrap="square" lIns="109728" rIns="109728" rtlCol="0" anchor="ctr"/>
          <a:lstStyle/>
          <a:p>
            <a:pPr algn="l">
              <a:spcAft>
                <a:spcPts val="200"/>
              </a:spcAft>
            </a:pPr>
            <a:r>
              <a:rPr sz="1300">
                <a:solidFill>
                  <a:srgbClr val="1B2430"/>
                </a:solidFill>
                <a:latin typeface="Segoe UI Semibold"/>
              </a:rPr>
              <a:t>Public pages</a:t>
            </a:r>
          </a:p>
          <a:p>
            <a:pPr algn="l">
              <a:spcAft>
                <a:spcPts val="200"/>
              </a:spcAft>
            </a:pPr>
            <a:r>
              <a:rPr sz="1100">
                <a:solidFill>
                  <a:srgbClr val="0F6C73"/>
                </a:solidFill>
                <a:latin typeface="Segoe UI"/>
              </a:rPr>
              <a:t>no sign-in</a:t>
            </a:r>
          </a:p>
          <a:p>
            <a:pPr algn="l">
              <a:spcAft>
                <a:spcPts val="0"/>
              </a:spcAft>
            </a:pPr>
            <a:r>
              <a:rPr sz="1050">
                <a:solidFill>
                  <a:srgbClr val="5B6675"/>
                </a:solidFill>
                <a:latin typeface="Segoe UI"/>
              </a:rPr>
              <a:t>officials board, results, audit check</a:t>
            </a:r>
          </a:p>
        </p:txBody>
      </p:sp>
      <p:sp>
        <p:nvSpPr>
          <p:cNvPr id="11" name="Rectangle 10"/>
          <p:cNvSpPr/>
          <p:nvPr/>
        </p:nvSpPr>
        <p:spPr>
          <a:xfrm>
            <a:off x="3429000" y="1325880"/>
            <a:ext cx="5303520" cy="3931920"/>
          </a:xfrm>
          <a:prstGeom prst="rect">
            <a:avLst/>
          </a:prstGeom>
          <a:noFill/>
          <a:ln w="12700">
            <a:solidFill>
              <a:srgbClr val="C9CED6"/>
            </a:solidFill>
          </a:ln>
        </p:spPr>
        <p:txBody>
          <a:bodyPr wrap="square" lIns="73152" rIns="73152" rtlCol="0" anchor="ctr"/>
          <a:lstStyle/>
          <a:p>
            <a:pPr algn="ctr"/>
            <a:endParaRPr/>
          </a:p>
        </p:txBody>
      </p:sp>
      <p:sp>
        <p:nvSpPr>
          <p:cNvPr id="12" name="TextBox 11"/>
          <p:cNvSpPr txBox="1"/>
          <p:nvPr/>
        </p:nvSpPr>
        <p:spPr>
          <a:xfrm>
            <a:off x="3611880" y="1389888"/>
            <a:ext cx="3657600" cy="292608"/>
          </a:xfrm>
          <a:prstGeom prst="rect">
            <a:avLst/>
          </a:prstGeom>
          <a:noFill/>
        </p:spPr>
        <p:txBody>
          <a:bodyPr wrap="square" lIns="0" tIns="0" rIns="0" bIns="0" anchor="t"/>
          <a:lstStyle/>
          <a:p>
            <a:pPr algn="l">
              <a:spcAft>
                <a:spcPts val="0"/>
              </a:spcAft>
            </a:pPr>
            <a:r>
              <a:rPr sz="1200">
                <a:solidFill>
                  <a:srgbClr val="1B2430"/>
                </a:solidFill>
                <a:latin typeface="Segoe UI Semibold"/>
              </a:rPr>
              <a:t>ASP.NET Core 9 API host</a:t>
            </a:r>
          </a:p>
        </p:txBody>
      </p:sp>
      <p:sp>
        <p:nvSpPr>
          <p:cNvPr id="13" name="Rectangle 12"/>
          <p:cNvSpPr/>
          <p:nvPr/>
        </p:nvSpPr>
        <p:spPr>
          <a:xfrm>
            <a:off x="3840480" y="1783080"/>
            <a:ext cx="4709159" cy="73152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API   </a:t>
            </a:r>
            <a:r>
              <a:rPr sz="1100">
                <a:solidFill>
                  <a:srgbClr val="1B2430"/>
                </a:solidFill>
                <a:latin typeface="Segoe UI"/>
              </a:rPr>
              <a:t>49 controllers · SignalR hubs for chat and notifications · middleware · health checks</a:t>
            </a:r>
          </a:p>
        </p:txBody>
      </p:sp>
      <p:sp>
        <p:nvSpPr>
          <p:cNvPr id="14" name="Rectangle 13"/>
          <p:cNvSpPr/>
          <p:nvPr/>
        </p:nvSpPr>
        <p:spPr>
          <a:xfrm>
            <a:off x="3840480" y="2624328"/>
            <a:ext cx="4709159" cy="73152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Infrastructure   </a:t>
            </a:r>
            <a:r>
              <a:rPr sz="1100">
                <a:solidFill>
                  <a:srgbClr val="1B2430"/>
                </a:solidFill>
                <a:latin typeface="Segoe UI"/>
              </a:rPr>
              <a:t>EF Core 9 data access · S3 storage · email · payment adapters</a:t>
            </a:r>
          </a:p>
        </p:txBody>
      </p:sp>
      <p:sp>
        <p:nvSpPr>
          <p:cNvPr id="15" name="Rectangle 14"/>
          <p:cNvSpPr/>
          <p:nvPr/>
        </p:nvSpPr>
        <p:spPr>
          <a:xfrm>
            <a:off x="3840480" y="3465576"/>
            <a:ext cx="4709159" cy="73152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Application   </a:t>
            </a:r>
            <a:r>
              <a:rPr sz="1100">
                <a:solidFill>
                  <a:srgbClr val="1B2430"/>
                </a:solidFill>
                <a:latin typeface="Segoe UI"/>
              </a:rPr>
              <a:t>services and use cases · DTOs · validation · interfaces the outer layers implement</a:t>
            </a:r>
          </a:p>
        </p:txBody>
      </p:sp>
      <p:sp>
        <p:nvSpPr>
          <p:cNvPr id="16" name="Rectangle 15"/>
          <p:cNvSpPr/>
          <p:nvPr/>
        </p:nvSpPr>
        <p:spPr>
          <a:xfrm>
            <a:off x="3840480" y="4306824"/>
            <a:ext cx="4709159" cy="731520"/>
          </a:xfrm>
          <a:prstGeom prst="rect">
            <a:avLst/>
          </a:prstGeom>
          <a:solidFill>
            <a:srgbClr val="E4EFF0"/>
          </a:solidFill>
          <a:ln w="9525">
            <a:solidFill>
              <a:srgbClr val="0F6C73"/>
            </a:solidFill>
          </a:ln>
        </p:spPr>
        <p:txBody>
          <a:bodyPr wrap="square" lIns="109728" rIns="109728" rtlCol="0" anchor="ctr"/>
          <a:lstStyle/>
          <a:p>
            <a:pPr algn="l">
              <a:spcAft>
                <a:spcPts val="0"/>
              </a:spcAft>
            </a:pPr>
            <a:r>
              <a:rPr sz="1100">
                <a:solidFill>
                  <a:srgbClr val="1B2430"/>
                </a:solidFill>
                <a:latin typeface="Segoe UI Semibold"/>
              </a:rPr>
              <a:t>Domain   </a:t>
            </a:r>
            <a:r>
              <a:rPr sz="1100">
                <a:solidFill>
                  <a:srgbClr val="1B2430"/>
                </a:solidFill>
                <a:latin typeface="Segoe UI"/>
              </a:rPr>
              <a:t>83 entity types · enums · business rules · no references to other layers</a:t>
            </a:r>
          </a:p>
        </p:txBody>
      </p:sp>
      <p:cxnSp>
        <p:nvCxnSpPr>
          <p:cNvPr id="17" name="Connector 16"/>
          <p:cNvCxnSpPr>
            <a:stCxn id="13" idx="2"/>
            <a:endCxn id="14" idx="0"/>
          </p:cNvCxnSpPr>
          <p:nvPr/>
        </p:nvCxnSpPr>
        <p:spPr>
          <a:xfrm flipH="1">
            <a:off x="6195059" y="2514600"/>
            <a:ext cx="0" cy="109728"/>
          </a:xfrm>
          <a:prstGeom prst="line">
            <a:avLst/>
          </a:prstGeom>
          <a:ln w="12700">
            <a:solidFill>
              <a:srgbClr val="5B6675"/>
            </a:solidFill>
            <a:tailEnd type="triangle" w="med" len="med"/>
          </a:ln>
        </p:spPr>
      </p:cxnSp>
      <p:cxnSp>
        <p:nvCxnSpPr>
          <p:cNvPr id="18" name="Connector 17"/>
          <p:cNvCxnSpPr>
            <a:stCxn id="14" idx="2"/>
            <a:endCxn id="15" idx="0"/>
          </p:cNvCxnSpPr>
          <p:nvPr/>
        </p:nvCxnSpPr>
        <p:spPr>
          <a:xfrm flipH="1">
            <a:off x="6195059" y="3355848"/>
            <a:ext cx="0" cy="109728"/>
          </a:xfrm>
          <a:prstGeom prst="line">
            <a:avLst/>
          </a:prstGeom>
          <a:ln w="12700">
            <a:solidFill>
              <a:srgbClr val="5B6675"/>
            </a:solidFill>
            <a:tailEnd type="triangle" w="med" len="med"/>
          </a:ln>
        </p:spPr>
      </p:cxnSp>
      <p:cxnSp>
        <p:nvCxnSpPr>
          <p:cNvPr id="19" name="Connector 18"/>
          <p:cNvCxnSpPr>
            <a:stCxn id="15" idx="2"/>
            <a:endCxn id="16" idx="0"/>
          </p:cNvCxnSpPr>
          <p:nvPr/>
        </p:nvCxnSpPr>
        <p:spPr>
          <a:xfrm flipH="1">
            <a:off x="6195059" y="4197096"/>
            <a:ext cx="0" cy="109728"/>
          </a:xfrm>
          <a:prstGeom prst="line">
            <a:avLst/>
          </a:prstGeom>
          <a:ln w="12700">
            <a:solidFill>
              <a:srgbClr val="5B6675"/>
            </a:solidFill>
            <a:tailEnd type="triangle" w="med" len="med"/>
          </a:ln>
        </p:spPr>
      </p:cxnSp>
      <p:sp>
        <p:nvSpPr>
          <p:cNvPr id="20" name="TextBox 19"/>
          <p:cNvSpPr txBox="1"/>
          <p:nvPr/>
        </p:nvSpPr>
        <p:spPr>
          <a:xfrm>
            <a:off x="3429000" y="5349240"/>
            <a:ext cx="5303520" cy="457200"/>
          </a:xfrm>
          <a:prstGeom prst="rect">
            <a:avLst/>
          </a:prstGeom>
          <a:noFill/>
        </p:spPr>
        <p:txBody>
          <a:bodyPr wrap="square" lIns="0" tIns="0" rIns="0" bIns="0" anchor="t"/>
          <a:lstStyle/>
          <a:p>
            <a:pPr algn="l">
              <a:spcAft>
                <a:spcPts val="0"/>
              </a:spcAft>
            </a:pPr>
            <a:r>
              <a:rPr sz="1050">
                <a:solidFill>
                  <a:srgbClr val="5B6675"/>
                </a:solidFill>
                <a:latin typeface="Segoe UI"/>
              </a:rPr>
              <a:t>Arrows show compile-time references. Each layer references only the layers below it.</a:t>
            </a:r>
          </a:p>
        </p:txBody>
      </p:sp>
      <p:cxnSp>
        <p:nvCxnSpPr>
          <p:cNvPr id="21" name="Connector 20"/>
          <p:cNvCxnSpPr/>
          <p:nvPr/>
        </p:nvCxnSpPr>
        <p:spPr>
          <a:xfrm>
            <a:off x="2606040" y="2148840"/>
            <a:ext cx="822960" cy="0"/>
          </a:xfrm>
          <a:prstGeom prst="line">
            <a:avLst/>
          </a:prstGeom>
          <a:ln w="12700">
            <a:solidFill>
              <a:srgbClr val="1B2430"/>
            </a:solidFill>
            <a:tailEnd type="triangle" w="med" len="med"/>
          </a:ln>
        </p:spPr>
      </p:cxnSp>
      <p:sp>
        <p:nvSpPr>
          <p:cNvPr id="22" name="TextBox 21"/>
          <p:cNvSpPr txBox="1"/>
          <p:nvPr/>
        </p:nvSpPr>
        <p:spPr>
          <a:xfrm>
            <a:off x="2624328" y="1691640"/>
            <a:ext cx="786383" cy="420624"/>
          </a:xfrm>
          <a:prstGeom prst="rect">
            <a:avLst/>
          </a:prstGeom>
          <a:noFill/>
        </p:spPr>
        <p:txBody>
          <a:bodyPr wrap="square" lIns="0" tIns="0" rIns="0" bIns="0" anchor="t"/>
          <a:lstStyle/>
          <a:p>
            <a:pPr algn="ctr">
              <a:spcAft>
                <a:spcPts val="0"/>
              </a:spcAft>
            </a:pPr>
            <a:r>
              <a:rPr sz="950">
                <a:solidFill>
                  <a:srgbClr val="5B6675"/>
                </a:solidFill>
                <a:latin typeface="Segoe UI"/>
              </a:rPr>
              <a:t>HTTPS
JSON, JWT</a:t>
            </a:r>
          </a:p>
        </p:txBody>
      </p:sp>
      <p:cxnSp>
        <p:nvCxnSpPr>
          <p:cNvPr id="23" name="Connector 22"/>
          <p:cNvCxnSpPr/>
          <p:nvPr/>
        </p:nvCxnSpPr>
        <p:spPr>
          <a:xfrm>
            <a:off x="2606040" y="3337560"/>
            <a:ext cx="822960" cy="0"/>
          </a:xfrm>
          <a:prstGeom prst="line">
            <a:avLst/>
          </a:prstGeom>
          <a:ln w="12700">
            <a:solidFill>
              <a:srgbClr val="1B2430"/>
            </a:solidFill>
            <a:tailEnd type="triangle" w="med" len="med"/>
          </a:ln>
        </p:spPr>
      </p:cxnSp>
      <p:sp>
        <p:nvSpPr>
          <p:cNvPr id="24" name="TextBox 23"/>
          <p:cNvSpPr txBox="1"/>
          <p:nvPr/>
        </p:nvSpPr>
        <p:spPr>
          <a:xfrm>
            <a:off x="2624328" y="2880360"/>
            <a:ext cx="786383" cy="420624"/>
          </a:xfrm>
          <a:prstGeom prst="rect">
            <a:avLst/>
          </a:prstGeom>
          <a:noFill/>
        </p:spPr>
        <p:txBody>
          <a:bodyPr wrap="square" lIns="0" tIns="0" rIns="0" bIns="0" anchor="t"/>
          <a:lstStyle/>
          <a:p>
            <a:pPr algn="ctr">
              <a:spcAft>
                <a:spcPts val="0"/>
              </a:spcAft>
            </a:pPr>
            <a:r>
              <a:rPr sz="950">
                <a:solidFill>
                  <a:srgbClr val="5B6675"/>
                </a:solidFill>
                <a:latin typeface="Segoe UI"/>
              </a:rPr>
              <a:t>HTTPS
+ SignalR</a:t>
            </a:r>
          </a:p>
        </p:txBody>
      </p:sp>
      <p:cxnSp>
        <p:nvCxnSpPr>
          <p:cNvPr id="25" name="Connector 24"/>
          <p:cNvCxnSpPr/>
          <p:nvPr/>
        </p:nvCxnSpPr>
        <p:spPr>
          <a:xfrm>
            <a:off x="2606040" y="4526280"/>
            <a:ext cx="822960" cy="0"/>
          </a:xfrm>
          <a:prstGeom prst="line">
            <a:avLst/>
          </a:prstGeom>
          <a:ln w="12700">
            <a:solidFill>
              <a:srgbClr val="1B2430"/>
            </a:solidFill>
            <a:tailEnd type="triangle" w="med" len="med"/>
          </a:ln>
        </p:spPr>
      </p:cxnSp>
      <p:sp>
        <p:nvSpPr>
          <p:cNvPr id="26" name="TextBox 25"/>
          <p:cNvSpPr txBox="1"/>
          <p:nvPr/>
        </p:nvSpPr>
        <p:spPr>
          <a:xfrm>
            <a:off x="2624328" y="4069080"/>
            <a:ext cx="786383" cy="420624"/>
          </a:xfrm>
          <a:prstGeom prst="rect">
            <a:avLst/>
          </a:prstGeom>
          <a:noFill/>
        </p:spPr>
        <p:txBody>
          <a:bodyPr wrap="square" lIns="0" tIns="0" rIns="0" bIns="0" anchor="t"/>
          <a:lstStyle/>
          <a:p>
            <a:pPr algn="ctr">
              <a:spcAft>
                <a:spcPts val="0"/>
              </a:spcAft>
            </a:pPr>
            <a:r>
              <a:rPr sz="950">
                <a:solidFill>
                  <a:srgbClr val="5B6675"/>
                </a:solidFill>
                <a:latin typeface="Segoe UI"/>
              </a:rPr>
              <a:t>HTTPS
read only</a:t>
            </a:r>
          </a:p>
        </p:txBody>
      </p:sp>
      <p:sp>
        <p:nvSpPr>
          <p:cNvPr id="27" name="TextBox 26"/>
          <p:cNvSpPr txBox="1"/>
          <p:nvPr/>
        </p:nvSpPr>
        <p:spPr>
          <a:xfrm>
            <a:off x="9418320" y="1280160"/>
            <a:ext cx="219456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SERVICES</a:t>
            </a:r>
          </a:p>
        </p:txBody>
      </p:sp>
      <p:sp>
        <p:nvSpPr>
          <p:cNvPr id="28" name="Rectangle 27"/>
          <p:cNvSpPr/>
          <p:nvPr/>
        </p:nvSpPr>
        <p:spPr>
          <a:xfrm>
            <a:off x="9418320" y="1645920"/>
            <a:ext cx="2224735" cy="749808"/>
          </a:xfrm>
          <a:prstGeom prst="rect">
            <a:avLst/>
          </a:prstGeom>
          <a:noFill/>
          <a:ln w="9525">
            <a:solidFill>
              <a:srgbClr val="C9CED6"/>
            </a:solidFill>
          </a:ln>
        </p:spPr>
        <p:txBody>
          <a:bodyPr wrap="square" lIns="109728" rIns="109728" rtlCol="0" anchor="ctr"/>
          <a:lstStyle/>
          <a:p>
            <a:pPr algn="l">
              <a:spcAft>
                <a:spcPts val="200"/>
              </a:spcAft>
            </a:pPr>
            <a:r>
              <a:rPr sz="1200">
                <a:solidFill>
                  <a:srgbClr val="1B2430"/>
                </a:solidFill>
                <a:latin typeface="Segoe UI Semibold"/>
              </a:rPr>
              <a:t>PostgreSQL 16</a:t>
            </a:r>
          </a:p>
          <a:p>
            <a:pPr algn="l">
              <a:spcAft>
                <a:spcPts val="0"/>
              </a:spcAft>
            </a:pPr>
            <a:r>
              <a:rPr sz="1050">
                <a:solidFill>
                  <a:srgbClr val="5B6675"/>
                </a:solidFill>
                <a:latin typeface="Segoe UI"/>
              </a:rPr>
              <a:t>Neon in pre-production</a:t>
            </a:r>
          </a:p>
        </p:txBody>
      </p:sp>
      <p:cxnSp>
        <p:nvCxnSpPr>
          <p:cNvPr id="29" name="Connector 28"/>
          <p:cNvCxnSpPr>
            <a:stCxn id="14" idx="3"/>
            <a:endCxn id="28" idx="1"/>
          </p:cNvCxnSpPr>
          <p:nvPr/>
        </p:nvCxnSpPr>
        <p:spPr>
          <a:xfrm flipV="1">
            <a:off x="8549639" y="2020824"/>
            <a:ext cx="868681" cy="969264"/>
          </a:xfrm>
          <a:prstGeom prst="line">
            <a:avLst/>
          </a:prstGeom>
          <a:ln w="12700">
            <a:solidFill>
              <a:srgbClr val="5B6675"/>
            </a:solidFill>
            <a:tailEnd type="triangle" w="med" len="med"/>
          </a:ln>
        </p:spPr>
      </p:cxnSp>
      <p:sp>
        <p:nvSpPr>
          <p:cNvPr id="30" name="Rectangle 29"/>
          <p:cNvSpPr/>
          <p:nvPr/>
        </p:nvSpPr>
        <p:spPr>
          <a:xfrm>
            <a:off x="9418320" y="2560320"/>
            <a:ext cx="2224735" cy="749808"/>
          </a:xfrm>
          <a:prstGeom prst="rect">
            <a:avLst/>
          </a:prstGeom>
          <a:noFill/>
          <a:ln w="9525">
            <a:solidFill>
              <a:srgbClr val="C9CED6"/>
            </a:solidFill>
          </a:ln>
        </p:spPr>
        <p:txBody>
          <a:bodyPr wrap="square" lIns="109728" rIns="109728" rtlCol="0" anchor="ctr"/>
          <a:lstStyle/>
          <a:p>
            <a:pPr algn="l">
              <a:spcAft>
                <a:spcPts val="200"/>
              </a:spcAft>
            </a:pPr>
            <a:r>
              <a:rPr sz="1200">
                <a:solidFill>
                  <a:srgbClr val="1B2430"/>
                </a:solidFill>
                <a:latin typeface="Segoe UI Semibold"/>
              </a:rPr>
              <a:t>Object storage</a:t>
            </a:r>
          </a:p>
          <a:p>
            <a:pPr algn="l">
              <a:spcAft>
                <a:spcPts val="0"/>
              </a:spcAft>
            </a:pPr>
            <a:r>
              <a:rPr sz="1050">
                <a:solidFill>
                  <a:srgbClr val="5B6675"/>
                </a:solidFill>
                <a:latin typeface="Segoe UI"/>
              </a:rPr>
              <a:t>S3-compatible, member uploads</a:t>
            </a:r>
          </a:p>
        </p:txBody>
      </p:sp>
      <p:cxnSp>
        <p:nvCxnSpPr>
          <p:cNvPr id="31" name="Connector 30"/>
          <p:cNvCxnSpPr>
            <a:stCxn id="14" idx="3"/>
            <a:endCxn id="30" idx="1"/>
          </p:cNvCxnSpPr>
          <p:nvPr/>
        </p:nvCxnSpPr>
        <p:spPr>
          <a:xfrm flipV="1">
            <a:off x="8549639" y="2935224"/>
            <a:ext cx="868681" cy="54864"/>
          </a:xfrm>
          <a:prstGeom prst="line">
            <a:avLst/>
          </a:prstGeom>
          <a:ln w="12700">
            <a:solidFill>
              <a:srgbClr val="5B6675"/>
            </a:solidFill>
            <a:tailEnd type="triangle" w="med" len="med"/>
          </a:ln>
        </p:spPr>
      </p:cxnSp>
      <p:sp>
        <p:nvSpPr>
          <p:cNvPr id="32" name="Rectangle 31"/>
          <p:cNvSpPr/>
          <p:nvPr/>
        </p:nvSpPr>
        <p:spPr>
          <a:xfrm>
            <a:off x="9418320" y="3474720"/>
            <a:ext cx="2224735" cy="749808"/>
          </a:xfrm>
          <a:prstGeom prst="rect">
            <a:avLst/>
          </a:prstGeom>
          <a:noFill/>
          <a:ln w="9525">
            <a:solidFill>
              <a:srgbClr val="C9CED6"/>
            </a:solidFill>
          </a:ln>
        </p:spPr>
        <p:txBody>
          <a:bodyPr wrap="square" lIns="109728" rIns="109728" rtlCol="0" anchor="ctr"/>
          <a:lstStyle/>
          <a:p>
            <a:pPr algn="l">
              <a:spcAft>
                <a:spcPts val="200"/>
              </a:spcAft>
            </a:pPr>
            <a:r>
              <a:rPr sz="1200">
                <a:solidFill>
                  <a:srgbClr val="1B2430"/>
                </a:solidFill>
                <a:latin typeface="Segoe UI Semibold"/>
              </a:rPr>
              <a:t>Email delivery</a:t>
            </a:r>
          </a:p>
          <a:p>
            <a:pPr algn="l">
              <a:spcAft>
                <a:spcPts val="0"/>
              </a:spcAft>
            </a:pPr>
            <a:r>
              <a:rPr sz="1050">
                <a:solidFill>
                  <a:srgbClr val="5B6675"/>
                </a:solidFill>
                <a:latin typeface="Segoe UI"/>
              </a:rPr>
              <a:t>one-time codes and notices</a:t>
            </a:r>
          </a:p>
        </p:txBody>
      </p:sp>
      <p:cxnSp>
        <p:nvCxnSpPr>
          <p:cNvPr id="33" name="Connector 32"/>
          <p:cNvCxnSpPr>
            <a:stCxn id="14" idx="3"/>
            <a:endCxn id="32" idx="1"/>
          </p:cNvCxnSpPr>
          <p:nvPr/>
        </p:nvCxnSpPr>
        <p:spPr>
          <a:xfrm>
            <a:off x="8549639" y="2990088"/>
            <a:ext cx="868681" cy="859536"/>
          </a:xfrm>
          <a:prstGeom prst="line">
            <a:avLst/>
          </a:prstGeom>
          <a:ln w="12700">
            <a:solidFill>
              <a:srgbClr val="5B6675"/>
            </a:solidFill>
            <a:tailEnd type="triangle" w="med" len="med"/>
          </a:ln>
        </p:spPr>
      </p:cxnSp>
      <p:sp>
        <p:nvSpPr>
          <p:cNvPr id="34" name="Rectangle 33"/>
          <p:cNvSpPr/>
          <p:nvPr/>
        </p:nvSpPr>
        <p:spPr>
          <a:xfrm>
            <a:off x="9418320" y="4389120"/>
            <a:ext cx="2224735" cy="749808"/>
          </a:xfrm>
          <a:prstGeom prst="rect">
            <a:avLst/>
          </a:prstGeom>
          <a:noFill/>
          <a:ln w="9525">
            <a:solidFill>
              <a:srgbClr val="C9CED6"/>
            </a:solidFill>
          </a:ln>
        </p:spPr>
        <p:txBody>
          <a:bodyPr wrap="square" lIns="109728" rIns="109728" rtlCol="0" anchor="ctr"/>
          <a:lstStyle/>
          <a:p>
            <a:pPr algn="l">
              <a:spcAft>
                <a:spcPts val="200"/>
              </a:spcAft>
            </a:pPr>
            <a:r>
              <a:rPr sz="1200">
                <a:solidFill>
                  <a:srgbClr val="1B2430"/>
                </a:solidFill>
                <a:latin typeface="Segoe UI Semibold"/>
              </a:rPr>
              <a:t>Payment gateway</a:t>
            </a:r>
          </a:p>
          <a:p>
            <a:pPr algn="l">
              <a:spcAft>
                <a:spcPts val="0"/>
              </a:spcAft>
            </a:pPr>
            <a:r>
              <a:rPr sz="1050">
                <a:solidFill>
                  <a:srgbClr val="5B6675"/>
                </a:solidFill>
                <a:latin typeface="Segoe UI"/>
              </a:rPr>
              <a:t>SSLCommerz, off by default</a:t>
            </a:r>
          </a:p>
        </p:txBody>
      </p:sp>
      <p:cxnSp>
        <p:nvCxnSpPr>
          <p:cNvPr id="35" name="Connector 34"/>
          <p:cNvCxnSpPr>
            <a:stCxn id="14" idx="3"/>
            <a:endCxn id="34" idx="1"/>
          </p:cNvCxnSpPr>
          <p:nvPr/>
        </p:nvCxnSpPr>
        <p:spPr>
          <a:xfrm>
            <a:off x="8549639" y="2990088"/>
            <a:ext cx="868681" cy="1773936"/>
          </a:xfrm>
          <a:prstGeom prst="line">
            <a:avLst/>
          </a:prstGeom>
          <a:ln w="12700">
            <a:solidFill>
              <a:srgbClr val="5B6675"/>
            </a:solidFill>
            <a:tailEnd type="triangle" w="med" len="med"/>
          </a:ln>
        </p:spPr>
      </p:cxnSp>
      <p:sp>
        <p:nvSpPr>
          <p:cNvPr id="36" name="TextBox 35"/>
          <p:cNvSpPr txBox="1"/>
          <p:nvPr/>
        </p:nvSpPr>
        <p:spPr>
          <a:xfrm>
            <a:off x="9418320" y="5349240"/>
            <a:ext cx="2224735" cy="457200"/>
          </a:xfrm>
          <a:prstGeom prst="rect">
            <a:avLst/>
          </a:prstGeom>
          <a:noFill/>
        </p:spPr>
        <p:txBody>
          <a:bodyPr wrap="square" lIns="0" tIns="0" rIns="0" bIns="0" anchor="t"/>
          <a:lstStyle/>
          <a:p>
            <a:pPr algn="l">
              <a:spcAft>
                <a:spcPts val="0"/>
              </a:spcAft>
            </a:pPr>
            <a:r>
              <a:rPr sz="1050">
                <a:solidFill>
                  <a:srgbClr val="5B6675"/>
                </a:solidFill>
                <a:latin typeface="Segoe UI"/>
              </a:rPr>
              <a:t>Pre-production runs on Render.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Every request takes the same path</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4 / 12</a:t>
            </a:r>
          </a:p>
        </p:txBody>
      </p:sp>
      <p:sp>
        <p:nvSpPr>
          <p:cNvPr id="7" name="TextBox 6"/>
          <p:cNvSpPr txBox="1"/>
          <p:nvPr/>
        </p:nvSpPr>
        <p:spPr>
          <a:xfrm>
            <a:off x="548640" y="1280160"/>
            <a:ext cx="54864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REQUEST PIPELINE, IN ORDER</a:t>
            </a:r>
          </a:p>
        </p:txBody>
      </p:sp>
      <p:sp>
        <p:nvSpPr>
          <p:cNvPr id="8" name="Rectangle 7"/>
          <p:cNvSpPr/>
          <p:nvPr/>
        </p:nvSpPr>
        <p:spPr>
          <a:xfrm>
            <a:off x="548640" y="1600200"/>
            <a:ext cx="1673352" cy="1508760"/>
          </a:xfrm>
          <a:prstGeom prst="rect">
            <a:avLst/>
          </a:prstGeom>
          <a:solidFill>
            <a:srgbClr val="F3F4F6"/>
          </a:solidFill>
          <a:ln>
            <a:noFill/>
          </a:ln>
        </p:spPr>
        <p:txBody>
          <a:bodyPr wrap="square" rtlCol="0" anchor="t"/>
          <a:lstStyle/>
          <a:p>
            <a:pPr algn="l">
              <a:spcAft>
                <a:spcPts val="400"/>
              </a:spcAft>
            </a:pPr>
            <a:r>
              <a:rPr sz="1200">
                <a:solidFill>
                  <a:srgbClr val="0F6C73"/>
                </a:solidFill>
                <a:latin typeface="Segoe UI Semibold"/>
              </a:rPr>
              <a:t>Transport</a:t>
            </a:r>
          </a:p>
          <a:p>
            <a:pPr algn="l">
              <a:spcAft>
                <a:spcPts val="200"/>
              </a:spcAft>
            </a:pPr>
            <a:r>
              <a:rPr sz="1100">
                <a:solidFill>
                  <a:srgbClr val="1B2430"/>
                </a:solidFill>
                <a:latin typeface="Segoe UI"/>
              </a:rPr>
              <a:t>CORS</a:t>
            </a:r>
          </a:p>
          <a:p>
            <a:pPr algn="l">
              <a:spcAft>
                <a:spcPts val="200"/>
              </a:spcAft>
            </a:pPr>
            <a:r>
              <a:rPr sz="1100">
                <a:solidFill>
                  <a:srgbClr val="1B2430"/>
                </a:solidFill>
                <a:latin typeface="Segoe UI"/>
              </a:rPr>
              <a:t>compression, output cache</a:t>
            </a:r>
          </a:p>
          <a:p>
            <a:pPr algn="l">
              <a:spcAft>
                <a:spcPts val="200"/>
              </a:spcAft>
            </a:pPr>
            <a:r>
              <a:rPr sz="1100">
                <a:solidFill>
                  <a:srgbClr val="1B2430"/>
                </a:solidFill>
                <a:latin typeface="Segoe UI"/>
              </a:rPr>
              <a:t>HTTPS redirect</a:t>
            </a:r>
          </a:p>
        </p:txBody>
      </p:sp>
      <p:sp>
        <p:nvSpPr>
          <p:cNvPr id="9" name="Rectangle 8"/>
          <p:cNvSpPr/>
          <p:nvPr/>
        </p:nvSpPr>
        <p:spPr>
          <a:xfrm>
            <a:off x="2432852" y="1600200"/>
            <a:ext cx="1673352" cy="1508760"/>
          </a:xfrm>
          <a:prstGeom prst="rect">
            <a:avLst/>
          </a:prstGeom>
          <a:solidFill>
            <a:srgbClr val="F3F4F6"/>
          </a:solidFill>
          <a:ln>
            <a:noFill/>
          </a:ln>
        </p:spPr>
        <p:txBody>
          <a:bodyPr wrap="square" rtlCol="0" anchor="t"/>
          <a:lstStyle/>
          <a:p>
            <a:pPr algn="l">
              <a:spcAft>
                <a:spcPts val="400"/>
              </a:spcAft>
            </a:pPr>
            <a:r>
              <a:rPr sz="1200">
                <a:solidFill>
                  <a:srgbClr val="0F6C73"/>
                </a:solidFill>
                <a:latin typeface="Segoe UI Semibold"/>
              </a:rPr>
              <a:t>Safety net</a:t>
            </a:r>
          </a:p>
          <a:p>
            <a:pPr algn="l">
              <a:spcAft>
                <a:spcPts val="200"/>
              </a:spcAft>
            </a:pPr>
            <a:r>
              <a:rPr sz="1100">
                <a:solidFill>
                  <a:srgbClr val="1B2430"/>
                </a:solidFill>
                <a:latin typeface="Segoe UI"/>
              </a:rPr>
              <a:t>exception handler</a:t>
            </a:r>
          </a:p>
          <a:p>
            <a:pPr algn="l">
              <a:spcAft>
                <a:spcPts val="200"/>
              </a:spcAft>
            </a:pPr>
            <a:r>
              <a:rPr sz="1100">
                <a:solidFill>
                  <a:srgbClr val="1B2430"/>
                </a:solidFill>
                <a:latin typeface="Segoe UI"/>
              </a:rPr>
              <a:t>security headers</a:t>
            </a:r>
          </a:p>
          <a:p>
            <a:pPr algn="l">
              <a:spcAft>
                <a:spcPts val="200"/>
              </a:spcAft>
            </a:pPr>
            <a:r>
              <a:rPr sz="1100">
                <a:solidFill>
                  <a:srgbClr val="1B2430"/>
                </a:solidFill>
                <a:latin typeface="Segoe UI"/>
              </a:rPr>
              <a:t>audit log</a:t>
            </a:r>
          </a:p>
        </p:txBody>
      </p:sp>
      <p:cxnSp>
        <p:nvCxnSpPr>
          <p:cNvPr id="10" name="Connector 9"/>
          <p:cNvCxnSpPr>
            <a:stCxn id="8" idx="3"/>
            <a:endCxn id="9" idx="1"/>
          </p:cNvCxnSpPr>
          <p:nvPr/>
        </p:nvCxnSpPr>
        <p:spPr>
          <a:xfrm flipV="1">
            <a:off x="2221992" y="2354580"/>
            <a:ext cx="210860" cy="0"/>
          </a:xfrm>
          <a:prstGeom prst="line">
            <a:avLst/>
          </a:prstGeom>
          <a:ln w="12700">
            <a:solidFill>
              <a:srgbClr val="1B2430"/>
            </a:solidFill>
            <a:tailEnd type="triangle" w="med" len="med"/>
          </a:ln>
        </p:spPr>
      </p:cxnSp>
      <p:sp>
        <p:nvSpPr>
          <p:cNvPr id="11" name="Rectangle 10"/>
          <p:cNvSpPr/>
          <p:nvPr/>
        </p:nvSpPr>
        <p:spPr>
          <a:xfrm>
            <a:off x="4317065" y="1600200"/>
            <a:ext cx="1673352" cy="1508760"/>
          </a:xfrm>
          <a:prstGeom prst="rect">
            <a:avLst/>
          </a:prstGeom>
          <a:solidFill>
            <a:srgbClr val="F3F4F6"/>
          </a:solidFill>
          <a:ln>
            <a:noFill/>
          </a:ln>
        </p:spPr>
        <p:txBody>
          <a:bodyPr wrap="square" rtlCol="0" anchor="t"/>
          <a:lstStyle/>
          <a:p>
            <a:pPr algn="l">
              <a:spcAft>
                <a:spcPts val="400"/>
              </a:spcAft>
            </a:pPr>
            <a:r>
              <a:rPr sz="1200">
                <a:solidFill>
                  <a:srgbClr val="0F6C73"/>
                </a:solidFill>
                <a:latin typeface="Segoe UI Semibold"/>
              </a:rPr>
              <a:t>Throttle</a:t>
            </a:r>
          </a:p>
          <a:p>
            <a:pPr algn="l">
              <a:spcAft>
                <a:spcPts val="200"/>
              </a:spcAft>
            </a:pPr>
            <a:r>
              <a:rPr sz="1100">
                <a:solidFill>
                  <a:srgbClr val="1B2430"/>
                </a:solidFill>
                <a:latin typeface="Segoe UI"/>
              </a:rPr>
              <a:t>sign-in 5 per min</a:t>
            </a:r>
          </a:p>
          <a:p>
            <a:pPr algn="l">
              <a:spcAft>
                <a:spcPts val="200"/>
              </a:spcAft>
            </a:pPr>
            <a:r>
              <a:rPr sz="1100">
                <a:solidFill>
                  <a:srgbClr val="1B2430"/>
                </a:solidFill>
                <a:latin typeface="Segoe UI"/>
              </a:rPr>
              <a:t>registration 10 per 5 min</a:t>
            </a:r>
          </a:p>
          <a:p>
            <a:pPr algn="l">
              <a:spcAft>
                <a:spcPts val="200"/>
              </a:spcAft>
            </a:pPr>
            <a:r>
              <a:rPr sz="1100">
                <a:solidFill>
                  <a:srgbClr val="1B2430"/>
                </a:solidFill>
                <a:latin typeface="Segoe UI"/>
              </a:rPr>
              <a:t>API 100 per min</a:t>
            </a:r>
          </a:p>
        </p:txBody>
      </p:sp>
      <p:cxnSp>
        <p:nvCxnSpPr>
          <p:cNvPr id="12" name="Connector 11"/>
          <p:cNvCxnSpPr>
            <a:stCxn id="9" idx="3"/>
            <a:endCxn id="11" idx="1"/>
          </p:cNvCxnSpPr>
          <p:nvPr/>
        </p:nvCxnSpPr>
        <p:spPr>
          <a:xfrm flipV="1">
            <a:off x="4106204" y="2354580"/>
            <a:ext cx="210861" cy="0"/>
          </a:xfrm>
          <a:prstGeom prst="line">
            <a:avLst/>
          </a:prstGeom>
          <a:ln w="12700">
            <a:solidFill>
              <a:srgbClr val="1B2430"/>
            </a:solidFill>
            <a:tailEnd type="triangle" w="med" len="med"/>
          </a:ln>
        </p:spPr>
      </p:cxnSp>
      <p:sp>
        <p:nvSpPr>
          <p:cNvPr id="13" name="Rectangle 12"/>
          <p:cNvSpPr/>
          <p:nvPr/>
        </p:nvSpPr>
        <p:spPr>
          <a:xfrm>
            <a:off x="6201277" y="1600200"/>
            <a:ext cx="1673352" cy="1508760"/>
          </a:xfrm>
          <a:prstGeom prst="rect">
            <a:avLst/>
          </a:prstGeom>
          <a:solidFill>
            <a:srgbClr val="F3F4F6"/>
          </a:solidFill>
          <a:ln>
            <a:noFill/>
          </a:ln>
        </p:spPr>
        <p:txBody>
          <a:bodyPr wrap="square" rtlCol="0" anchor="t"/>
          <a:lstStyle/>
          <a:p>
            <a:pPr algn="l">
              <a:spcAft>
                <a:spcPts val="400"/>
              </a:spcAft>
            </a:pPr>
            <a:r>
              <a:rPr sz="1200">
                <a:solidFill>
                  <a:srgbClr val="0F6C73"/>
                </a:solidFill>
                <a:latin typeface="Segoe UI Semibold"/>
              </a:rPr>
              <a:t>Connection</a:t>
            </a:r>
          </a:p>
          <a:p>
            <a:pPr algn="l">
              <a:spcAft>
                <a:spcPts val="200"/>
              </a:spcAft>
            </a:pPr>
            <a:r>
              <a:rPr sz="1100">
                <a:solidFill>
                  <a:srgbClr val="1B2430"/>
                </a:solidFill>
                <a:latin typeface="Segoe UI"/>
              </a:rPr>
              <a:t>WebSockets</a:t>
            </a:r>
          </a:p>
          <a:p>
            <a:pPr algn="l">
              <a:spcAft>
                <a:spcPts val="200"/>
              </a:spcAft>
            </a:pPr>
            <a:r>
              <a:rPr sz="1100">
                <a:solidFill>
                  <a:srgbClr val="1B2430"/>
                </a:solidFill>
                <a:latin typeface="Segoe UI"/>
              </a:rPr>
              <a:t>static files</a:t>
            </a:r>
          </a:p>
          <a:p>
            <a:pPr algn="l">
              <a:spcAft>
                <a:spcPts val="200"/>
              </a:spcAft>
            </a:pPr>
            <a:r>
              <a:rPr sz="1100">
                <a:solidFill>
                  <a:srgbClr val="1B2430"/>
                </a:solidFill>
                <a:latin typeface="Segoe UI"/>
              </a:rPr>
              <a:t>hub token from query</a:t>
            </a:r>
          </a:p>
        </p:txBody>
      </p:sp>
      <p:cxnSp>
        <p:nvCxnSpPr>
          <p:cNvPr id="14" name="Connector 13"/>
          <p:cNvCxnSpPr>
            <a:stCxn id="11" idx="3"/>
            <a:endCxn id="13" idx="1"/>
          </p:cNvCxnSpPr>
          <p:nvPr/>
        </p:nvCxnSpPr>
        <p:spPr>
          <a:xfrm flipV="1">
            <a:off x="5990417" y="2354580"/>
            <a:ext cx="210860" cy="0"/>
          </a:xfrm>
          <a:prstGeom prst="line">
            <a:avLst/>
          </a:prstGeom>
          <a:ln w="12700">
            <a:solidFill>
              <a:srgbClr val="1B2430"/>
            </a:solidFill>
            <a:tailEnd type="triangle" w="med" len="med"/>
          </a:ln>
        </p:spPr>
      </p:cxnSp>
      <p:sp>
        <p:nvSpPr>
          <p:cNvPr id="15" name="Rectangle 14"/>
          <p:cNvSpPr/>
          <p:nvPr/>
        </p:nvSpPr>
        <p:spPr>
          <a:xfrm>
            <a:off x="8085490" y="1600200"/>
            <a:ext cx="1673352" cy="1508760"/>
          </a:xfrm>
          <a:prstGeom prst="rect">
            <a:avLst/>
          </a:prstGeom>
          <a:solidFill>
            <a:srgbClr val="F3F4F6"/>
          </a:solidFill>
          <a:ln>
            <a:noFill/>
          </a:ln>
        </p:spPr>
        <p:txBody>
          <a:bodyPr wrap="square" rtlCol="0" anchor="t"/>
          <a:lstStyle/>
          <a:p>
            <a:pPr algn="l">
              <a:spcAft>
                <a:spcPts val="400"/>
              </a:spcAft>
            </a:pPr>
            <a:r>
              <a:rPr sz="1200">
                <a:solidFill>
                  <a:srgbClr val="0F6C73"/>
                </a:solidFill>
                <a:latin typeface="Segoe UI Semibold"/>
              </a:rPr>
              <a:t>Identity</a:t>
            </a:r>
          </a:p>
          <a:p>
            <a:pPr algn="l">
              <a:spcAft>
                <a:spcPts val="200"/>
              </a:spcAft>
            </a:pPr>
            <a:r>
              <a:rPr sz="1100">
                <a:solidFill>
                  <a:srgbClr val="1B2430"/>
                </a:solidFill>
                <a:latin typeface="Segoe UI"/>
              </a:rPr>
              <a:t>JWT validation</a:t>
            </a:r>
          </a:p>
          <a:p>
            <a:pPr algn="l">
              <a:spcAft>
                <a:spcPts val="200"/>
              </a:spcAft>
            </a:pPr>
            <a:r>
              <a:rPr sz="1100">
                <a:solidFill>
                  <a:srgbClr val="1B2430"/>
                </a:solidFill>
                <a:latin typeface="Segoe UI"/>
              </a:rPr>
              <a:t>security stamp check</a:t>
            </a:r>
          </a:p>
          <a:p>
            <a:pPr algn="l">
              <a:spcAft>
                <a:spcPts val="200"/>
              </a:spcAft>
            </a:pPr>
            <a:r>
              <a:rPr sz="1100">
                <a:solidFill>
                  <a:srgbClr val="1B2430"/>
                </a:solidFill>
                <a:latin typeface="Segoe UI"/>
              </a:rPr>
              <a:t>authorisation policies</a:t>
            </a:r>
          </a:p>
        </p:txBody>
      </p:sp>
      <p:cxnSp>
        <p:nvCxnSpPr>
          <p:cNvPr id="16" name="Connector 15"/>
          <p:cNvCxnSpPr>
            <a:stCxn id="13" idx="3"/>
            <a:endCxn id="15" idx="1"/>
          </p:cNvCxnSpPr>
          <p:nvPr/>
        </p:nvCxnSpPr>
        <p:spPr>
          <a:xfrm flipV="1">
            <a:off x="7874629" y="2354580"/>
            <a:ext cx="210861" cy="0"/>
          </a:xfrm>
          <a:prstGeom prst="line">
            <a:avLst/>
          </a:prstGeom>
          <a:ln w="12700">
            <a:solidFill>
              <a:srgbClr val="1B2430"/>
            </a:solidFill>
            <a:tailEnd type="triangle" w="med" len="med"/>
          </a:ln>
        </p:spPr>
      </p:cxnSp>
      <p:sp>
        <p:nvSpPr>
          <p:cNvPr id="17" name="Rectangle 16"/>
          <p:cNvSpPr/>
          <p:nvPr/>
        </p:nvSpPr>
        <p:spPr>
          <a:xfrm>
            <a:off x="9969703" y="1600200"/>
            <a:ext cx="1673352" cy="1508760"/>
          </a:xfrm>
          <a:prstGeom prst="rect">
            <a:avLst/>
          </a:prstGeom>
          <a:solidFill>
            <a:srgbClr val="0F6C73"/>
          </a:solidFill>
          <a:ln>
            <a:noFill/>
          </a:ln>
        </p:spPr>
        <p:txBody>
          <a:bodyPr wrap="square" rtlCol="0" anchor="t"/>
          <a:lstStyle/>
          <a:p>
            <a:pPr algn="l">
              <a:spcAft>
                <a:spcPts val="400"/>
              </a:spcAft>
            </a:pPr>
            <a:r>
              <a:rPr sz="1200">
                <a:solidFill>
                  <a:srgbClr val="FFFFFF"/>
                </a:solidFill>
                <a:latin typeface="Segoe UI Semibold"/>
              </a:rPr>
              <a:t>Endpoints</a:t>
            </a:r>
          </a:p>
          <a:p>
            <a:pPr algn="l">
              <a:spcAft>
                <a:spcPts val="200"/>
              </a:spcAft>
            </a:pPr>
            <a:r>
              <a:rPr sz="1100">
                <a:solidFill>
                  <a:srgbClr val="FFFFFF"/>
                </a:solidFill>
                <a:latin typeface="Segoe UI"/>
              </a:rPr>
              <a:t>controllers</a:t>
            </a:r>
          </a:p>
          <a:p>
            <a:pPr algn="l">
              <a:spcAft>
                <a:spcPts val="200"/>
              </a:spcAft>
            </a:pPr>
            <a:r>
              <a:rPr sz="1100">
                <a:solidFill>
                  <a:srgbClr val="FFFFFF"/>
                </a:solidFill>
                <a:latin typeface="Segoe UI"/>
              </a:rPr>
              <a:t>SignalR hubs</a:t>
            </a:r>
          </a:p>
          <a:p>
            <a:pPr algn="l">
              <a:spcAft>
                <a:spcPts val="200"/>
              </a:spcAft>
            </a:pPr>
            <a:r>
              <a:rPr sz="1100">
                <a:solidFill>
                  <a:srgbClr val="FFFFFF"/>
                </a:solidFill>
                <a:latin typeface="Segoe UI"/>
              </a:rPr>
              <a:t>health checks</a:t>
            </a:r>
          </a:p>
        </p:txBody>
      </p:sp>
      <p:cxnSp>
        <p:nvCxnSpPr>
          <p:cNvPr id="18" name="Connector 17"/>
          <p:cNvCxnSpPr>
            <a:stCxn id="15" idx="3"/>
            <a:endCxn id="17" idx="1"/>
          </p:cNvCxnSpPr>
          <p:nvPr/>
        </p:nvCxnSpPr>
        <p:spPr>
          <a:xfrm flipV="1">
            <a:off x="9758842" y="2354580"/>
            <a:ext cx="210861" cy="0"/>
          </a:xfrm>
          <a:prstGeom prst="line">
            <a:avLst/>
          </a:prstGeom>
          <a:ln w="12700">
            <a:solidFill>
              <a:srgbClr val="1B2430"/>
            </a:solidFill>
            <a:tailEnd type="triangle" w="med" len="med"/>
          </a:ln>
        </p:spPr>
      </p:cxnSp>
      <p:sp>
        <p:nvSpPr>
          <p:cNvPr id="19" name="TextBox 18"/>
          <p:cNvSpPr txBox="1"/>
          <p:nvPr/>
        </p:nvSpPr>
        <p:spPr>
          <a:xfrm>
            <a:off x="548640" y="3383280"/>
            <a:ext cx="54864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DESIGN DECISIONS</a:t>
            </a:r>
          </a:p>
        </p:txBody>
      </p:sp>
      <p:graphicFrame>
        <p:nvGraphicFramePr>
          <p:cNvPr id="20" name="Table 19"/>
          <p:cNvGraphicFramePr>
            <a:graphicFrameLocks noGrp="1"/>
          </p:cNvGraphicFramePr>
          <p:nvPr/>
        </p:nvGraphicFramePr>
        <p:xfrm>
          <a:off x="548640" y="3703320"/>
          <a:ext cx="6995159" cy="2432304"/>
        </p:xfrm>
        <a:graphic>
          <a:graphicData uri="http://schemas.openxmlformats.org/drawingml/2006/table">
            <a:tbl>
              <a:tblPr>
                <a:tableStyleId>{2D5ABB26-0587-4C30-8999-92F81FD0307C}</a:tableStyleId>
              </a:tblPr>
              <a:tblGrid>
                <a:gridCol w="324612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tblGrid>
              <a:tr h="329184">
                <a:tc>
                  <a:txBody>
                    <a:bodyPr/>
                    <a:lstStyle/>
                    <a:p>
                      <a:r>
                        <a:rPr sz="1100">
                          <a:solidFill>
                            <a:srgbClr val="1B2430"/>
                          </a:solidFill>
                          <a:latin typeface="Segoe UI Semibold"/>
                        </a:rPr>
                        <a:t>Decision</a:t>
                      </a: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100">
                          <a:solidFill>
                            <a:srgbClr val="1B2430"/>
                          </a:solidFill>
                          <a:latin typeface="Segoe UI Semibold"/>
                        </a:rPr>
                        <a:t>Reason</a:t>
                      </a:r>
                    </a:p>
                  </a:txBody>
                  <a:tcPr marL="73152" marR="73152" marT="36576" marB="36576" anchor="ctr">
                    <a:lnL w="0">
                      <a:noFill/>
                    </a:lnL>
                    <a:lnR w="0">
                      <a:noFill/>
                    </a:lnR>
                    <a:lnT w="0">
                      <a:noFill/>
                    </a:lnT>
                    <a:lnB w="12700">
                      <a:solidFill>
                        <a:srgbClr val="1B2430"/>
                      </a:solidFill>
                    </a:lnB>
                    <a:solidFill>
                      <a:srgbClr val="F3F4F6"/>
                    </a:solidFill>
                  </a:tcPr>
                </a:tc>
                <a:extLst>
                  <a:ext uri="{0D108BD9-81ED-4DB2-BD59-A6C34878D82A}">
                    <a16:rowId xmlns:a16="http://schemas.microsoft.com/office/drawing/2014/main" val="10000"/>
                  </a:ext>
                </a:extLst>
              </a:tr>
              <a:tr h="420624">
                <a:tc>
                  <a:txBody>
                    <a:bodyPr/>
                    <a:lstStyle/>
                    <a:p>
                      <a:r>
                        <a:rPr sz="1100">
                          <a:solidFill>
                            <a:srgbClr val="1B2430"/>
                          </a:solidFill>
                          <a:latin typeface="Segoe UI Semibold"/>
                        </a:rPr>
                        <a:t>JWT plus a security stamp checked per request</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A revoked session or changed role stops at once</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1"/>
                  </a:ext>
                </a:extLst>
              </a:tr>
              <a:tr h="420624">
                <a:tc>
                  <a:txBody>
                    <a:bodyPr/>
                    <a:lstStyle/>
                    <a:p>
                      <a:r>
                        <a:rPr sz="1100">
                          <a:solidFill>
                            <a:srgbClr val="1B2430"/>
                          </a:solidFill>
                          <a:latin typeface="Segoe UI Semibold"/>
                        </a:rPr>
                        <a:t>Settings stored in the database, edited by admins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A limit or flag changes without a redeploy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2"/>
                  </a:ext>
                </a:extLst>
              </a:tr>
              <a:tr h="420624">
                <a:tc>
                  <a:txBody>
                    <a:bodyPr/>
                    <a:lstStyle/>
                    <a:p>
                      <a:r>
                        <a:rPr sz="1100">
                          <a:solidFill>
                            <a:srgbClr val="1B2430"/>
                          </a:solidFill>
                          <a:latin typeface="Segoe UI Semibold"/>
                        </a:rPr>
                        <a:t>Payments recorded manually; gateway off by default</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Matches bKash, Nagad, Rocket and bank use</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3"/>
                  </a:ext>
                </a:extLst>
              </a:tr>
              <a:tr h="420624">
                <a:tc>
                  <a:txBody>
                    <a:bodyPr/>
                    <a:lstStyle/>
                    <a:p>
                      <a:r>
                        <a:rPr sz="1100">
                          <a:solidFill>
                            <a:srgbClr val="1B2430"/>
                          </a:solidFill>
                          <a:latin typeface="Segoe UI Semibold"/>
                        </a:rPr>
                        <a:t>Rule-based assistant, no language model</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Answers come only from site data</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4"/>
                  </a:ext>
                </a:extLst>
              </a:tr>
              <a:tr h="420624">
                <a:tc>
                  <a:txBody>
                    <a:bodyPr/>
                    <a:lstStyle/>
                    <a:p>
                      <a:r>
                        <a:rPr sz="1100">
                          <a:solidFill>
                            <a:srgbClr val="1B2430"/>
                          </a:solidFill>
                          <a:latin typeface="Segoe UI Semibold"/>
                        </a:rPr>
                        <a:t>One API for web and mobile</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One set of rules and one contract for both</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5"/>
                  </a:ext>
                </a:extLst>
              </a:tr>
            </a:tbl>
          </a:graphicData>
        </a:graphic>
      </p:graphicFrame>
      <p:sp>
        <p:nvSpPr>
          <p:cNvPr id="21" name="TextBox 20"/>
          <p:cNvSpPr txBox="1"/>
          <p:nvPr/>
        </p:nvSpPr>
        <p:spPr>
          <a:xfrm>
            <a:off x="8183879" y="3383280"/>
            <a:ext cx="347472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CI PIPELINE, RUN IN ORDER</a:t>
            </a:r>
          </a:p>
        </p:txBody>
      </p:sp>
      <p:sp>
        <p:nvSpPr>
          <p:cNvPr id="22" name="Rectangle 21"/>
          <p:cNvSpPr/>
          <p:nvPr/>
        </p:nvSpPr>
        <p:spPr>
          <a:xfrm>
            <a:off x="8183879" y="3730752"/>
            <a:ext cx="3459175" cy="36576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a:rPr>
              <a:t>Static analysis</a:t>
            </a:r>
          </a:p>
        </p:txBody>
      </p:sp>
      <p:sp>
        <p:nvSpPr>
          <p:cNvPr id="23" name="Rectangle 22"/>
          <p:cNvSpPr/>
          <p:nvPr/>
        </p:nvSpPr>
        <p:spPr>
          <a:xfrm>
            <a:off x="8183879" y="4233672"/>
            <a:ext cx="3459175" cy="36576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a:rPr>
              <a:t>API tests</a:t>
            </a:r>
          </a:p>
        </p:txBody>
      </p:sp>
      <p:cxnSp>
        <p:nvCxnSpPr>
          <p:cNvPr id="24" name="Connector 23"/>
          <p:cNvCxnSpPr>
            <a:stCxn id="22" idx="2"/>
            <a:endCxn id="23" idx="0"/>
          </p:cNvCxnSpPr>
          <p:nvPr/>
        </p:nvCxnSpPr>
        <p:spPr>
          <a:xfrm flipH="1">
            <a:off x="9913466" y="4096512"/>
            <a:ext cx="0" cy="137160"/>
          </a:xfrm>
          <a:prstGeom prst="line">
            <a:avLst/>
          </a:prstGeom>
          <a:ln w="12700">
            <a:solidFill>
              <a:srgbClr val="5B6675"/>
            </a:solidFill>
            <a:tailEnd type="triangle" w="med" len="med"/>
          </a:ln>
        </p:spPr>
      </p:cxnSp>
      <p:sp>
        <p:nvSpPr>
          <p:cNvPr id="25" name="Rectangle 24"/>
          <p:cNvSpPr/>
          <p:nvPr/>
        </p:nvSpPr>
        <p:spPr>
          <a:xfrm>
            <a:off x="8183879" y="4736592"/>
            <a:ext cx="3459175" cy="36576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a:rPr>
              <a:t>Web UI tests</a:t>
            </a:r>
          </a:p>
        </p:txBody>
      </p:sp>
      <p:cxnSp>
        <p:nvCxnSpPr>
          <p:cNvPr id="26" name="Connector 25"/>
          <p:cNvCxnSpPr>
            <a:stCxn id="23" idx="2"/>
            <a:endCxn id="25" idx="0"/>
          </p:cNvCxnSpPr>
          <p:nvPr/>
        </p:nvCxnSpPr>
        <p:spPr>
          <a:xfrm flipH="1">
            <a:off x="9913466" y="4599432"/>
            <a:ext cx="0" cy="137160"/>
          </a:xfrm>
          <a:prstGeom prst="line">
            <a:avLst/>
          </a:prstGeom>
          <a:ln w="12700">
            <a:solidFill>
              <a:srgbClr val="5B6675"/>
            </a:solidFill>
            <a:tailEnd type="triangle" w="med" len="med"/>
          </a:ln>
        </p:spPr>
      </p:cxnSp>
      <p:sp>
        <p:nvSpPr>
          <p:cNvPr id="27" name="Rectangle 26"/>
          <p:cNvSpPr/>
          <p:nvPr/>
        </p:nvSpPr>
        <p:spPr>
          <a:xfrm>
            <a:off x="8183879" y="5239512"/>
            <a:ext cx="3459175" cy="36576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a:rPr>
              <a:t>Mobile tests</a:t>
            </a:r>
          </a:p>
        </p:txBody>
      </p:sp>
      <p:cxnSp>
        <p:nvCxnSpPr>
          <p:cNvPr id="28" name="Connector 27"/>
          <p:cNvCxnSpPr>
            <a:stCxn id="25" idx="2"/>
            <a:endCxn id="27" idx="0"/>
          </p:cNvCxnSpPr>
          <p:nvPr/>
        </p:nvCxnSpPr>
        <p:spPr>
          <a:xfrm flipH="1">
            <a:off x="9913466" y="5102352"/>
            <a:ext cx="0" cy="137160"/>
          </a:xfrm>
          <a:prstGeom prst="line">
            <a:avLst/>
          </a:prstGeom>
          <a:ln w="12700">
            <a:solidFill>
              <a:srgbClr val="5B6675"/>
            </a:solidFill>
            <a:tailEnd type="triangle" w="med" len="med"/>
          </a:ln>
        </p:spPr>
      </p:cxnSp>
      <p:sp>
        <p:nvSpPr>
          <p:cNvPr id="29" name="Rectangle 28"/>
          <p:cNvSpPr/>
          <p:nvPr/>
        </p:nvSpPr>
        <p:spPr>
          <a:xfrm>
            <a:off x="8183879" y="5742432"/>
            <a:ext cx="3459175" cy="365760"/>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a:rPr>
              <a:t>Build</a:t>
            </a:r>
          </a:p>
        </p:txBody>
      </p:sp>
      <p:cxnSp>
        <p:nvCxnSpPr>
          <p:cNvPr id="30" name="Connector 29"/>
          <p:cNvCxnSpPr>
            <a:stCxn id="27" idx="2"/>
            <a:endCxn id="29" idx="0"/>
          </p:cNvCxnSpPr>
          <p:nvPr/>
        </p:nvCxnSpPr>
        <p:spPr>
          <a:xfrm flipH="1">
            <a:off x="9913466" y="5605272"/>
            <a:ext cx="0" cy="137160"/>
          </a:xfrm>
          <a:prstGeom prst="line">
            <a:avLst/>
          </a:prstGeom>
          <a:ln w="12700">
            <a:solidFill>
              <a:srgbClr val="5B6675"/>
            </a:solidFill>
            <a:tailEnd type="triangle" w="med" len="med"/>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Election lifecycle: ten statuses, five two-person gates</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5 / 12</a:t>
            </a:r>
          </a:p>
        </p:txBody>
      </p:sp>
      <p:sp>
        <p:nvSpPr>
          <p:cNvPr id="7" name="TextBox 6"/>
          <p:cNvSpPr txBox="1"/>
          <p:nvPr/>
        </p:nvSpPr>
        <p:spPr>
          <a:xfrm>
            <a:off x="548640" y="1298448"/>
            <a:ext cx="658622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SETUP</a:t>
            </a:r>
          </a:p>
        </p:txBody>
      </p:sp>
      <p:cxnSp>
        <p:nvCxnSpPr>
          <p:cNvPr id="8" name="Connector 7"/>
          <p:cNvCxnSpPr/>
          <p:nvPr/>
        </p:nvCxnSpPr>
        <p:spPr>
          <a:xfrm>
            <a:off x="548640" y="1600200"/>
            <a:ext cx="6586220" cy="0"/>
          </a:xfrm>
          <a:prstGeom prst="line">
            <a:avLst/>
          </a:prstGeom>
          <a:ln w="9525">
            <a:solidFill>
              <a:srgbClr val="1B2430"/>
            </a:solidFill>
          </a:ln>
        </p:spPr>
      </p:cxnSp>
      <p:sp>
        <p:nvSpPr>
          <p:cNvPr id="9" name="TextBox 8"/>
          <p:cNvSpPr txBox="1"/>
          <p:nvPr/>
        </p:nvSpPr>
        <p:spPr>
          <a:xfrm>
            <a:off x="7310932" y="1298448"/>
            <a:ext cx="2078024" cy="274320"/>
          </a:xfrm>
          <a:prstGeom prst="rect">
            <a:avLst/>
          </a:prstGeom>
          <a:noFill/>
        </p:spPr>
        <p:txBody>
          <a:bodyPr wrap="square" lIns="0" tIns="0" rIns="0" bIns="0" anchor="t"/>
          <a:lstStyle/>
          <a:p>
            <a:pPr algn="l">
              <a:spcAft>
                <a:spcPts val="0"/>
              </a:spcAft>
            </a:pPr>
            <a:r>
              <a:rPr sz="1050">
                <a:solidFill>
                  <a:srgbClr val="5B6675"/>
                </a:solidFill>
                <a:latin typeface="Segoe UI Semibold"/>
              </a:rPr>
              <a:t>LIVE</a:t>
            </a:r>
          </a:p>
        </p:txBody>
      </p:sp>
      <p:cxnSp>
        <p:nvCxnSpPr>
          <p:cNvPr id="10" name="Connector 9"/>
          <p:cNvCxnSpPr/>
          <p:nvPr/>
        </p:nvCxnSpPr>
        <p:spPr>
          <a:xfrm>
            <a:off x="7310932" y="1600200"/>
            <a:ext cx="2078025" cy="0"/>
          </a:xfrm>
          <a:prstGeom prst="line">
            <a:avLst/>
          </a:prstGeom>
          <a:ln w="9525">
            <a:solidFill>
              <a:srgbClr val="1B2430"/>
            </a:solidFill>
          </a:ln>
        </p:spPr>
      </p:cxnSp>
      <p:sp>
        <p:nvSpPr>
          <p:cNvPr id="11" name="TextBox 10"/>
          <p:cNvSpPr txBox="1"/>
          <p:nvPr/>
        </p:nvSpPr>
        <p:spPr>
          <a:xfrm>
            <a:off x="9565030" y="1298448"/>
            <a:ext cx="2078024" cy="274320"/>
          </a:xfrm>
          <a:prstGeom prst="rect">
            <a:avLst/>
          </a:prstGeom>
          <a:noFill/>
        </p:spPr>
        <p:txBody>
          <a:bodyPr wrap="square" lIns="0" tIns="0" rIns="0" bIns="0" anchor="t"/>
          <a:lstStyle/>
          <a:p>
            <a:pPr algn="l">
              <a:spcAft>
                <a:spcPts val="0"/>
              </a:spcAft>
            </a:pPr>
            <a:r>
              <a:rPr sz="1050">
                <a:solidFill>
                  <a:srgbClr val="5B6675"/>
                </a:solidFill>
                <a:latin typeface="Segoe UI Semibold"/>
              </a:rPr>
              <a:t>CLOSED</a:t>
            </a:r>
          </a:p>
        </p:txBody>
      </p:sp>
      <p:cxnSp>
        <p:nvCxnSpPr>
          <p:cNvPr id="12" name="Connector 11"/>
          <p:cNvCxnSpPr/>
          <p:nvPr/>
        </p:nvCxnSpPr>
        <p:spPr>
          <a:xfrm>
            <a:off x="9565030" y="1600200"/>
            <a:ext cx="2078025" cy="0"/>
          </a:xfrm>
          <a:prstGeom prst="line">
            <a:avLst/>
          </a:prstGeom>
          <a:ln w="9525">
            <a:solidFill>
              <a:srgbClr val="1B2430"/>
            </a:solidFill>
          </a:ln>
        </p:spPr>
      </p:cxnSp>
      <p:sp>
        <p:nvSpPr>
          <p:cNvPr id="13" name="Rectangle 12"/>
          <p:cNvSpPr/>
          <p:nvPr/>
        </p:nvSpPr>
        <p:spPr>
          <a:xfrm>
            <a:off x="548640" y="1737360"/>
            <a:ext cx="950976" cy="658368"/>
          </a:xfrm>
          <a:prstGeom prst="rect">
            <a:avLst/>
          </a:prstGeom>
          <a:solidFill>
            <a:srgbClr val="F3F4F6"/>
          </a:solidFill>
          <a:ln>
            <a:noFill/>
          </a:ln>
        </p:spPr>
        <p:txBody>
          <a:bodyPr wrap="square" lIns="36576" tIns="36576" rIns="36576" bIns="36576" rtlCol="0" anchor="ctr"/>
          <a:lstStyle/>
          <a:p>
            <a:pPr algn="ctr">
              <a:spcAft>
                <a:spcPts val="0"/>
              </a:spcAft>
            </a:pPr>
            <a:r>
              <a:rPr sz="1100">
                <a:solidFill>
                  <a:srgbClr val="1B2430"/>
                </a:solidFill>
                <a:latin typeface="Segoe UI"/>
              </a:rPr>
              <a:t>Announced</a:t>
            </a:r>
          </a:p>
        </p:txBody>
      </p:sp>
      <p:sp>
        <p:nvSpPr>
          <p:cNvPr id="14" name="Rectangle 13"/>
          <p:cNvSpPr/>
          <p:nvPr/>
        </p:nvSpPr>
        <p:spPr>
          <a:xfrm>
            <a:off x="1675688" y="1737360"/>
            <a:ext cx="950976" cy="658368"/>
          </a:xfrm>
          <a:prstGeom prst="rect">
            <a:avLst/>
          </a:prstGeom>
          <a:solidFill>
            <a:srgbClr val="F3F4F6"/>
          </a:solidFill>
          <a:ln>
            <a:noFill/>
          </a:ln>
        </p:spPr>
        <p:txBody>
          <a:bodyPr wrap="square" lIns="36576" tIns="36576" rIns="36576" bIns="36576" rtlCol="0" anchor="ctr"/>
          <a:lstStyle/>
          <a:p>
            <a:pPr algn="ctr">
              <a:spcAft>
                <a:spcPts val="0"/>
              </a:spcAft>
            </a:pPr>
            <a:r>
              <a:rPr sz="1100">
                <a:solidFill>
                  <a:srgbClr val="1B2430"/>
                </a:solidFill>
                <a:latin typeface="Segoe UI"/>
              </a:rPr>
              <a:t>Nomination</a:t>
            </a:r>
          </a:p>
        </p:txBody>
      </p:sp>
      <p:sp>
        <p:nvSpPr>
          <p:cNvPr id="15" name="Rectangle 14"/>
          <p:cNvSpPr/>
          <p:nvPr/>
        </p:nvSpPr>
        <p:spPr>
          <a:xfrm>
            <a:off x="2802737" y="1737360"/>
            <a:ext cx="950976" cy="658368"/>
          </a:xfrm>
          <a:prstGeom prst="rect">
            <a:avLst/>
          </a:prstGeom>
          <a:solidFill>
            <a:srgbClr val="F3F4F6"/>
          </a:solidFill>
          <a:ln>
            <a:noFill/>
          </a:ln>
        </p:spPr>
        <p:txBody>
          <a:bodyPr wrap="square" lIns="36576" tIns="36576" rIns="36576" bIns="36576" rtlCol="0" anchor="ctr"/>
          <a:lstStyle/>
          <a:p>
            <a:pPr algn="ctr">
              <a:spcAft>
                <a:spcPts val="0"/>
              </a:spcAft>
            </a:pPr>
            <a:r>
              <a:rPr sz="1100">
                <a:solidFill>
                  <a:srgbClr val="1B2430"/>
                </a:solidFill>
                <a:latin typeface="Segoe UI"/>
              </a:rPr>
              <a:t>Scrutiny</a:t>
            </a:r>
          </a:p>
        </p:txBody>
      </p:sp>
      <p:sp>
        <p:nvSpPr>
          <p:cNvPr id="16" name="Rectangle 15"/>
          <p:cNvSpPr/>
          <p:nvPr/>
        </p:nvSpPr>
        <p:spPr>
          <a:xfrm>
            <a:off x="3929786" y="1737360"/>
            <a:ext cx="950976" cy="658368"/>
          </a:xfrm>
          <a:prstGeom prst="rect">
            <a:avLst/>
          </a:prstGeom>
          <a:solidFill>
            <a:srgbClr val="F3F4F6"/>
          </a:solidFill>
          <a:ln>
            <a:noFill/>
          </a:ln>
        </p:spPr>
        <p:txBody>
          <a:bodyPr wrap="square" lIns="36576" tIns="36576" rIns="36576" bIns="36576" rtlCol="0" anchor="ctr"/>
          <a:lstStyle/>
          <a:p>
            <a:pPr algn="ctr">
              <a:spcAft>
                <a:spcPts val="0"/>
              </a:spcAft>
            </a:pPr>
            <a:r>
              <a:rPr sz="1100">
                <a:solidFill>
                  <a:srgbClr val="1B2430"/>
                </a:solidFill>
                <a:latin typeface="Segoe UI"/>
              </a:rPr>
              <a:t>Withdrawal</a:t>
            </a:r>
          </a:p>
        </p:txBody>
      </p:sp>
      <p:sp>
        <p:nvSpPr>
          <p:cNvPr id="17" name="Rectangle 16"/>
          <p:cNvSpPr/>
          <p:nvPr/>
        </p:nvSpPr>
        <p:spPr>
          <a:xfrm>
            <a:off x="5056835" y="1737360"/>
            <a:ext cx="950976" cy="658368"/>
          </a:xfrm>
          <a:prstGeom prst="rect">
            <a:avLst/>
          </a:prstGeom>
          <a:solidFill>
            <a:srgbClr val="F3F4F6"/>
          </a:solidFill>
          <a:ln>
            <a:noFill/>
          </a:ln>
        </p:spPr>
        <p:txBody>
          <a:bodyPr wrap="square" lIns="36576" tIns="36576" rIns="36576" bIns="36576" rtlCol="0" anchor="ctr"/>
          <a:lstStyle/>
          <a:p>
            <a:pPr algn="ctr">
              <a:spcAft>
                <a:spcPts val="0"/>
              </a:spcAft>
            </a:pPr>
            <a:r>
              <a:rPr sz="1100">
                <a:solidFill>
                  <a:srgbClr val="1B2430"/>
                </a:solidFill>
                <a:latin typeface="Segoe UI"/>
              </a:rPr>
              <a:t>Candidate list</a:t>
            </a:r>
          </a:p>
        </p:txBody>
      </p:sp>
      <p:sp>
        <p:nvSpPr>
          <p:cNvPr id="18" name="Rectangle 17"/>
          <p:cNvSpPr/>
          <p:nvPr/>
        </p:nvSpPr>
        <p:spPr>
          <a:xfrm>
            <a:off x="6183884" y="1737360"/>
            <a:ext cx="950976" cy="658368"/>
          </a:xfrm>
          <a:prstGeom prst="rect">
            <a:avLst/>
          </a:prstGeom>
          <a:solidFill>
            <a:srgbClr val="F3F4F6"/>
          </a:solidFill>
          <a:ln>
            <a:noFill/>
          </a:ln>
        </p:spPr>
        <p:txBody>
          <a:bodyPr wrap="square" lIns="36576" tIns="36576" rIns="36576" bIns="36576" rtlCol="0" anchor="ctr"/>
          <a:lstStyle/>
          <a:p>
            <a:pPr algn="ctr">
              <a:spcAft>
                <a:spcPts val="0"/>
              </a:spcAft>
            </a:pPr>
            <a:r>
              <a:rPr sz="1100">
                <a:solidFill>
                  <a:srgbClr val="1B2430"/>
                </a:solidFill>
                <a:latin typeface="Segoe UI"/>
              </a:rPr>
              <a:t>Campaign</a:t>
            </a:r>
          </a:p>
        </p:txBody>
      </p:sp>
      <p:sp>
        <p:nvSpPr>
          <p:cNvPr id="19" name="Rectangle 18"/>
          <p:cNvSpPr/>
          <p:nvPr/>
        </p:nvSpPr>
        <p:spPr>
          <a:xfrm>
            <a:off x="7310932" y="1737360"/>
            <a:ext cx="950976" cy="658368"/>
          </a:xfrm>
          <a:prstGeom prst="rect">
            <a:avLst/>
          </a:prstGeom>
          <a:solidFill>
            <a:srgbClr val="0F6C73"/>
          </a:solidFill>
          <a:ln>
            <a:noFill/>
          </a:ln>
        </p:spPr>
        <p:txBody>
          <a:bodyPr wrap="square" lIns="36576" tIns="36576" rIns="36576" bIns="36576" rtlCol="0" anchor="ctr"/>
          <a:lstStyle/>
          <a:p>
            <a:pPr algn="ctr">
              <a:spcAft>
                <a:spcPts val="0"/>
              </a:spcAft>
            </a:pPr>
            <a:r>
              <a:rPr sz="1100">
                <a:solidFill>
                  <a:srgbClr val="FFFFFF"/>
                </a:solidFill>
                <a:latin typeface="Segoe UI Semibold"/>
              </a:rPr>
              <a:t>Polling</a:t>
            </a:r>
          </a:p>
        </p:txBody>
      </p:sp>
      <p:sp>
        <p:nvSpPr>
          <p:cNvPr id="20" name="Rectangle 19"/>
          <p:cNvSpPr/>
          <p:nvPr/>
        </p:nvSpPr>
        <p:spPr>
          <a:xfrm>
            <a:off x="8437981" y="1737360"/>
            <a:ext cx="950976" cy="658368"/>
          </a:xfrm>
          <a:prstGeom prst="rect">
            <a:avLst/>
          </a:prstGeom>
          <a:solidFill>
            <a:srgbClr val="0F6C73"/>
          </a:solidFill>
          <a:ln>
            <a:noFill/>
          </a:ln>
        </p:spPr>
        <p:txBody>
          <a:bodyPr wrap="square" lIns="36576" tIns="36576" rIns="36576" bIns="36576" rtlCol="0" anchor="ctr"/>
          <a:lstStyle/>
          <a:p>
            <a:pPr algn="ctr">
              <a:spcAft>
                <a:spcPts val="0"/>
              </a:spcAft>
            </a:pPr>
            <a:r>
              <a:rPr sz="1100">
                <a:solidFill>
                  <a:srgbClr val="FFFFFF"/>
                </a:solidFill>
                <a:latin typeface="Segoe UI Semibold"/>
              </a:rPr>
              <a:t>Counting</a:t>
            </a:r>
          </a:p>
        </p:txBody>
      </p:sp>
      <p:sp>
        <p:nvSpPr>
          <p:cNvPr id="21" name="Rectangle 20"/>
          <p:cNvSpPr/>
          <p:nvPr/>
        </p:nvSpPr>
        <p:spPr>
          <a:xfrm>
            <a:off x="9565030" y="1737360"/>
            <a:ext cx="950976" cy="658368"/>
          </a:xfrm>
          <a:prstGeom prst="rect">
            <a:avLst/>
          </a:prstGeom>
          <a:solidFill>
            <a:srgbClr val="FFFFFF"/>
          </a:solidFill>
          <a:ln w="9525">
            <a:solidFill>
              <a:srgbClr val="1B2430"/>
            </a:solidFill>
          </a:ln>
        </p:spPr>
        <p:txBody>
          <a:bodyPr wrap="square" lIns="36576" tIns="36576" rIns="36576" bIns="36576" rtlCol="0" anchor="ctr"/>
          <a:lstStyle/>
          <a:p>
            <a:pPr algn="ctr">
              <a:spcAft>
                <a:spcPts val="0"/>
              </a:spcAft>
            </a:pPr>
            <a:r>
              <a:rPr sz="1100">
                <a:solidFill>
                  <a:srgbClr val="1B2430"/>
                </a:solidFill>
                <a:latin typeface="Segoe UI"/>
              </a:rPr>
              <a:t>Declared</a:t>
            </a:r>
          </a:p>
        </p:txBody>
      </p:sp>
      <p:sp>
        <p:nvSpPr>
          <p:cNvPr id="22" name="Rectangle 21"/>
          <p:cNvSpPr/>
          <p:nvPr/>
        </p:nvSpPr>
        <p:spPr>
          <a:xfrm>
            <a:off x="10692079" y="1737360"/>
            <a:ext cx="950976" cy="658368"/>
          </a:xfrm>
          <a:prstGeom prst="rect">
            <a:avLst/>
          </a:prstGeom>
          <a:solidFill>
            <a:srgbClr val="FFFFFF"/>
          </a:solidFill>
          <a:ln w="9525">
            <a:solidFill>
              <a:srgbClr val="1B2430"/>
            </a:solidFill>
          </a:ln>
        </p:spPr>
        <p:txBody>
          <a:bodyPr wrap="square" lIns="36576" tIns="36576" rIns="36576" bIns="36576" rtlCol="0" anchor="ctr"/>
          <a:lstStyle/>
          <a:p>
            <a:pPr algn="ctr">
              <a:spcAft>
                <a:spcPts val="0"/>
              </a:spcAft>
            </a:pPr>
            <a:r>
              <a:rPr sz="1100">
                <a:solidFill>
                  <a:srgbClr val="1B2430"/>
                </a:solidFill>
                <a:latin typeface="Segoe UI"/>
              </a:rPr>
              <a:t>Archived</a:t>
            </a:r>
          </a:p>
        </p:txBody>
      </p:sp>
      <p:cxnSp>
        <p:nvCxnSpPr>
          <p:cNvPr id="23" name="Connector 22"/>
          <p:cNvCxnSpPr>
            <a:stCxn id="13" idx="3"/>
            <a:endCxn id="14" idx="1"/>
          </p:cNvCxnSpPr>
          <p:nvPr/>
        </p:nvCxnSpPr>
        <p:spPr>
          <a:xfrm flipV="1">
            <a:off x="1499616" y="2066544"/>
            <a:ext cx="176072" cy="0"/>
          </a:xfrm>
          <a:prstGeom prst="line">
            <a:avLst/>
          </a:prstGeom>
          <a:ln w="25400">
            <a:solidFill>
              <a:srgbClr val="0F6C73"/>
            </a:solidFill>
            <a:tailEnd type="triangle" w="med" len="med"/>
          </a:ln>
        </p:spPr>
      </p:cxnSp>
      <p:cxnSp>
        <p:nvCxnSpPr>
          <p:cNvPr id="24" name="Connector 23"/>
          <p:cNvCxnSpPr>
            <a:stCxn id="14" idx="3"/>
            <a:endCxn id="15" idx="1"/>
          </p:cNvCxnSpPr>
          <p:nvPr/>
        </p:nvCxnSpPr>
        <p:spPr>
          <a:xfrm flipV="1">
            <a:off x="2626664" y="2066544"/>
            <a:ext cx="176073" cy="0"/>
          </a:xfrm>
          <a:prstGeom prst="line">
            <a:avLst/>
          </a:prstGeom>
          <a:ln w="12700">
            <a:solidFill>
              <a:srgbClr val="5B6675"/>
            </a:solidFill>
            <a:tailEnd type="triangle" w="med" len="med"/>
          </a:ln>
        </p:spPr>
      </p:cxnSp>
      <p:cxnSp>
        <p:nvCxnSpPr>
          <p:cNvPr id="25" name="Connector 24"/>
          <p:cNvCxnSpPr>
            <a:stCxn id="15" idx="3"/>
            <a:endCxn id="16" idx="1"/>
          </p:cNvCxnSpPr>
          <p:nvPr/>
        </p:nvCxnSpPr>
        <p:spPr>
          <a:xfrm flipV="1">
            <a:off x="3753713" y="2066544"/>
            <a:ext cx="176073" cy="0"/>
          </a:xfrm>
          <a:prstGeom prst="line">
            <a:avLst/>
          </a:prstGeom>
          <a:ln w="12700">
            <a:solidFill>
              <a:srgbClr val="5B6675"/>
            </a:solidFill>
            <a:tailEnd type="triangle" w="med" len="med"/>
          </a:ln>
        </p:spPr>
      </p:cxnSp>
      <p:cxnSp>
        <p:nvCxnSpPr>
          <p:cNvPr id="26" name="Connector 25"/>
          <p:cNvCxnSpPr>
            <a:stCxn id="16" idx="3"/>
            <a:endCxn id="17" idx="1"/>
          </p:cNvCxnSpPr>
          <p:nvPr/>
        </p:nvCxnSpPr>
        <p:spPr>
          <a:xfrm flipV="1">
            <a:off x="4880762" y="2066544"/>
            <a:ext cx="176073" cy="0"/>
          </a:xfrm>
          <a:prstGeom prst="line">
            <a:avLst/>
          </a:prstGeom>
          <a:ln w="12700">
            <a:solidFill>
              <a:srgbClr val="5B6675"/>
            </a:solidFill>
            <a:tailEnd type="triangle" w="med" len="med"/>
          </a:ln>
        </p:spPr>
      </p:cxnSp>
      <p:cxnSp>
        <p:nvCxnSpPr>
          <p:cNvPr id="27" name="Connector 26"/>
          <p:cNvCxnSpPr>
            <a:stCxn id="17" idx="3"/>
            <a:endCxn id="18" idx="1"/>
          </p:cNvCxnSpPr>
          <p:nvPr/>
        </p:nvCxnSpPr>
        <p:spPr>
          <a:xfrm flipV="1">
            <a:off x="6007811" y="2066544"/>
            <a:ext cx="176073" cy="0"/>
          </a:xfrm>
          <a:prstGeom prst="line">
            <a:avLst/>
          </a:prstGeom>
          <a:ln w="12700">
            <a:solidFill>
              <a:srgbClr val="5B6675"/>
            </a:solidFill>
            <a:tailEnd type="triangle" w="med" len="med"/>
          </a:ln>
        </p:spPr>
      </p:cxnSp>
      <p:cxnSp>
        <p:nvCxnSpPr>
          <p:cNvPr id="28" name="Connector 27"/>
          <p:cNvCxnSpPr>
            <a:stCxn id="18" idx="3"/>
            <a:endCxn id="19" idx="1"/>
          </p:cNvCxnSpPr>
          <p:nvPr/>
        </p:nvCxnSpPr>
        <p:spPr>
          <a:xfrm flipV="1">
            <a:off x="7134860" y="2066544"/>
            <a:ext cx="176072" cy="0"/>
          </a:xfrm>
          <a:prstGeom prst="line">
            <a:avLst/>
          </a:prstGeom>
          <a:ln w="25400">
            <a:solidFill>
              <a:srgbClr val="0F6C73"/>
            </a:solidFill>
            <a:tailEnd type="triangle" w="med" len="med"/>
          </a:ln>
        </p:spPr>
      </p:cxnSp>
      <p:cxnSp>
        <p:nvCxnSpPr>
          <p:cNvPr id="29" name="Connector 28"/>
          <p:cNvCxnSpPr>
            <a:stCxn id="19" idx="3"/>
            <a:endCxn id="20" idx="1"/>
          </p:cNvCxnSpPr>
          <p:nvPr/>
        </p:nvCxnSpPr>
        <p:spPr>
          <a:xfrm flipV="1">
            <a:off x="8261908" y="2066544"/>
            <a:ext cx="176073" cy="0"/>
          </a:xfrm>
          <a:prstGeom prst="line">
            <a:avLst/>
          </a:prstGeom>
          <a:ln w="25400">
            <a:solidFill>
              <a:srgbClr val="0F6C73"/>
            </a:solidFill>
            <a:tailEnd type="triangle" w="med" len="med"/>
          </a:ln>
        </p:spPr>
      </p:cxnSp>
      <p:cxnSp>
        <p:nvCxnSpPr>
          <p:cNvPr id="30" name="Connector 29"/>
          <p:cNvCxnSpPr>
            <a:stCxn id="20" idx="3"/>
            <a:endCxn id="21" idx="1"/>
          </p:cNvCxnSpPr>
          <p:nvPr/>
        </p:nvCxnSpPr>
        <p:spPr>
          <a:xfrm flipV="1">
            <a:off x="9388957" y="2066544"/>
            <a:ext cx="176073" cy="0"/>
          </a:xfrm>
          <a:prstGeom prst="line">
            <a:avLst/>
          </a:prstGeom>
          <a:ln w="25400">
            <a:solidFill>
              <a:srgbClr val="0F6C73"/>
            </a:solidFill>
            <a:tailEnd type="triangle" w="med" len="med"/>
          </a:ln>
        </p:spPr>
      </p:cxnSp>
      <p:cxnSp>
        <p:nvCxnSpPr>
          <p:cNvPr id="31" name="Connector 30"/>
          <p:cNvCxnSpPr>
            <a:stCxn id="21" idx="3"/>
            <a:endCxn id="22" idx="1"/>
          </p:cNvCxnSpPr>
          <p:nvPr/>
        </p:nvCxnSpPr>
        <p:spPr>
          <a:xfrm flipV="1">
            <a:off x="10516006" y="2066544"/>
            <a:ext cx="176073" cy="0"/>
          </a:xfrm>
          <a:prstGeom prst="line">
            <a:avLst/>
          </a:prstGeom>
          <a:ln w="25400">
            <a:solidFill>
              <a:srgbClr val="0F6C73"/>
            </a:solidFill>
            <a:tailEnd type="triangle" w="med" len="med"/>
          </a:ln>
        </p:spPr>
      </p:cxnSp>
      <p:cxnSp>
        <p:nvCxnSpPr>
          <p:cNvPr id="32" name="Connector 31"/>
          <p:cNvCxnSpPr/>
          <p:nvPr/>
        </p:nvCxnSpPr>
        <p:spPr>
          <a:xfrm>
            <a:off x="6659372" y="2560320"/>
            <a:ext cx="2905658" cy="0"/>
          </a:xfrm>
          <a:prstGeom prst="line">
            <a:avLst/>
          </a:prstGeom>
          <a:ln w="38100">
            <a:solidFill>
              <a:srgbClr val="0F6C73"/>
            </a:solidFill>
          </a:ln>
        </p:spPr>
      </p:cxnSp>
      <p:sp>
        <p:nvSpPr>
          <p:cNvPr id="33" name="TextBox 32"/>
          <p:cNvSpPr txBox="1"/>
          <p:nvPr/>
        </p:nvSpPr>
        <p:spPr>
          <a:xfrm>
            <a:off x="6659372" y="2615184"/>
            <a:ext cx="5029200" cy="274320"/>
          </a:xfrm>
          <a:prstGeom prst="rect">
            <a:avLst/>
          </a:prstGeom>
          <a:noFill/>
        </p:spPr>
        <p:txBody>
          <a:bodyPr wrap="square" lIns="0" tIns="0" rIns="0" bIns="0" anchor="t"/>
          <a:lstStyle/>
          <a:p>
            <a:pPr algn="l">
              <a:spcAft>
                <a:spcPts val="0"/>
              </a:spcAft>
            </a:pPr>
            <a:r>
              <a:rPr sz="1050">
                <a:solidFill>
                  <a:srgbClr val="0F6C73"/>
                </a:solidFill>
                <a:latin typeface="Segoe UI"/>
              </a:rPr>
              <a:t>Rules frozen from the open-polling request until declaration</a:t>
            </a:r>
          </a:p>
        </p:txBody>
      </p:sp>
      <p:graphicFrame>
        <p:nvGraphicFramePr>
          <p:cNvPr id="34" name="Table 33"/>
          <p:cNvGraphicFramePr>
            <a:graphicFrameLocks noGrp="1"/>
          </p:cNvGraphicFramePr>
          <p:nvPr/>
        </p:nvGraphicFramePr>
        <p:xfrm>
          <a:off x="548640" y="3017520"/>
          <a:ext cx="11091672" cy="3200400"/>
        </p:xfrm>
        <a:graphic>
          <a:graphicData uri="http://schemas.openxmlformats.org/drawingml/2006/table">
            <a:tbl>
              <a:tblPr>
                <a:tableStyleId>{2D5ABB26-0587-4C30-8999-92F81FD0307C}</a:tableStyleId>
              </a:tblPr>
              <a:tblGrid>
                <a:gridCol w="41148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gridCol w="1536192">
                  <a:extLst>
                    <a:ext uri="{9D8B030D-6E8A-4147-A177-3AD203B41FA5}">
                      <a16:colId xmlns:a16="http://schemas.microsoft.com/office/drawing/2014/main" val="20003"/>
                    </a:ext>
                  </a:extLst>
                </a:gridCol>
              </a:tblGrid>
              <a:tr h="292608">
                <a:tc>
                  <a:txBody>
                    <a:bodyPr/>
                    <a:lstStyle/>
                    <a:p>
                      <a:endParaRP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050">
                          <a:solidFill>
                            <a:srgbClr val="1B2430"/>
                          </a:solidFill>
                          <a:latin typeface="Segoe UI Semibold"/>
                        </a:rPr>
                        <a:t>Move</a:t>
                      </a: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050">
                          <a:solidFill>
                            <a:srgbClr val="1B2430"/>
                          </a:solidFill>
                          <a:latin typeface="Segoe UI Semibold"/>
                        </a:rPr>
                        <a:t>What has to happen</a:t>
                      </a: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050">
                          <a:solidFill>
                            <a:srgbClr val="1B2430"/>
                          </a:solidFill>
                          <a:latin typeface="Segoe UI Semibold"/>
                        </a:rPr>
                        <a:t>Two people</a:t>
                      </a:r>
                    </a:p>
                  </a:txBody>
                  <a:tcPr marL="73152" marR="73152" marT="36576" marB="36576" anchor="ctr">
                    <a:lnL w="0">
                      <a:noFill/>
                    </a:lnL>
                    <a:lnR w="0">
                      <a:noFill/>
                    </a:lnR>
                    <a:lnT w="0">
                      <a:noFill/>
                    </a:lnT>
                    <a:lnB w="12700">
                      <a:solidFill>
                        <a:srgbClr val="1B2430"/>
                      </a:solidFill>
                    </a:lnB>
                    <a:solidFill>
                      <a:srgbClr val="F3F4F6"/>
                    </a:solidFill>
                  </a:tcPr>
                </a:tc>
                <a:extLst>
                  <a:ext uri="{0D108BD9-81ED-4DB2-BD59-A6C34878D82A}">
                    <a16:rowId xmlns:a16="http://schemas.microsoft.com/office/drawing/2014/main" val="10000"/>
                  </a:ext>
                </a:extLst>
              </a:tr>
              <a:tr h="292608">
                <a:tc>
                  <a:txBody>
                    <a:bodyPr/>
                    <a:lstStyle/>
                    <a:p>
                      <a:r>
                        <a:rPr sz="1050">
                          <a:solidFill>
                            <a:srgbClr val="1B2430"/>
                          </a:solidFill>
                          <a:latin typeface="Segoe UI"/>
                        </a:rPr>
                        <a:t>1</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Announced → Nomination</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Setup published</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Yes</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1"/>
                  </a:ext>
                </a:extLst>
              </a:tr>
              <a:tr h="292608">
                <a:tc>
                  <a:txBody>
                    <a:bodyPr/>
                    <a:lstStyle/>
                    <a:p>
                      <a:r>
                        <a:rPr sz="1050">
                          <a:solidFill>
                            <a:srgbClr val="1B2430"/>
                          </a:solidFill>
                          <a:latin typeface="Segoe UI"/>
                        </a:rPr>
                        <a:t>2</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Nomination → Scrutiny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Nomination closing date passes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endParaRP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2"/>
                  </a:ext>
                </a:extLst>
              </a:tr>
              <a:tr h="292608">
                <a:tc>
                  <a:txBody>
                    <a:bodyPr/>
                    <a:lstStyle/>
                    <a:p>
                      <a:r>
                        <a:rPr sz="1050">
                          <a:solidFill>
                            <a:srgbClr val="1B2430"/>
                          </a:solidFill>
                          <a:latin typeface="Segoe UI"/>
                        </a:rPr>
                        <a:t>3</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Scrutiny → Withdrawal</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Every nomination ruled on</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endParaRP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3"/>
                  </a:ext>
                </a:extLst>
              </a:tr>
              <a:tr h="292608">
                <a:tc>
                  <a:txBody>
                    <a:bodyPr/>
                    <a:lstStyle/>
                    <a:p>
                      <a:r>
                        <a:rPr sz="1050">
                          <a:solidFill>
                            <a:srgbClr val="1B2430"/>
                          </a:solidFill>
                          <a:latin typeface="Segoe UI"/>
                        </a:rPr>
                        <a:t>4</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Withdrawal → Candidate list</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Withdrawal closing date passes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endParaRP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4"/>
                  </a:ext>
                </a:extLst>
              </a:tr>
              <a:tr h="292608">
                <a:tc>
                  <a:txBody>
                    <a:bodyPr/>
                    <a:lstStyle/>
                    <a:p>
                      <a:r>
                        <a:rPr sz="1050">
                          <a:solidFill>
                            <a:srgbClr val="1B2430"/>
                          </a:solidFill>
                          <a:latin typeface="Segoe UI"/>
                        </a:rPr>
                        <a:t>5</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Candidate list → Campaign</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List published; order fixed for every voter</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endParaRP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5"/>
                  </a:ext>
                </a:extLst>
              </a:tr>
              <a:tr h="292608">
                <a:tc>
                  <a:txBody>
                    <a:bodyPr/>
                    <a:lstStyle/>
                    <a:p>
                      <a:r>
                        <a:rPr sz="1050">
                          <a:solidFill>
                            <a:srgbClr val="1B2430"/>
                          </a:solidFill>
                          <a:latin typeface="Segoe UI"/>
                        </a:rPr>
                        <a:t>6</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Campaign → Polling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Ballot key in place; approval opens polling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Yes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6"/>
                  </a:ext>
                </a:extLst>
              </a:tr>
              <a:tr h="292608">
                <a:tc>
                  <a:txBody>
                    <a:bodyPr/>
                    <a:lstStyle/>
                    <a:p>
                      <a:r>
                        <a:rPr sz="1050">
                          <a:solidFill>
                            <a:srgbClr val="1B2430"/>
                          </a:solidFill>
                          <a:latin typeface="Segoe UI"/>
                        </a:rPr>
                        <a:t>7</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Polling → Counting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Approval closes polling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Yes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7"/>
                  </a:ext>
                </a:extLst>
              </a:tr>
              <a:tr h="292608">
                <a:tc>
                  <a:txBody>
                    <a:bodyPr/>
                    <a:lstStyle/>
                    <a:p>
                      <a:r>
                        <a:rPr sz="1050">
                          <a:solidFill>
                            <a:srgbClr val="1B2430"/>
                          </a:solidFill>
                          <a:latin typeface="Segoe UI"/>
                        </a:rPr>
                        <a:t>8</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Counting → Declared</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Ballots opened together in random order; approval declares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Yes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8"/>
                  </a:ext>
                </a:extLst>
              </a:tr>
              <a:tr h="292608">
                <a:tc>
                  <a:txBody>
                    <a:bodyPr/>
                    <a:lstStyle/>
                    <a:p>
                      <a:r>
                        <a:rPr sz="1050">
                          <a:solidFill>
                            <a:srgbClr val="1B2430"/>
                          </a:solidFill>
                          <a:latin typeface="Segoe UI"/>
                        </a:rPr>
                        <a:t>9</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Declared → Archived</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Appeal window closed; approval archives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050">
                          <a:solidFill>
                            <a:srgbClr val="1B2430"/>
                          </a:solidFill>
                          <a:latin typeface="Segoe UI"/>
                        </a:rPr>
                        <a:t>Yes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Who acts where: 14 posts, 3 portals, no single-person control</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6 / 12</a:t>
            </a:r>
          </a:p>
        </p:txBody>
      </p:sp>
      <p:sp>
        <p:nvSpPr>
          <p:cNvPr id="7" name="TextBox 6"/>
          <p:cNvSpPr txBox="1"/>
          <p:nvPr/>
        </p:nvSpPr>
        <p:spPr>
          <a:xfrm>
            <a:off x="548640" y="1280160"/>
            <a:ext cx="45720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PORTALS</a:t>
            </a:r>
          </a:p>
        </p:txBody>
      </p:sp>
      <p:sp>
        <p:nvSpPr>
          <p:cNvPr id="8" name="Rectangle 7"/>
          <p:cNvSpPr/>
          <p:nvPr/>
        </p:nvSpPr>
        <p:spPr>
          <a:xfrm>
            <a:off x="548640" y="1627632"/>
            <a:ext cx="5394960" cy="694944"/>
          </a:xfrm>
          <a:prstGeom prst="rect">
            <a:avLst/>
          </a:prstGeom>
          <a:solidFill>
            <a:srgbClr val="F3F4F6"/>
          </a:solidFill>
          <a:ln>
            <a:noFill/>
          </a:ln>
        </p:spPr>
        <p:txBody>
          <a:bodyPr wrap="square" lIns="109728" rIns="109728" rtlCol="0" anchor="ctr"/>
          <a:lstStyle/>
          <a:p>
            <a:pPr algn="l">
              <a:spcAft>
                <a:spcPts val="100"/>
              </a:spcAft>
            </a:pPr>
            <a:r>
              <a:rPr sz="1200">
                <a:solidFill>
                  <a:srgbClr val="1B2430"/>
                </a:solidFill>
                <a:latin typeface="Segoe UI Semibold"/>
              </a:rPr>
              <a:t>Admin web</a:t>
            </a:r>
          </a:p>
          <a:p>
            <a:pPr algn="l">
              <a:spcAft>
                <a:spcPts val="0"/>
              </a:spcAft>
            </a:pPr>
            <a:r>
              <a:rPr sz="1100">
                <a:solidFill>
                  <a:srgbClr val="5B6675"/>
                </a:solidFill>
                <a:latin typeface="Segoe UI"/>
              </a:rPr>
              <a:t>set up the election, appoint officials, generate the ballot key</a:t>
            </a:r>
          </a:p>
        </p:txBody>
      </p:sp>
      <p:sp>
        <p:nvSpPr>
          <p:cNvPr id="9" name="Rectangle 8"/>
          <p:cNvSpPr/>
          <p:nvPr/>
        </p:nvSpPr>
        <p:spPr>
          <a:xfrm>
            <a:off x="548640" y="2414016"/>
            <a:ext cx="5394960" cy="694944"/>
          </a:xfrm>
          <a:prstGeom prst="rect">
            <a:avLst/>
          </a:prstGeom>
          <a:solidFill>
            <a:srgbClr val="F3F4F6"/>
          </a:solidFill>
          <a:ln>
            <a:noFill/>
          </a:ln>
        </p:spPr>
        <p:txBody>
          <a:bodyPr wrap="square" lIns="109728" rIns="109728" rtlCol="0" anchor="ctr"/>
          <a:lstStyle/>
          <a:p>
            <a:pPr algn="l">
              <a:spcAft>
                <a:spcPts val="100"/>
              </a:spcAft>
            </a:pPr>
            <a:r>
              <a:rPr sz="1200">
                <a:solidFill>
                  <a:srgbClr val="1B2430"/>
                </a:solidFill>
                <a:latin typeface="Segoe UI Semibold"/>
              </a:rPr>
              <a:t>Officials area, web and mobile</a:t>
            </a:r>
          </a:p>
          <a:p>
            <a:pPr algn="l">
              <a:spcAft>
                <a:spcPts val="0"/>
              </a:spcAft>
            </a:pPr>
            <a:r>
              <a:rPr sz="1100">
                <a:solidFill>
                  <a:srgbClr val="5B6675"/>
                </a:solidFill>
                <a:latin typeface="Segoe UI"/>
              </a:rPr>
              <a:t>accept a post, sign the declaration, rule on nominations, approve as second signer, run the count</a:t>
            </a:r>
          </a:p>
        </p:txBody>
      </p:sp>
      <p:sp>
        <p:nvSpPr>
          <p:cNvPr id="10" name="Rectangle 9"/>
          <p:cNvSpPr/>
          <p:nvPr/>
        </p:nvSpPr>
        <p:spPr>
          <a:xfrm>
            <a:off x="548640" y="3200400"/>
            <a:ext cx="5394960" cy="694944"/>
          </a:xfrm>
          <a:prstGeom prst="rect">
            <a:avLst/>
          </a:prstGeom>
          <a:solidFill>
            <a:srgbClr val="F3F4F6"/>
          </a:solidFill>
          <a:ln>
            <a:noFill/>
          </a:ln>
        </p:spPr>
        <p:txBody>
          <a:bodyPr wrap="square" lIns="109728" rIns="109728" rtlCol="0" anchor="ctr"/>
          <a:lstStyle/>
          <a:p>
            <a:pPr algn="l">
              <a:spcAft>
                <a:spcPts val="100"/>
              </a:spcAft>
            </a:pPr>
            <a:r>
              <a:rPr sz="1200">
                <a:solidFill>
                  <a:srgbClr val="1B2430"/>
                </a:solidFill>
                <a:latin typeface="Segoe UI Semibold"/>
              </a:rPr>
              <a:t>Member web and mobile</a:t>
            </a:r>
          </a:p>
          <a:p>
            <a:pPr algn="l">
              <a:spcAft>
                <a:spcPts val="0"/>
              </a:spcAft>
            </a:pPr>
            <a:r>
              <a:rPr sz="1100">
                <a:solidFill>
                  <a:srgbClr val="5B6675"/>
                </a:solidFill>
                <a:latin typeface="Segoe UI"/>
              </a:rPr>
              <a:t>nominate, second, vote, keep the receipt, read the board and results</a:t>
            </a:r>
          </a:p>
        </p:txBody>
      </p:sp>
      <p:sp>
        <p:nvSpPr>
          <p:cNvPr id="11" name="TextBox 10"/>
          <p:cNvSpPr txBox="1"/>
          <p:nvPr/>
        </p:nvSpPr>
        <p:spPr>
          <a:xfrm>
            <a:off x="548640" y="4114800"/>
            <a:ext cx="45720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POSTS IN AN ELECTION</a:t>
            </a:r>
          </a:p>
        </p:txBody>
      </p:sp>
      <p:sp>
        <p:nvSpPr>
          <p:cNvPr id="12" name="TextBox 11"/>
          <p:cNvSpPr txBox="1"/>
          <p:nvPr/>
        </p:nvSpPr>
        <p:spPr>
          <a:xfrm>
            <a:off x="548640" y="4434840"/>
            <a:ext cx="2697480" cy="1828800"/>
          </a:xfrm>
          <a:prstGeom prst="rect">
            <a:avLst/>
          </a:prstGeom>
          <a:noFill/>
        </p:spPr>
        <p:txBody>
          <a:bodyPr wrap="square" lIns="0" tIns="0" rIns="0" bIns="0" anchor="t"/>
          <a:lstStyle/>
          <a:p>
            <a:pPr algn="l">
              <a:spcAft>
                <a:spcPts val="100"/>
              </a:spcAft>
            </a:pPr>
            <a:r>
              <a:rPr sz="1100">
                <a:solidFill>
                  <a:srgbClr val="1B2430"/>
                </a:solidFill>
                <a:latin typeface="Segoe UI"/>
              </a:rPr>
              <a:t>Chief Commissioner</a:t>
            </a:r>
          </a:p>
          <a:p>
            <a:pPr algn="l">
              <a:spcAft>
                <a:spcPts val="100"/>
              </a:spcAft>
            </a:pPr>
            <a:r>
              <a:rPr sz="1100">
                <a:solidFill>
                  <a:srgbClr val="1B2430"/>
                </a:solidFill>
                <a:latin typeface="Segoe UI"/>
              </a:rPr>
              <a:t>Commissioner</a:t>
            </a:r>
          </a:p>
          <a:p>
            <a:pPr algn="l">
              <a:spcAft>
                <a:spcPts val="100"/>
              </a:spcAft>
            </a:pPr>
            <a:r>
              <a:rPr sz="1100">
                <a:solidFill>
                  <a:srgbClr val="1B2430"/>
                </a:solidFill>
                <a:latin typeface="Segoe UI"/>
              </a:rPr>
              <a:t>Returning Officer</a:t>
            </a:r>
          </a:p>
          <a:p>
            <a:pPr algn="l">
              <a:spcAft>
                <a:spcPts val="100"/>
              </a:spcAft>
            </a:pPr>
            <a:r>
              <a:rPr sz="1100">
                <a:solidFill>
                  <a:srgbClr val="1B2430"/>
                </a:solidFill>
                <a:latin typeface="Segoe UI"/>
              </a:rPr>
              <a:t>Assistant Returning Officer</a:t>
            </a:r>
          </a:p>
          <a:p>
            <a:pPr algn="l">
              <a:spcAft>
                <a:spcPts val="100"/>
              </a:spcAft>
            </a:pPr>
            <a:r>
              <a:rPr sz="1100">
                <a:solidFill>
                  <a:srgbClr val="1B2430"/>
                </a:solidFill>
                <a:latin typeface="Segoe UI"/>
              </a:rPr>
              <a:t>Presiding Officer</a:t>
            </a:r>
          </a:p>
          <a:p>
            <a:pPr algn="l">
              <a:spcAft>
                <a:spcPts val="100"/>
              </a:spcAft>
            </a:pPr>
            <a:r>
              <a:rPr sz="1100">
                <a:solidFill>
                  <a:srgbClr val="1B2430"/>
                </a:solidFill>
                <a:latin typeface="Segoe UI"/>
              </a:rPr>
              <a:t>Polling Officer</a:t>
            </a:r>
          </a:p>
          <a:p>
            <a:pPr algn="l">
              <a:spcAft>
                <a:spcPts val="100"/>
              </a:spcAft>
            </a:pPr>
            <a:r>
              <a:rPr sz="1100">
                <a:solidFill>
                  <a:srgbClr val="1B2430"/>
                </a:solidFill>
                <a:latin typeface="Segoe UI"/>
              </a:rPr>
              <a:t>Scrutineer</a:t>
            </a:r>
          </a:p>
        </p:txBody>
      </p:sp>
      <p:sp>
        <p:nvSpPr>
          <p:cNvPr id="13" name="TextBox 12"/>
          <p:cNvSpPr txBox="1"/>
          <p:nvPr/>
        </p:nvSpPr>
        <p:spPr>
          <a:xfrm>
            <a:off x="3291840" y="4434840"/>
            <a:ext cx="2697480" cy="1828800"/>
          </a:xfrm>
          <a:prstGeom prst="rect">
            <a:avLst/>
          </a:prstGeom>
          <a:noFill/>
        </p:spPr>
        <p:txBody>
          <a:bodyPr wrap="square" lIns="0" tIns="0" rIns="0" bIns="0" anchor="t"/>
          <a:lstStyle/>
          <a:p>
            <a:pPr algn="l">
              <a:spcAft>
                <a:spcPts val="100"/>
              </a:spcAft>
            </a:pPr>
            <a:r>
              <a:rPr sz="1100">
                <a:solidFill>
                  <a:srgbClr val="1B2430"/>
                </a:solidFill>
                <a:latin typeface="Segoe UI"/>
              </a:rPr>
              <a:t>Counting Supervisor</a:t>
            </a:r>
          </a:p>
          <a:p>
            <a:pPr algn="l">
              <a:spcAft>
                <a:spcPts val="100"/>
              </a:spcAft>
            </a:pPr>
            <a:r>
              <a:rPr sz="1100">
                <a:solidFill>
                  <a:srgbClr val="1B2430"/>
                </a:solidFill>
                <a:latin typeface="Segoe UI"/>
              </a:rPr>
              <a:t>Technical Administrator</a:t>
            </a:r>
          </a:p>
          <a:p>
            <a:pPr algn="l">
              <a:spcAft>
                <a:spcPts val="100"/>
              </a:spcAft>
            </a:pPr>
            <a:r>
              <a:rPr sz="1100">
                <a:solidFill>
                  <a:srgbClr val="1B2430"/>
                </a:solidFill>
                <a:latin typeface="Segoe UI"/>
              </a:rPr>
              <a:t>Cybersecurity Auditor</a:t>
            </a:r>
          </a:p>
          <a:p>
            <a:pPr algn="l">
              <a:spcAft>
                <a:spcPts val="100"/>
              </a:spcAft>
            </a:pPr>
            <a:r>
              <a:rPr sz="1100">
                <a:solidFill>
                  <a:srgbClr val="1B2430"/>
                </a:solidFill>
                <a:latin typeface="Segoe UI"/>
              </a:rPr>
              <a:t>Security Officer</a:t>
            </a:r>
          </a:p>
          <a:p>
            <a:pPr algn="l">
              <a:spcAft>
                <a:spcPts val="100"/>
              </a:spcAft>
            </a:pPr>
            <a:r>
              <a:rPr sz="1100">
                <a:solidFill>
                  <a:srgbClr val="1B2430"/>
                </a:solidFill>
                <a:latin typeface="Segoe UI"/>
              </a:rPr>
              <a:t>Observer</a:t>
            </a:r>
          </a:p>
          <a:p>
            <a:pPr algn="l">
              <a:spcAft>
                <a:spcPts val="100"/>
              </a:spcAft>
            </a:pPr>
            <a:r>
              <a:rPr sz="1100">
                <a:solidFill>
                  <a:srgbClr val="1B2430"/>
                </a:solidFill>
                <a:latin typeface="Segoe UI"/>
              </a:rPr>
              <a:t>Appeal Tribunal Member</a:t>
            </a:r>
          </a:p>
          <a:p>
            <a:pPr algn="l">
              <a:spcAft>
                <a:spcPts val="100"/>
              </a:spcAft>
            </a:pPr>
            <a:r>
              <a:rPr sz="1100">
                <a:solidFill>
                  <a:srgbClr val="1B2430"/>
                </a:solidFill>
                <a:latin typeface="Segoe UI"/>
              </a:rPr>
              <a:t>Search Committee Member</a:t>
            </a:r>
          </a:p>
        </p:txBody>
      </p:sp>
      <p:sp>
        <p:nvSpPr>
          <p:cNvPr id="14" name="TextBox 13"/>
          <p:cNvSpPr txBox="1"/>
          <p:nvPr/>
        </p:nvSpPr>
        <p:spPr>
          <a:xfrm>
            <a:off x="6400800" y="1280160"/>
            <a:ext cx="521208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THE TWO-PERSON RULE</a:t>
            </a:r>
          </a:p>
        </p:txBody>
      </p:sp>
      <p:sp>
        <p:nvSpPr>
          <p:cNvPr id="15" name="Rectangle 14"/>
          <p:cNvSpPr/>
          <p:nvPr/>
        </p:nvSpPr>
        <p:spPr>
          <a:xfrm>
            <a:off x="6400800" y="1627632"/>
            <a:ext cx="1463040" cy="694944"/>
          </a:xfrm>
          <a:prstGeom prst="rect">
            <a:avLst/>
          </a:prstGeom>
          <a:solidFill>
            <a:srgbClr val="F3F4F6"/>
          </a:solidFill>
          <a:ln>
            <a:noFill/>
          </a:ln>
        </p:spPr>
        <p:txBody>
          <a:bodyPr wrap="square" lIns="73152" rIns="73152" rtlCol="0" anchor="ctr"/>
          <a:lstStyle/>
          <a:p>
            <a:pPr algn="ctr">
              <a:spcAft>
                <a:spcPts val="100"/>
              </a:spcAft>
            </a:pPr>
            <a:r>
              <a:rPr sz="1200">
                <a:solidFill>
                  <a:srgbClr val="1B2430"/>
                </a:solidFill>
                <a:latin typeface="Segoe UI Semibold"/>
              </a:rPr>
              <a:t>Request</a:t>
            </a:r>
          </a:p>
          <a:p>
            <a:pPr algn="ctr">
              <a:spcAft>
                <a:spcPts val="0"/>
              </a:spcAft>
            </a:pPr>
            <a:r>
              <a:rPr sz="1050">
                <a:solidFill>
                  <a:srgbClr val="5B6675"/>
                </a:solidFill>
                <a:latin typeface="Segoe UI"/>
              </a:rPr>
              <a:t>official A</a:t>
            </a:r>
          </a:p>
        </p:txBody>
      </p:sp>
      <p:sp>
        <p:nvSpPr>
          <p:cNvPr id="16" name="Rectangle 15"/>
          <p:cNvSpPr/>
          <p:nvPr/>
        </p:nvSpPr>
        <p:spPr>
          <a:xfrm>
            <a:off x="8290407" y="1627632"/>
            <a:ext cx="1463040" cy="694944"/>
          </a:xfrm>
          <a:prstGeom prst="rect">
            <a:avLst/>
          </a:prstGeom>
          <a:solidFill>
            <a:srgbClr val="E4EFF0"/>
          </a:solidFill>
          <a:ln w="9525">
            <a:solidFill>
              <a:srgbClr val="0F6C73"/>
            </a:solidFill>
          </a:ln>
        </p:spPr>
        <p:txBody>
          <a:bodyPr wrap="square" lIns="73152" rIns="73152" rtlCol="0" anchor="ctr"/>
          <a:lstStyle/>
          <a:p>
            <a:pPr algn="ctr">
              <a:spcAft>
                <a:spcPts val="100"/>
              </a:spcAft>
            </a:pPr>
            <a:r>
              <a:rPr sz="1200">
                <a:solidFill>
                  <a:srgbClr val="1B2430"/>
                </a:solidFill>
                <a:latin typeface="Segoe UI Semibold"/>
              </a:rPr>
              <a:t>Approve</a:t>
            </a:r>
          </a:p>
          <a:p>
            <a:pPr algn="ctr">
              <a:spcAft>
                <a:spcPts val="0"/>
              </a:spcAft>
            </a:pPr>
            <a:r>
              <a:rPr sz="1050">
                <a:solidFill>
                  <a:srgbClr val="5B6675"/>
                </a:solidFill>
                <a:latin typeface="Segoe UI"/>
              </a:rPr>
              <a:t>official B, never A</a:t>
            </a:r>
          </a:p>
        </p:txBody>
      </p:sp>
      <p:cxnSp>
        <p:nvCxnSpPr>
          <p:cNvPr id="17" name="Connector 16"/>
          <p:cNvCxnSpPr>
            <a:stCxn id="15" idx="3"/>
            <a:endCxn id="16" idx="1"/>
          </p:cNvCxnSpPr>
          <p:nvPr/>
        </p:nvCxnSpPr>
        <p:spPr>
          <a:xfrm flipV="1">
            <a:off x="7863840" y="1975104"/>
            <a:ext cx="426567" cy="0"/>
          </a:xfrm>
          <a:prstGeom prst="line">
            <a:avLst/>
          </a:prstGeom>
          <a:ln w="12700">
            <a:solidFill>
              <a:srgbClr val="1B2430"/>
            </a:solidFill>
            <a:tailEnd type="triangle" w="med" len="med"/>
          </a:ln>
        </p:spPr>
      </p:cxnSp>
      <p:sp>
        <p:nvSpPr>
          <p:cNvPr id="18" name="Rectangle 17"/>
          <p:cNvSpPr/>
          <p:nvPr/>
        </p:nvSpPr>
        <p:spPr>
          <a:xfrm>
            <a:off x="10180015" y="1627632"/>
            <a:ext cx="1463040" cy="694944"/>
          </a:xfrm>
          <a:prstGeom prst="rect">
            <a:avLst/>
          </a:prstGeom>
          <a:solidFill>
            <a:srgbClr val="F3F4F6"/>
          </a:solidFill>
          <a:ln>
            <a:noFill/>
          </a:ln>
        </p:spPr>
        <p:txBody>
          <a:bodyPr wrap="square" lIns="73152" rIns="73152" rtlCol="0" anchor="ctr"/>
          <a:lstStyle/>
          <a:p>
            <a:pPr algn="ctr">
              <a:spcAft>
                <a:spcPts val="100"/>
              </a:spcAft>
            </a:pPr>
            <a:r>
              <a:rPr sz="1200">
                <a:solidFill>
                  <a:srgbClr val="1B2430"/>
                </a:solidFill>
                <a:latin typeface="Segoe UI Semibold"/>
              </a:rPr>
              <a:t>Run</a:t>
            </a:r>
          </a:p>
          <a:p>
            <a:pPr algn="ctr">
              <a:spcAft>
                <a:spcPts val="0"/>
              </a:spcAft>
            </a:pPr>
            <a:r>
              <a:rPr sz="1050">
                <a:solidFill>
                  <a:srgbClr val="5B6675"/>
                </a:solidFill>
                <a:latin typeface="Segoe UI"/>
              </a:rPr>
              <a:t>a separate step</a:t>
            </a:r>
          </a:p>
        </p:txBody>
      </p:sp>
      <p:cxnSp>
        <p:nvCxnSpPr>
          <p:cNvPr id="19" name="Connector 18"/>
          <p:cNvCxnSpPr>
            <a:stCxn id="16" idx="3"/>
            <a:endCxn id="18" idx="1"/>
          </p:cNvCxnSpPr>
          <p:nvPr/>
        </p:nvCxnSpPr>
        <p:spPr>
          <a:xfrm flipV="1">
            <a:off x="9753447" y="1975104"/>
            <a:ext cx="426568" cy="0"/>
          </a:xfrm>
          <a:prstGeom prst="line">
            <a:avLst/>
          </a:prstGeom>
          <a:ln w="12700">
            <a:solidFill>
              <a:srgbClr val="1B2430"/>
            </a:solidFill>
            <a:tailEnd type="triangle" w="med" len="med"/>
          </a:ln>
        </p:spPr>
      </p:cxnSp>
      <p:sp>
        <p:nvSpPr>
          <p:cNvPr id="20" name="TextBox 19"/>
          <p:cNvSpPr txBox="1"/>
          <p:nvPr/>
        </p:nvSpPr>
        <p:spPr>
          <a:xfrm>
            <a:off x="6400800" y="2514600"/>
            <a:ext cx="5212080" cy="274320"/>
          </a:xfrm>
          <a:prstGeom prst="rect">
            <a:avLst/>
          </a:prstGeom>
          <a:noFill/>
        </p:spPr>
        <p:txBody>
          <a:bodyPr wrap="square" lIns="0" tIns="0" rIns="0" bIns="0" anchor="t"/>
          <a:lstStyle/>
          <a:p>
            <a:pPr algn="l">
              <a:spcAft>
                <a:spcPts val="0"/>
              </a:spcAft>
            </a:pPr>
            <a:r>
              <a:rPr sz="1100">
                <a:solidFill>
                  <a:srgbClr val="1B2430"/>
                </a:solidFill>
                <a:latin typeface="Segoe UI Semibold"/>
              </a:rPr>
              <a:t>Gated actions, configurable per organisation</a:t>
            </a:r>
          </a:p>
        </p:txBody>
      </p:sp>
      <p:sp>
        <p:nvSpPr>
          <p:cNvPr id="21" name="Rectangle 20"/>
          <p:cNvSpPr/>
          <p:nvPr/>
        </p:nvSpPr>
        <p:spPr>
          <a:xfrm>
            <a:off x="6400800" y="2834640"/>
            <a:ext cx="1188720" cy="347472"/>
          </a:xfrm>
          <a:prstGeom prst="rect">
            <a:avLst/>
          </a:prstGeom>
          <a:noFill/>
          <a:ln w="9525">
            <a:solidFill>
              <a:srgbClr val="0F6C73"/>
            </a:solidFill>
          </a:ln>
        </p:spPr>
        <p:txBody>
          <a:bodyPr wrap="square" lIns="27432" tIns="27432" rIns="27432" bIns="27432" rtlCol="0" anchor="ctr"/>
          <a:lstStyle/>
          <a:p>
            <a:pPr algn="ctr">
              <a:spcAft>
                <a:spcPts val="0"/>
              </a:spcAft>
            </a:pPr>
            <a:r>
              <a:rPr sz="1100">
                <a:solidFill>
                  <a:srgbClr val="0F6C73"/>
                </a:solidFill>
                <a:latin typeface="Segoe UI"/>
              </a:rPr>
              <a:t>Publish</a:t>
            </a:r>
          </a:p>
        </p:txBody>
      </p:sp>
      <p:sp>
        <p:nvSpPr>
          <p:cNvPr id="22" name="Rectangle 21"/>
          <p:cNvSpPr/>
          <p:nvPr/>
        </p:nvSpPr>
        <p:spPr>
          <a:xfrm>
            <a:off x="7751978" y="2834640"/>
            <a:ext cx="1188720" cy="347472"/>
          </a:xfrm>
          <a:prstGeom prst="rect">
            <a:avLst/>
          </a:prstGeom>
          <a:noFill/>
          <a:ln w="9525">
            <a:solidFill>
              <a:srgbClr val="0F6C73"/>
            </a:solidFill>
          </a:ln>
        </p:spPr>
        <p:txBody>
          <a:bodyPr wrap="square" lIns="27432" tIns="27432" rIns="27432" bIns="27432" rtlCol="0" anchor="ctr"/>
          <a:lstStyle/>
          <a:p>
            <a:pPr algn="ctr">
              <a:spcAft>
                <a:spcPts val="0"/>
              </a:spcAft>
            </a:pPr>
            <a:r>
              <a:rPr sz="1100">
                <a:solidFill>
                  <a:srgbClr val="0F6C73"/>
                </a:solidFill>
                <a:latin typeface="Segoe UI"/>
              </a:rPr>
              <a:t>Open polling</a:t>
            </a:r>
          </a:p>
        </p:txBody>
      </p:sp>
      <p:sp>
        <p:nvSpPr>
          <p:cNvPr id="23" name="Rectangle 22"/>
          <p:cNvSpPr/>
          <p:nvPr/>
        </p:nvSpPr>
        <p:spPr>
          <a:xfrm>
            <a:off x="9103156" y="2834640"/>
            <a:ext cx="1188720" cy="347472"/>
          </a:xfrm>
          <a:prstGeom prst="rect">
            <a:avLst/>
          </a:prstGeom>
          <a:noFill/>
          <a:ln w="9525">
            <a:solidFill>
              <a:srgbClr val="0F6C73"/>
            </a:solidFill>
          </a:ln>
        </p:spPr>
        <p:txBody>
          <a:bodyPr wrap="square" lIns="27432" tIns="27432" rIns="27432" bIns="27432" rtlCol="0" anchor="ctr"/>
          <a:lstStyle/>
          <a:p>
            <a:pPr algn="ctr">
              <a:spcAft>
                <a:spcPts val="0"/>
              </a:spcAft>
            </a:pPr>
            <a:r>
              <a:rPr sz="1100">
                <a:solidFill>
                  <a:srgbClr val="0F6C73"/>
                </a:solidFill>
                <a:latin typeface="Segoe UI"/>
              </a:rPr>
              <a:t>Replace key</a:t>
            </a:r>
          </a:p>
        </p:txBody>
      </p:sp>
      <p:sp>
        <p:nvSpPr>
          <p:cNvPr id="24" name="Rectangle 23"/>
          <p:cNvSpPr/>
          <p:nvPr/>
        </p:nvSpPr>
        <p:spPr>
          <a:xfrm>
            <a:off x="10454335" y="2834640"/>
            <a:ext cx="1188720" cy="347472"/>
          </a:xfrm>
          <a:prstGeom prst="rect">
            <a:avLst/>
          </a:prstGeom>
          <a:noFill/>
          <a:ln w="9525">
            <a:solidFill>
              <a:srgbClr val="0F6C73"/>
            </a:solidFill>
          </a:ln>
        </p:spPr>
        <p:txBody>
          <a:bodyPr wrap="square" lIns="27432" tIns="27432" rIns="27432" bIns="27432" rtlCol="0" anchor="ctr"/>
          <a:lstStyle/>
          <a:p>
            <a:pPr algn="ctr">
              <a:spcAft>
                <a:spcPts val="0"/>
              </a:spcAft>
            </a:pPr>
            <a:r>
              <a:rPr sz="1100">
                <a:solidFill>
                  <a:srgbClr val="0F6C73"/>
                </a:solidFill>
                <a:latin typeface="Segoe UI"/>
              </a:rPr>
              <a:t>Close polling</a:t>
            </a:r>
          </a:p>
        </p:txBody>
      </p:sp>
      <p:sp>
        <p:nvSpPr>
          <p:cNvPr id="25" name="Rectangle 24"/>
          <p:cNvSpPr/>
          <p:nvPr/>
        </p:nvSpPr>
        <p:spPr>
          <a:xfrm>
            <a:off x="6400800" y="3291840"/>
            <a:ext cx="1188720" cy="347472"/>
          </a:xfrm>
          <a:prstGeom prst="rect">
            <a:avLst/>
          </a:prstGeom>
          <a:noFill/>
          <a:ln w="9525">
            <a:solidFill>
              <a:srgbClr val="0F6C73"/>
            </a:solidFill>
          </a:ln>
        </p:spPr>
        <p:txBody>
          <a:bodyPr wrap="square" lIns="27432" tIns="27432" rIns="27432" bIns="27432" rtlCol="0" anchor="ctr"/>
          <a:lstStyle/>
          <a:p>
            <a:pPr algn="ctr">
              <a:spcAft>
                <a:spcPts val="0"/>
              </a:spcAft>
            </a:pPr>
            <a:r>
              <a:rPr sz="1100">
                <a:solidFill>
                  <a:srgbClr val="0F6C73"/>
                </a:solidFill>
                <a:latin typeface="Segoe UI"/>
              </a:rPr>
              <a:t>Count</a:t>
            </a:r>
          </a:p>
        </p:txBody>
      </p:sp>
      <p:sp>
        <p:nvSpPr>
          <p:cNvPr id="26" name="Rectangle 25"/>
          <p:cNvSpPr/>
          <p:nvPr/>
        </p:nvSpPr>
        <p:spPr>
          <a:xfrm>
            <a:off x="7751978" y="3291840"/>
            <a:ext cx="1188720" cy="347472"/>
          </a:xfrm>
          <a:prstGeom prst="rect">
            <a:avLst/>
          </a:prstGeom>
          <a:noFill/>
          <a:ln w="9525">
            <a:solidFill>
              <a:srgbClr val="0F6C73"/>
            </a:solidFill>
          </a:ln>
        </p:spPr>
        <p:txBody>
          <a:bodyPr wrap="square" lIns="27432" tIns="27432" rIns="27432" bIns="27432" rtlCol="0" anchor="ctr"/>
          <a:lstStyle/>
          <a:p>
            <a:pPr algn="ctr">
              <a:spcAft>
                <a:spcPts val="0"/>
              </a:spcAft>
            </a:pPr>
            <a:r>
              <a:rPr sz="1100">
                <a:solidFill>
                  <a:srgbClr val="0F6C73"/>
                </a:solidFill>
                <a:latin typeface="Segoe UI"/>
              </a:rPr>
              <a:t>Declare</a:t>
            </a:r>
          </a:p>
        </p:txBody>
      </p:sp>
      <p:sp>
        <p:nvSpPr>
          <p:cNvPr id="27" name="Rectangle 26"/>
          <p:cNvSpPr/>
          <p:nvPr/>
        </p:nvSpPr>
        <p:spPr>
          <a:xfrm>
            <a:off x="9103156" y="3291840"/>
            <a:ext cx="1188720" cy="347472"/>
          </a:xfrm>
          <a:prstGeom prst="rect">
            <a:avLst/>
          </a:prstGeom>
          <a:noFill/>
          <a:ln w="9525">
            <a:solidFill>
              <a:srgbClr val="0F6C73"/>
            </a:solidFill>
          </a:ln>
        </p:spPr>
        <p:txBody>
          <a:bodyPr wrap="square" lIns="27432" tIns="27432" rIns="27432" bIns="27432" rtlCol="0" anchor="ctr"/>
          <a:lstStyle/>
          <a:p>
            <a:pPr algn="ctr">
              <a:spcAft>
                <a:spcPts val="0"/>
              </a:spcAft>
            </a:pPr>
            <a:r>
              <a:rPr sz="1100">
                <a:solidFill>
                  <a:srgbClr val="0F6C73"/>
                </a:solidFill>
                <a:latin typeface="Segoe UI"/>
              </a:rPr>
              <a:t>Archive</a:t>
            </a:r>
          </a:p>
        </p:txBody>
      </p:sp>
      <p:sp>
        <p:nvSpPr>
          <p:cNvPr id="28" name="Rectangle 27"/>
          <p:cNvSpPr/>
          <p:nvPr/>
        </p:nvSpPr>
        <p:spPr>
          <a:xfrm>
            <a:off x="10454335" y="3291840"/>
            <a:ext cx="1188720" cy="347472"/>
          </a:xfrm>
          <a:prstGeom prst="rect">
            <a:avLst/>
          </a:prstGeom>
          <a:solidFill>
            <a:srgbClr val="0F6C73"/>
          </a:solidFill>
          <a:ln>
            <a:noFill/>
          </a:ln>
        </p:spPr>
        <p:txBody>
          <a:bodyPr wrap="square" lIns="27432" tIns="27432" rIns="27432" bIns="27432" rtlCol="0" anchor="ctr"/>
          <a:lstStyle/>
          <a:p>
            <a:pPr algn="ctr">
              <a:spcAft>
                <a:spcPts val="0"/>
              </a:spcAft>
            </a:pPr>
            <a:r>
              <a:rPr sz="1050">
                <a:solidFill>
                  <a:srgbClr val="FFFFFF"/>
                </a:solidFill>
                <a:latin typeface="Segoe UI Semibold"/>
              </a:rPr>
              <a:t>Emergency revoke</a:t>
            </a:r>
          </a:p>
        </p:txBody>
      </p:sp>
      <p:sp>
        <p:nvSpPr>
          <p:cNvPr id="29" name="TextBox 28"/>
          <p:cNvSpPr txBox="1"/>
          <p:nvPr/>
        </p:nvSpPr>
        <p:spPr>
          <a:xfrm>
            <a:off x="6400800" y="3840480"/>
            <a:ext cx="5242255" cy="2377440"/>
          </a:xfrm>
          <a:prstGeom prst="rect">
            <a:avLst/>
          </a:prstGeom>
          <a:noFill/>
        </p:spPr>
        <p:txBody>
          <a:bodyPr wrap="square" lIns="0" tIns="0" rIns="0" bIns="0" anchor="t"/>
          <a:lstStyle/>
          <a:p>
            <a:pPr algn="l">
              <a:spcAft>
                <a:spcPts val="500"/>
              </a:spcAft>
            </a:pPr>
            <a:r>
              <a:rPr sz="1100">
                <a:solidFill>
                  <a:srgbClr val="1B2430"/>
                </a:solidFill>
                <a:latin typeface="Segoe UI Semibold"/>
              </a:rPr>
              <a:t>Emergency revoke </a:t>
            </a:r>
            <a:r>
              <a:rPr sz="1100">
                <a:solidFill>
                  <a:srgbClr val="1B2430"/>
                </a:solidFill>
                <a:latin typeface="Segoe UI"/>
              </a:rPr>
              <a:t>always needs a second person; there is no bypass.</a:t>
            </a:r>
          </a:p>
          <a:p>
            <a:pPr algn="l">
              <a:spcAft>
                <a:spcPts val="500"/>
              </a:spcAft>
            </a:pPr>
            <a:r>
              <a:rPr sz="1100">
                <a:solidFill>
                  <a:srgbClr val="1B2430"/>
                </a:solidFill>
                <a:latin typeface="Segoe UI Semibold"/>
              </a:rPr>
              <a:t>Bypass for the other seven </a:t>
            </a:r>
            <a:r>
              <a:rPr sz="1100">
                <a:solidFill>
                  <a:srgbClr val="1B2430"/>
                </a:solidFill>
                <a:latin typeface="Segoe UI"/>
              </a:rPr>
              <a:t>is a SuperAdmin emergency setting, off by default.</a:t>
            </a:r>
          </a:p>
          <a:p>
            <a:pPr algn="l">
              <a:spcAft>
                <a:spcPts val="500"/>
              </a:spcAft>
            </a:pPr>
            <a:r>
              <a:rPr sz="1100">
                <a:solidFill>
                  <a:srgbClr val="1B2430"/>
                </a:solidFill>
                <a:latin typeface="Segoe UI Semibold"/>
              </a:rPr>
              <a:t>Duplicates refused: </a:t>
            </a:r>
            <a:r>
              <a:rPr sz="1100">
                <a:solidFill>
                  <a:srgbClr val="1B2430"/>
                </a:solidFill>
                <a:latin typeface="Segoe UI"/>
              </a:rPr>
              <a:t>a second open request for the same step is rejected; an approved, unrun count still counts as open.</a:t>
            </a:r>
          </a:p>
          <a:p>
            <a:pPr algn="l">
              <a:spcAft>
                <a:spcPts val="0"/>
              </a:spcAft>
            </a:pPr>
            <a:r>
              <a:rPr sz="1100">
                <a:solidFill>
                  <a:srgbClr val="1B2430"/>
                </a:solidFill>
                <a:latin typeface="Segoe UI Semibold"/>
              </a:rPr>
              <a:t>Access ends </a:t>
            </a:r>
            <a:r>
              <a:rPr sz="1100">
                <a:solidFill>
                  <a:srgbClr val="1B2430"/>
                </a:solidFill>
                <a:latin typeface="Segoe UI"/>
              </a:rPr>
              <a:t>21 days after declaration by default, without anyone acting.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Election records: the missing link is the secrecy</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7 / 12</a:t>
            </a:r>
          </a:p>
        </p:txBody>
      </p:sp>
      <p:sp>
        <p:nvSpPr>
          <p:cNvPr id="7" name="Rectangle 6"/>
          <p:cNvSpPr/>
          <p:nvPr/>
        </p:nvSpPr>
        <p:spPr>
          <a:xfrm>
            <a:off x="548640" y="3246120"/>
            <a:ext cx="1325880" cy="822960"/>
          </a:xfrm>
          <a:prstGeom prst="rect">
            <a:avLst/>
          </a:prstGeom>
          <a:solidFill>
            <a:srgbClr val="1B2430"/>
          </a:solidFill>
          <a:ln>
            <a:noFill/>
          </a:ln>
        </p:spPr>
        <p:txBody>
          <a:bodyPr wrap="square" lIns="73152" rIns="73152" rtlCol="0" anchor="ctr"/>
          <a:lstStyle/>
          <a:p>
            <a:pPr algn="ctr">
              <a:spcAft>
                <a:spcPts val="0"/>
              </a:spcAft>
            </a:pPr>
            <a:r>
              <a:rPr sz="1300">
                <a:solidFill>
                  <a:srgbClr val="FFFFFF"/>
                </a:solidFill>
                <a:latin typeface="Segoe UI Semibold"/>
              </a:rPr>
              <a:t>Member</a:t>
            </a:r>
          </a:p>
        </p:txBody>
      </p:sp>
      <p:sp>
        <p:nvSpPr>
          <p:cNvPr id="8" name="TextBox 7"/>
          <p:cNvSpPr txBox="1"/>
          <p:nvPr/>
        </p:nvSpPr>
        <p:spPr>
          <a:xfrm>
            <a:off x="2514600" y="1280160"/>
            <a:ext cx="292608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LINKED TO A MEMBER</a:t>
            </a:r>
          </a:p>
        </p:txBody>
      </p:sp>
      <p:sp>
        <p:nvSpPr>
          <p:cNvPr id="9" name="TextBox 8"/>
          <p:cNvSpPr txBox="1"/>
          <p:nvPr/>
        </p:nvSpPr>
        <p:spPr>
          <a:xfrm>
            <a:off x="5760720" y="1280160"/>
            <a:ext cx="2926080" cy="274320"/>
          </a:xfrm>
          <a:prstGeom prst="rect">
            <a:avLst/>
          </a:prstGeom>
          <a:noFill/>
        </p:spPr>
        <p:txBody>
          <a:bodyPr wrap="square" lIns="0" tIns="0" rIns="0" bIns="0" anchor="t"/>
          <a:lstStyle/>
          <a:p>
            <a:pPr algn="l">
              <a:spcAft>
                <a:spcPts val="0"/>
              </a:spcAft>
            </a:pPr>
            <a:r>
              <a:rPr sz="1050">
                <a:solidFill>
                  <a:srgbClr val="0F6C73"/>
                </a:solidFill>
                <a:latin typeface="Segoe UI Semibold"/>
              </a:rPr>
              <a:t>NEVER LINKED TO A MEMBER</a:t>
            </a:r>
          </a:p>
        </p:txBody>
      </p:sp>
      <p:sp>
        <p:nvSpPr>
          <p:cNvPr id="10" name="TextBox 9"/>
          <p:cNvSpPr txBox="1"/>
          <p:nvPr/>
        </p:nvSpPr>
        <p:spPr>
          <a:xfrm>
            <a:off x="8915400" y="1280160"/>
            <a:ext cx="27432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OWNED BY THE ELECTION</a:t>
            </a:r>
          </a:p>
        </p:txBody>
      </p:sp>
      <p:sp>
        <p:nvSpPr>
          <p:cNvPr id="11" name="Rectangle 10"/>
          <p:cNvSpPr/>
          <p:nvPr/>
        </p:nvSpPr>
        <p:spPr>
          <a:xfrm>
            <a:off x="2514600" y="1645920"/>
            <a:ext cx="2834640" cy="713232"/>
          </a:xfrm>
          <a:prstGeom prst="rect">
            <a:avLst/>
          </a:prstGeom>
          <a:solidFill>
            <a:srgbClr val="F3F4F6"/>
          </a:solidFill>
          <a:ln>
            <a:noFill/>
          </a:ln>
        </p:spPr>
        <p:txBody>
          <a:bodyPr wrap="square" lIns="109728" rIns="109728" rtlCol="0" anchor="ctr"/>
          <a:lstStyle/>
          <a:p>
            <a:pPr algn="l">
              <a:spcAft>
                <a:spcPts val="100"/>
              </a:spcAft>
            </a:pPr>
            <a:r>
              <a:rPr sz="1150">
                <a:solidFill>
                  <a:srgbClr val="1B2430"/>
                </a:solidFill>
                <a:latin typeface="Segoe UI Semibold"/>
              </a:rPr>
              <a:t>ElectionAppointment</a:t>
            </a:r>
          </a:p>
          <a:p>
            <a:pPr algn="l">
              <a:spcAft>
                <a:spcPts val="0"/>
              </a:spcAft>
            </a:pPr>
            <a:r>
              <a:rPr sz="1050">
                <a:solidFill>
                  <a:srgbClr val="5B6675"/>
                </a:solidFill>
                <a:latin typeface="Segoe UI"/>
              </a:rPr>
              <a:t>post, acceptance, declaration</a:t>
            </a:r>
          </a:p>
        </p:txBody>
      </p:sp>
      <p:cxnSp>
        <p:nvCxnSpPr>
          <p:cNvPr id="12" name="Connector 11"/>
          <p:cNvCxnSpPr>
            <a:stCxn id="7" idx="3"/>
            <a:endCxn id="11" idx="1"/>
          </p:cNvCxnSpPr>
          <p:nvPr/>
        </p:nvCxnSpPr>
        <p:spPr>
          <a:xfrm flipV="1">
            <a:off x="1874520" y="2002536"/>
            <a:ext cx="640080" cy="1655064"/>
          </a:xfrm>
          <a:prstGeom prst="line">
            <a:avLst/>
          </a:prstGeom>
          <a:ln w="12700">
            <a:solidFill>
              <a:srgbClr val="1B2430"/>
            </a:solidFill>
          </a:ln>
        </p:spPr>
      </p:cxnSp>
      <p:sp>
        <p:nvSpPr>
          <p:cNvPr id="13" name="Rectangle 12"/>
          <p:cNvSpPr/>
          <p:nvPr/>
        </p:nvSpPr>
        <p:spPr>
          <a:xfrm>
            <a:off x="2514600" y="2496312"/>
            <a:ext cx="2834640" cy="713232"/>
          </a:xfrm>
          <a:prstGeom prst="rect">
            <a:avLst/>
          </a:prstGeom>
          <a:solidFill>
            <a:srgbClr val="F3F4F6"/>
          </a:solidFill>
          <a:ln>
            <a:noFill/>
          </a:ln>
        </p:spPr>
        <p:txBody>
          <a:bodyPr wrap="square" lIns="109728" rIns="109728" rtlCol="0" anchor="ctr"/>
          <a:lstStyle/>
          <a:p>
            <a:pPr algn="l">
              <a:spcAft>
                <a:spcPts val="100"/>
              </a:spcAft>
            </a:pPr>
            <a:r>
              <a:rPr sz="1150">
                <a:solidFill>
                  <a:srgbClr val="1B2430"/>
                </a:solidFill>
                <a:latin typeface="Segoe UI Semibold"/>
              </a:rPr>
              <a:t>VoterRoll</a:t>
            </a:r>
          </a:p>
          <a:p>
            <a:pPr algn="l">
              <a:spcAft>
                <a:spcPts val="0"/>
              </a:spcAft>
            </a:pPr>
            <a:r>
              <a:rPr sz="1050">
                <a:solidFill>
                  <a:srgbClr val="5B6675"/>
                </a:solidFill>
                <a:latin typeface="Segoe UI"/>
              </a:rPr>
              <a:t>eligibility frozen, voted at</a:t>
            </a:r>
          </a:p>
        </p:txBody>
      </p:sp>
      <p:cxnSp>
        <p:nvCxnSpPr>
          <p:cNvPr id="14" name="Connector 13"/>
          <p:cNvCxnSpPr>
            <a:stCxn id="7" idx="3"/>
            <a:endCxn id="13" idx="1"/>
          </p:cNvCxnSpPr>
          <p:nvPr/>
        </p:nvCxnSpPr>
        <p:spPr>
          <a:xfrm flipV="1">
            <a:off x="1874520" y="2852928"/>
            <a:ext cx="640080" cy="804672"/>
          </a:xfrm>
          <a:prstGeom prst="line">
            <a:avLst/>
          </a:prstGeom>
          <a:ln w="12700">
            <a:solidFill>
              <a:srgbClr val="1B2430"/>
            </a:solidFill>
          </a:ln>
        </p:spPr>
      </p:cxnSp>
      <p:sp>
        <p:nvSpPr>
          <p:cNvPr id="15" name="Rectangle 14"/>
          <p:cNvSpPr/>
          <p:nvPr/>
        </p:nvSpPr>
        <p:spPr>
          <a:xfrm>
            <a:off x="2514600" y="3346704"/>
            <a:ext cx="2834640" cy="713232"/>
          </a:xfrm>
          <a:prstGeom prst="rect">
            <a:avLst/>
          </a:prstGeom>
          <a:solidFill>
            <a:srgbClr val="F3F4F6"/>
          </a:solidFill>
          <a:ln>
            <a:noFill/>
          </a:ln>
        </p:spPr>
        <p:txBody>
          <a:bodyPr wrap="square" lIns="109728" rIns="109728" rtlCol="0" anchor="ctr"/>
          <a:lstStyle/>
          <a:p>
            <a:pPr algn="l">
              <a:spcAft>
                <a:spcPts val="100"/>
              </a:spcAft>
            </a:pPr>
            <a:r>
              <a:rPr sz="1150">
                <a:solidFill>
                  <a:srgbClr val="1B2430"/>
                </a:solidFill>
                <a:latin typeface="Segoe UI Semibold"/>
              </a:rPr>
              <a:t>Nomination</a:t>
            </a:r>
          </a:p>
          <a:p>
            <a:pPr algn="l">
              <a:spcAft>
                <a:spcPts val="0"/>
              </a:spcAft>
            </a:pPr>
            <a:r>
              <a:rPr sz="1050">
                <a:solidFill>
                  <a:srgbClr val="5B6675"/>
                </a:solidFill>
                <a:latin typeface="Segoe UI"/>
              </a:rPr>
              <a:t>candidate, proposer, seconder, ballot order</a:t>
            </a:r>
          </a:p>
        </p:txBody>
      </p:sp>
      <p:cxnSp>
        <p:nvCxnSpPr>
          <p:cNvPr id="16" name="Connector 15"/>
          <p:cNvCxnSpPr>
            <a:stCxn id="7" idx="3"/>
            <a:endCxn id="15" idx="1"/>
          </p:cNvCxnSpPr>
          <p:nvPr/>
        </p:nvCxnSpPr>
        <p:spPr>
          <a:xfrm>
            <a:off x="1874520" y="3657600"/>
            <a:ext cx="640080" cy="45720"/>
          </a:xfrm>
          <a:prstGeom prst="line">
            <a:avLst/>
          </a:prstGeom>
          <a:ln w="12700">
            <a:solidFill>
              <a:srgbClr val="1B2430"/>
            </a:solidFill>
          </a:ln>
        </p:spPr>
      </p:cxnSp>
      <p:sp>
        <p:nvSpPr>
          <p:cNvPr id="17" name="Rectangle 16"/>
          <p:cNvSpPr/>
          <p:nvPr/>
        </p:nvSpPr>
        <p:spPr>
          <a:xfrm>
            <a:off x="2514600" y="4197096"/>
            <a:ext cx="2834640" cy="713232"/>
          </a:xfrm>
          <a:prstGeom prst="rect">
            <a:avLst/>
          </a:prstGeom>
          <a:solidFill>
            <a:srgbClr val="F3F4F6"/>
          </a:solidFill>
          <a:ln>
            <a:noFill/>
          </a:ln>
        </p:spPr>
        <p:txBody>
          <a:bodyPr wrap="square" lIns="109728" rIns="109728" rtlCol="0" anchor="ctr"/>
          <a:lstStyle/>
          <a:p>
            <a:pPr algn="l">
              <a:spcAft>
                <a:spcPts val="100"/>
              </a:spcAft>
            </a:pPr>
            <a:r>
              <a:rPr sz="1150">
                <a:solidFill>
                  <a:srgbClr val="1B2430"/>
                </a:solidFill>
                <a:latin typeface="Segoe UI Semibold"/>
              </a:rPr>
              <a:t>SeatVote</a:t>
            </a:r>
          </a:p>
          <a:p>
            <a:pPr algn="l">
              <a:spcAft>
                <a:spcPts val="0"/>
              </a:spcAft>
            </a:pPr>
            <a:r>
              <a:rPr sz="1050">
                <a:solidFill>
                  <a:srgbClr val="5B6675"/>
                </a:solidFill>
                <a:latin typeface="Segoe UI"/>
              </a:rPr>
              <a:t>member, seat, time; nothing about choices</a:t>
            </a:r>
          </a:p>
        </p:txBody>
      </p:sp>
      <p:cxnSp>
        <p:nvCxnSpPr>
          <p:cNvPr id="18" name="Connector 17"/>
          <p:cNvCxnSpPr>
            <a:stCxn id="7" idx="3"/>
            <a:endCxn id="17" idx="1"/>
          </p:cNvCxnSpPr>
          <p:nvPr/>
        </p:nvCxnSpPr>
        <p:spPr>
          <a:xfrm>
            <a:off x="1874520" y="3657600"/>
            <a:ext cx="640080" cy="896112"/>
          </a:xfrm>
          <a:prstGeom prst="line">
            <a:avLst/>
          </a:prstGeom>
          <a:ln w="12700">
            <a:solidFill>
              <a:srgbClr val="1B2430"/>
            </a:solidFill>
          </a:ln>
        </p:spPr>
      </p:cxnSp>
      <p:sp>
        <p:nvSpPr>
          <p:cNvPr id="19" name="Rectangle 18"/>
          <p:cNvSpPr/>
          <p:nvPr/>
        </p:nvSpPr>
        <p:spPr>
          <a:xfrm>
            <a:off x="2514600" y="5047488"/>
            <a:ext cx="2834640" cy="713232"/>
          </a:xfrm>
          <a:prstGeom prst="rect">
            <a:avLst/>
          </a:prstGeom>
          <a:solidFill>
            <a:srgbClr val="F3F4F6"/>
          </a:solidFill>
          <a:ln>
            <a:noFill/>
          </a:ln>
        </p:spPr>
        <p:txBody>
          <a:bodyPr wrap="square" lIns="109728" rIns="109728" rtlCol="0" anchor="ctr"/>
          <a:lstStyle/>
          <a:p>
            <a:pPr algn="l">
              <a:spcAft>
                <a:spcPts val="100"/>
              </a:spcAft>
            </a:pPr>
            <a:r>
              <a:rPr sz="1150">
                <a:solidFill>
                  <a:srgbClr val="1B2430"/>
                </a:solidFill>
                <a:latin typeface="Segoe UI Semibold"/>
              </a:rPr>
              <a:t>ECMember</a:t>
            </a:r>
          </a:p>
          <a:p>
            <a:pPr algn="l">
              <a:spcAft>
                <a:spcPts val="0"/>
              </a:spcAft>
            </a:pPr>
            <a:r>
              <a:rPr sz="1050">
                <a:solidFill>
                  <a:srgbClr val="5B6675"/>
                </a:solidFill>
                <a:latin typeface="Segoe UI"/>
              </a:rPr>
              <a:t>winners in post</a:t>
            </a:r>
          </a:p>
        </p:txBody>
      </p:sp>
      <p:cxnSp>
        <p:nvCxnSpPr>
          <p:cNvPr id="20" name="Connector 19"/>
          <p:cNvCxnSpPr>
            <a:stCxn id="7" idx="3"/>
            <a:endCxn id="19" idx="1"/>
          </p:cNvCxnSpPr>
          <p:nvPr/>
        </p:nvCxnSpPr>
        <p:spPr>
          <a:xfrm>
            <a:off x="1874520" y="3657600"/>
            <a:ext cx="640080" cy="1746504"/>
          </a:xfrm>
          <a:prstGeom prst="line">
            <a:avLst/>
          </a:prstGeom>
          <a:ln w="12700">
            <a:solidFill>
              <a:srgbClr val="1B2430"/>
            </a:solidFill>
          </a:ln>
        </p:spPr>
      </p:cxnSp>
      <p:sp>
        <p:nvSpPr>
          <p:cNvPr id="21" name="Rectangle 20"/>
          <p:cNvSpPr/>
          <p:nvPr/>
        </p:nvSpPr>
        <p:spPr>
          <a:xfrm>
            <a:off x="5623559" y="1572768"/>
            <a:ext cx="3108960" cy="3657600"/>
          </a:xfrm>
          <a:prstGeom prst="rect">
            <a:avLst/>
          </a:prstGeom>
          <a:noFill/>
          <a:ln w="15875">
            <a:solidFill>
              <a:srgbClr val="0F6C73"/>
            </a:solidFill>
            <a:prstDash val="dash"/>
          </a:ln>
        </p:spPr>
        <p:txBody>
          <a:bodyPr wrap="square" lIns="73152" rIns="73152" rtlCol="0" anchor="ctr"/>
          <a:lstStyle/>
          <a:p>
            <a:pPr algn="ctr"/>
            <a:endParaRPr/>
          </a:p>
        </p:txBody>
      </p:sp>
      <p:sp>
        <p:nvSpPr>
          <p:cNvPr id="22" name="Rectangle 21"/>
          <p:cNvSpPr/>
          <p:nvPr/>
        </p:nvSpPr>
        <p:spPr>
          <a:xfrm>
            <a:off x="5760720" y="1691640"/>
            <a:ext cx="2834640" cy="713232"/>
          </a:xfrm>
          <a:prstGeom prst="rect">
            <a:avLst/>
          </a:prstGeom>
          <a:solidFill>
            <a:srgbClr val="E4EFF0"/>
          </a:solidFill>
          <a:ln>
            <a:noFill/>
          </a:ln>
        </p:spPr>
        <p:txBody>
          <a:bodyPr wrap="square" lIns="109728" rIns="109728" rtlCol="0" anchor="ctr"/>
          <a:lstStyle/>
          <a:p>
            <a:pPr algn="l">
              <a:spcAft>
                <a:spcPts val="100"/>
              </a:spcAft>
            </a:pPr>
            <a:r>
              <a:rPr sz="1150">
                <a:solidFill>
                  <a:srgbClr val="1B2430"/>
                </a:solidFill>
                <a:latin typeface="Segoe UI Semibold"/>
              </a:rPr>
              <a:t>PendingBallot</a:t>
            </a:r>
          </a:p>
          <a:p>
            <a:pPr algn="l">
              <a:spcAft>
                <a:spcPts val="0"/>
              </a:spcAft>
            </a:pPr>
            <a:r>
              <a:rPr sz="1050">
                <a:solidFill>
                  <a:srgbClr val="5B6675"/>
                </a:solidFill>
                <a:latin typeface="Segoe UI"/>
              </a:rPr>
              <a:t>sealed choices; no member, no time</a:t>
            </a:r>
          </a:p>
        </p:txBody>
      </p:sp>
      <p:sp>
        <p:nvSpPr>
          <p:cNvPr id="23" name="Rectangle 22"/>
          <p:cNvSpPr/>
          <p:nvPr/>
        </p:nvSpPr>
        <p:spPr>
          <a:xfrm>
            <a:off x="5760720" y="2560320"/>
            <a:ext cx="2834640" cy="713232"/>
          </a:xfrm>
          <a:prstGeom prst="rect">
            <a:avLst/>
          </a:prstGeom>
          <a:solidFill>
            <a:srgbClr val="E4EFF0"/>
          </a:solidFill>
          <a:ln>
            <a:noFill/>
          </a:ln>
        </p:spPr>
        <p:txBody>
          <a:bodyPr wrap="square" lIns="109728" rIns="109728" rtlCol="0" anchor="ctr"/>
          <a:lstStyle/>
          <a:p>
            <a:pPr algn="l">
              <a:spcAft>
                <a:spcPts val="100"/>
              </a:spcAft>
            </a:pPr>
            <a:r>
              <a:rPr sz="1150">
                <a:solidFill>
                  <a:srgbClr val="1B2430"/>
                </a:solidFill>
                <a:latin typeface="Segoe UI Semibold"/>
              </a:rPr>
              <a:t>BallotReceipt</a:t>
            </a:r>
          </a:p>
          <a:p>
            <a:pPr algn="l">
              <a:spcAft>
                <a:spcPts val="0"/>
              </a:spcAft>
            </a:pPr>
            <a:r>
              <a:rPr sz="1050">
                <a:solidFill>
                  <a:srgbClr val="5B6675"/>
                </a:solidFill>
                <a:latin typeface="Segoe UI"/>
              </a:rPr>
              <a:t>tracking code; no link to any ballot</a:t>
            </a:r>
          </a:p>
        </p:txBody>
      </p:sp>
      <p:sp>
        <p:nvSpPr>
          <p:cNvPr id="24" name="Rectangle 23"/>
          <p:cNvSpPr/>
          <p:nvPr/>
        </p:nvSpPr>
        <p:spPr>
          <a:xfrm>
            <a:off x="5760720" y="3429000"/>
            <a:ext cx="2834640" cy="713232"/>
          </a:xfrm>
          <a:prstGeom prst="rect">
            <a:avLst/>
          </a:prstGeom>
          <a:solidFill>
            <a:srgbClr val="E4EFF0"/>
          </a:solidFill>
          <a:ln>
            <a:noFill/>
          </a:ln>
        </p:spPr>
        <p:txBody>
          <a:bodyPr wrap="square" lIns="109728" rIns="109728" rtlCol="0" anchor="ctr"/>
          <a:lstStyle/>
          <a:p>
            <a:pPr algn="l">
              <a:spcAft>
                <a:spcPts val="100"/>
              </a:spcAft>
            </a:pPr>
            <a:r>
              <a:rPr sz="1150">
                <a:solidFill>
                  <a:srgbClr val="1B2430"/>
                </a:solidFill>
                <a:latin typeface="Segoe UI Semibold"/>
              </a:rPr>
              <a:t>Ballot</a:t>
            </a:r>
          </a:p>
          <a:p>
            <a:pPr algn="l">
              <a:spcAft>
                <a:spcPts val="0"/>
              </a:spcAft>
            </a:pPr>
            <a:r>
              <a:rPr sz="1050">
                <a:solidFill>
                  <a:srgbClr val="5B6675"/>
                </a:solidFill>
                <a:latin typeface="Segoe UI"/>
              </a:rPr>
              <a:t>spoiled flag; no member, no time</a:t>
            </a:r>
          </a:p>
        </p:txBody>
      </p:sp>
      <p:sp>
        <p:nvSpPr>
          <p:cNvPr id="25" name="Rectangle 24"/>
          <p:cNvSpPr/>
          <p:nvPr/>
        </p:nvSpPr>
        <p:spPr>
          <a:xfrm>
            <a:off x="5760720" y="4297679"/>
            <a:ext cx="2834640" cy="713232"/>
          </a:xfrm>
          <a:prstGeom prst="rect">
            <a:avLst/>
          </a:prstGeom>
          <a:solidFill>
            <a:srgbClr val="E4EFF0"/>
          </a:solidFill>
          <a:ln>
            <a:noFill/>
          </a:ln>
        </p:spPr>
        <p:txBody>
          <a:bodyPr wrap="square" lIns="109728" rIns="109728" rtlCol="0" anchor="ctr"/>
          <a:lstStyle/>
          <a:p>
            <a:pPr algn="l">
              <a:spcAft>
                <a:spcPts val="100"/>
              </a:spcAft>
            </a:pPr>
            <a:r>
              <a:rPr sz="1150">
                <a:solidFill>
                  <a:srgbClr val="1B2430"/>
                </a:solidFill>
                <a:latin typeface="Segoe UI Semibold"/>
              </a:rPr>
              <a:t>BallotVote</a:t>
            </a:r>
          </a:p>
          <a:p>
            <a:pPr algn="l">
              <a:spcAft>
                <a:spcPts val="0"/>
              </a:spcAft>
            </a:pPr>
            <a:r>
              <a:rPr sz="1050">
                <a:solidFill>
                  <a:srgbClr val="5B6675"/>
                </a:solidFill>
                <a:latin typeface="Segoe UI"/>
              </a:rPr>
              <a:t>one row per chosen candidate</a:t>
            </a:r>
          </a:p>
        </p:txBody>
      </p:sp>
      <p:cxnSp>
        <p:nvCxnSpPr>
          <p:cNvPr id="26" name="Connector 25"/>
          <p:cNvCxnSpPr>
            <a:stCxn id="24" idx="2"/>
            <a:endCxn id="25" idx="0"/>
          </p:cNvCxnSpPr>
          <p:nvPr/>
        </p:nvCxnSpPr>
        <p:spPr>
          <a:xfrm flipH="1">
            <a:off x="7178040" y="4142232"/>
            <a:ext cx="0" cy="155447"/>
          </a:xfrm>
          <a:prstGeom prst="line">
            <a:avLst/>
          </a:prstGeom>
          <a:ln w="12700">
            <a:solidFill>
              <a:srgbClr val="5B6675"/>
            </a:solidFill>
            <a:tailEnd type="triangle" w="med" len="med"/>
          </a:ln>
        </p:spPr>
      </p:cxnSp>
      <p:sp>
        <p:nvSpPr>
          <p:cNvPr id="27" name="TextBox 26"/>
          <p:cNvSpPr txBox="1"/>
          <p:nvPr/>
        </p:nvSpPr>
        <p:spPr>
          <a:xfrm>
            <a:off x="5623559" y="5349240"/>
            <a:ext cx="3108960" cy="868680"/>
          </a:xfrm>
          <a:prstGeom prst="rect">
            <a:avLst/>
          </a:prstGeom>
          <a:noFill/>
        </p:spPr>
        <p:txBody>
          <a:bodyPr wrap="square" lIns="0" tIns="0" rIns="0" bIns="0" anchor="t"/>
          <a:lstStyle/>
          <a:p>
            <a:pPr algn="l">
              <a:spcAft>
                <a:spcPts val="0"/>
              </a:spcAft>
            </a:pPr>
            <a:r>
              <a:rPr sz="1050">
                <a:solidFill>
                  <a:srgbClr val="0F6C73"/>
                </a:solidFill>
                <a:latin typeface="Segoe UI"/>
              </a:rPr>
              <a:t>No foreign key from Member reaches these four tables. At the count, sealed rows are opened together, shuffled and stored under random keys.</a:t>
            </a:r>
          </a:p>
        </p:txBody>
      </p:sp>
      <p:sp>
        <p:nvSpPr>
          <p:cNvPr id="28" name="Rectangle 27"/>
          <p:cNvSpPr/>
          <p:nvPr/>
        </p:nvSpPr>
        <p:spPr>
          <a:xfrm>
            <a:off x="8915400" y="1645920"/>
            <a:ext cx="2727655" cy="548640"/>
          </a:xfrm>
          <a:prstGeom prst="rect">
            <a:avLst/>
          </a:prstGeom>
          <a:noFill/>
          <a:ln w="9525">
            <a:solidFill>
              <a:srgbClr val="C9CED6"/>
            </a:solidFill>
          </a:ln>
        </p:spPr>
        <p:txBody>
          <a:bodyPr wrap="square" rtlCol="0" anchor="ctr"/>
          <a:lstStyle/>
          <a:p>
            <a:pPr algn="l">
              <a:spcAft>
                <a:spcPts val="0"/>
              </a:spcAft>
            </a:pPr>
            <a:r>
              <a:rPr sz="1100">
                <a:solidFill>
                  <a:srgbClr val="1B2430"/>
                </a:solidFill>
                <a:latin typeface="Segoe UI Semibold"/>
              </a:rPr>
              <a:t>Election</a:t>
            </a:r>
          </a:p>
          <a:p>
            <a:pPr algn="l">
              <a:spcAft>
                <a:spcPts val="0"/>
              </a:spcAft>
            </a:pPr>
            <a:r>
              <a:rPr sz="1000">
                <a:solidFill>
                  <a:srgbClr val="5B6675"/>
                </a:solidFill>
                <a:latin typeface="Segoe UI"/>
              </a:rPr>
              <a:t>status, dates, tie rule, public key</a:t>
            </a:r>
          </a:p>
        </p:txBody>
      </p:sp>
      <p:sp>
        <p:nvSpPr>
          <p:cNvPr id="29" name="Rectangle 28"/>
          <p:cNvSpPr/>
          <p:nvPr/>
        </p:nvSpPr>
        <p:spPr>
          <a:xfrm>
            <a:off x="8915400" y="2286000"/>
            <a:ext cx="2727655" cy="548640"/>
          </a:xfrm>
          <a:prstGeom prst="rect">
            <a:avLst/>
          </a:prstGeom>
          <a:noFill/>
          <a:ln w="9525">
            <a:solidFill>
              <a:srgbClr val="C9CED6"/>
            </a:solidFill>
          </a:ln>
        </p:spPr>
        <p:txBody>
          <a:bodyPr wrap="square" rtlCol="0" anchor="ctr"/>
          <a:lstStyle/>
          <a:p>
            <a:pPr algn="l">
              <a:spcAft>
                <a:spcPts val="0"/>
              </a:spcAft>
            </a:pPr>
            <a:r>
              <a:rPr sz="1100">
                <a:solidFill>
                  <a:srgbClr val="1B2430"/>
                </a:solidFill>
                <a:latin typeface="Segoe UI Semibold"/>
              </a:rPr>
              <a:t>ElectionSeat</a:t>
            </a:r>
          </a:p>
          <a:p>
            <a:pPr algn="l">
              <a:spcAft>
                <a:spcPts val="0"/>
              </a:spcAft>
            </a:pPr>
            <a:r>
              <a:rPr sz="1000">
                <a:solidFill>
                  <a:srgbClr val="5B6675"/>
                </a:solidFill>
                <a:latin typeface="Segoe UI"/>
              </a:rPr>
              <a:t>position, seat count</a:t>
            </a:r>
          </a:p>
        </p:txBody>
      </p:sp>
      <p:sp>
        <p:nvSpPr>
          <p:cNvPr id="30" name="Rectangle 29"/>
          <p:cNvSpPr/>
          <p:nvPr/>
        </p:nvSpPr>
        <p:spPr>
          <a:xfrm>
            <a:off x="8915400" y="2926080"/>
            <a:ext cx="2727655" cy="548640"/>
          </a:xfrm>
          <a:prstGeom prst="rect">
            <a:avLst/>
          </a:prstGeom>
          <a:noFill/>
          <a:ln w="9525">
            <a:solidFill>
              <a:srgbClr val="C9CED6"/>
            </a:solidFill>
          </a:ln>
        </p:spPr>
        <p:txBody>
          <a:bodyPr wrap="square" rtlCol="0" anchor="ctr"/>
          <a:lstStyle/>
          <a:p>
            <a:pPr algn="l">
              <a:spcAft>
                <a:spcPts val="0"/>
              </a:spcAft>
            </a:pPr>
            <a:r>
              <a:rPr sz="1100">
                <a:solidFill>
                  <a:srgbClr val="1B2430"/>
                </a:solidFill>
                <a:latin typeface="Segoe UI Semibold"/>
              </a:rPr>
              <a:t>ElectionPersona</a:t>
            </a:r>
          </a:p>
          <a:p>
            <a:pPr algn="l">
              <a:spcAft>
                <a:spcPts val="0"/>
              </a:spcAft>
            </a:pPr>
            <a:r>
              <a:rPr sz="1000">
                <a:solidFill>
                  <a:srgbClr val="5B6675"/>
                </a:solidFill>
                <a:latin typeface="Segoe UI"/>
              </a:rPr>
              <a:t>post, headcount, permissions</a:t>
            </a:r>
          </a:p>
        </p:txBody>
      </p:sp>
      <p:sp>
        <p:nvSpPr>
          <p:cNvPr id="31" name="Rectangle 30"/>
          <p:cNvSpPr/>
          <p:nvPr/>
        </p:nvSpPr>
        <p:spPr>
          <a:xfrm>
            <a:off x="8915400" y="3566159"/>
            <a:ext cx="2727655" cy="548640"/>
          </a:xfrm>
          <a:prstGeom prst="rect">
            <a:avLst/>
          </a:prstGeom>
          <a:noFill/>
          <a:ln w="9525">
            <a:solidFill>
              <a:srgbClr val="C9CED6"/>
            </a:solidFill>
          </a:ln>
        </p:spPr>
        <p:txBody>
          <a:bodyPr wrap="square" rtlCol="0" anchor="ctr"/>
          <a:lstStyle/>
          <a:p>
            <a:pPr algn="l">
              <a:spcAft>
                <a:spcPts val="0"/>
              </a:spcAft>
            </a:pPr>
            <a:r>
              <a:rPr sz="1100">
                <a:solidFill>
                  <a:srgbClr val="1B2430"/>
                </a:solidFill>
                <a:latin typeface="Segoe UI Semibold"/>
              </a:rPr>
              <a:t>ElectionApproval</a:t>
            </a:r>
          </a:p>
          <a:p>
            <a:pPr algn="l">
              <a:spcAft>
                <a:spcPts val="0"/>
              </a:spcAft>
            </a:pPr>
            <a:r>
              <a:rPr sz="1000">
                <a:solidFill>
                  <a:srgbClr val="5B6675"/>
                </a:solidFill>
                <a:latin typeface="Segoe UI"/>
              </a:rPr>
              <a:t>action, requester, approver</a:t>
            </a:r>
          </a:p>
        </p:txBody>
      </p:sp>
      <p:sp>
        <p:nvSpPr>
          <p:cNvPr id="32" name="Rectangle 31"/>
          <p:cNvSpPr/>
          <p:nvPr/>
        </p:nvSpPr>
        <p:spPr>
          <a:xfrm>
            <a:off x="8915400" y="4206240"/>
            <a:ext cx="2727655" cy="548640"/>
          </a:xfrm>
          <a:prstGeom prst="rect">
            <a:avLst/>
          </a:prstGeom>
          <a:noFill/>
          <a:ln w="9525">
            <a:solidFill>
              <a:srgbClr val="C9CED6"/>
            </a:solidFill>
          </a:ln>
        </p:spPr>
        <p:txBody>
          <a:bodyPr wrap="square" rtlCol="0" anchor="ctr"/>
          <a:lstStyle/>
          <a:p>
            <a:pPr algn="l">
              <a:spcAft>
                <a:spcPts val="0"/>
              </a:spcAft>
            </a:pPr>
            <a:r>
              <a:rPr sz="1100">
                <a:solidFill>
                  <a:srgbClr val="1B2430"/>
                </a:solidFill>
                <a:latin typeface="Segoe UI Semibold"/>
              </a:rPr>
              <a:t>ScrutinyDecision</a:t>
            </a:r>
          </a:p>
          <a:p>
            <a:pPr algn="l">
              <a:spcAft>
                <a:spcPts val="0"/>
              </a:spcAft>
            </a:pPr>
            <a:r>
              <a:rPr sz="1000">
                <a:solidFill>
                  <a:srgbClr val="5B6675"/>
                </a:solidFill>
                <a:latin typeface="Segoe UI"/>
              </a:rPr>
              <a:t>officer, accepted, reason</a:t>
            </a:r>
          </a:p>
        </p:txBody>
      </p:sp>
      <p:sp>
        <p:nvSpPr>
          <p:cNvPr id="33" name="Rectangle 32"/>
          <p:cNvSpPr/>
          <p:nvPr/>
        </p:nvSpPr>
        <p:spPr>
          <a:xfrm>
            <a:off x="8915400" y="4846320"/>
            <a:ext cx="2727655" cy="548640"/>
          </a:xfrm>
          <a:prstGeom prst="rect">
            <a:avLst/>
          </a:prstGeom>
          <a:noFill/>
          <a:ln w="9525">
            <a:solidFill>
              <a:srgbClr val="C9CED6"/>
            </a:solidFill>
          </a:ln>
        </p:spPr>
        <p:txBody>
          <a:bodyPr wrap="square" rtlCol="0" anchor="ctr"/>
          <a:lstStyle/>
          <a:p>
            <a:pPr algn="l">
              <a:spcAft>
                <a:spcPts val="0"/>
              </a:spcAft>
            </a:pPr>
            <a:r>
              <a:rPr sz="1100">
                <a:solidFill>
                  <a:srgbClr val="1B2430"/>
                </a:solidFill>
                <a:latin typeface="Segoe UI Semibold"/>
              </a:rPr>
              <a:t>ElectionResult</a:t>
            </a:r>
          </a:p>
          <a:p>
            <a:pPr algn="l">
              <a:spcAft>
                <a:spcPts val="0"/>
              </a:spcAft>
            </a:pPr>
            <a:r>
              <a:rPr sz="1000">
                <a:solidFill>
                  <a:srgbClr val="5B6675"/>
                </a:solidFill>
                <a:latin typeface="Segoe UI"/>
              </a:rPr>
              <a:t>votes, elected, tie</a:t>
            </a:r>
          </a:p>
        </p:txBody>
      </p:sp>
      <p:sp>
        <p:nvSpPr>
          <p:cNvPr id="34" name="Rectangle 33"/>
          <p:cNvSpPr/>
          <p:nvPr/>
        </p:nvSpPr>
        <p:spPr>
          <a:xfrm>
            <a:off x="8915400" y="5486399"/>
            <a:ext cx="2727655" cy="548640"/>
          </a:xfrm>
          <a:prstGeom prst="rect">
            <a:avLst/>
          </a:prstGeom>
          <a:noFill/>
          <a:ln w="9525">
            <a:solidFill>
              <a:srgbClr val="C9CED6"/>
            </a:solidFill>
          </a:ln>
        </p:spPr>
        <p:txBody>
          <a:bodyPr wrap="square" rtlCol="0" anchor="ctr"/>
          <a:lstStyle/>
          <a:p>
            <a:pPr algn="l">
              <a:spcAft>
                <a:spcPts val="0"/>
              </a:spcAft>
            </a:pPr>
            <a:r>
              <a:rPr sz="1100">
                <a:solidFill>
                  <a:srgbClr val="1B2430"/>
                </a:solidFill>
                <a:latin typeface="Segoe UI Semibold"/>
              </a:rPr>
              <a:t>ElectionAuditEntry</a:t>
            </a:r>
          </a:p>
          <a:p>
            <a:pPr algn="l">
              <a:spcAft>
                <a:spcPts val="0"/>
              </a:spcAft>
            </a:pPr>
            <a:r>
              <a:rPr sz="1000">
                <a:solidFill>
                  <a:srgbClr val="5B6675"/>
                </a:solidFill>
                <a:latin typeface="Segoe UI"/>
              </a:rPr>
              <a:t>hash chain; no seat or time on votes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Casting and counting: sealed at cast, opened together</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8 / 12</a:t>
            </a:r>
          </a:p>
        </p:txBody>
      </p:sp>
      <p:sp>
        <p:nvSpPr>
          <p:cNvPr id="7" name="TextBox 6"/>
          <p:cNvSpPr txBox="1"/>
          <p:nvPr/>
        </p:nvSpPr>
        <p:spPr>
          <a:xfrm>
            <a:off x="548640" y="1298448"/>
            <a:ext cx="11094415" cy="274320"/>
          </a:xfrm>
          <a:prstGeom prst="rect">
            <a:avLst/>
          </a:prstGeom>
          <a:noFill/>
        </p:spPr>
        <p:txBody>
          <a:bodyPr wrap="square" lIns="0" tIns="0" rIns="0" bIns="0" anchor="t"/>
          <a:lstStyle/>
          <a:p>
            <a:pPr algn="l">
              <a:spcAft>
                <a:spcPts val="0"/>
              </a:spcAft>
            </a:pPr>
            <a:r>
              <a:rPr sz="1050">
                <a:solidFill>
                  <a:srgbClr val="0F6C73"/>
                </a:solidFill>
                <a:latin typeface="Segoe UI Semibold"/>
              </a:rPr>
              <a:t>WHILE POLLING IS OPEN  ·  ONE DATABASE TRANSACTION</a:t>
            </a:r>
          </a:p>
        </p:txBody>
      </p:sp>
      <p:sp>
        <p:nvSpPr>
          <p:cNvPr id="8" name="Rectangle 7"/>
          <p:cNvSpPr/>
          <p:nvPr/>
        </p:nvSpPr>
        <p:spPr>
          <a:xfrm>
            <a:off x="548640" y="1645919"/>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1  Confirm identity</a:t>
            </a:r>
          </a:p>
          <a:p>
            <a:pPr algn="l">
              <a:spcAft>
                <a:spcPts val="0"/>
              </a:spcAft>
            </a:pPr>
            <a:r>
              <a:rPr sz="1100">
                <a:solidFill>
                  <a:srgbClr val="5B6675"/>
                </a:solidFill>
                <a:latin typeface="Segoe UI"/>
              </a:rPr>
              <a:t>member signs in and enters a one-time code</a:t>
            </a:r>
          </a:p>
        </p:txBody>
      </p:sp>
      <p:sp>
        <p:nvSpPr>
          <p:cNvPr id="9" name="Rectangle 8"/>
          <p:cNvSpPr/>
          <p:nvPr/>
        </p:nvSpPr>
        <p:spPr>
          <a:xfrm>
            <a:off x="3378098" y="1645919"/>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2  Record that they voted</a:t>
            </a:r>
          </a:p>
          <a:p>
            <a:pPr algn="l">
              <a:spcAft>
                <a:spcPts val="0"/>
              </a:spcAft>
            </a:pPr>
            <a:r>
              <a:rPr sz="1100">
                <a:solidFill>
                  <a:srgbClr val="5B6675"/>
                </a:solidFill>
                <a:latin typeface="Segoe UI"/>
              </a:rPr>
              <a:t>frozen roll checked; SeatVote stores member, seat and time</a:t>
            </a:r>
          </a:p>
        </p:txBody>
      </p:sp>
      <p:cxnSp>
        <p:nvCxnSpPr>
          <p:cNvPr id="10" name="Connector 9"/>
          <p:cNvCxnSpPr>
            <a:stCxn id="8" idx="3"/>
            <a:endCxn id="9" idx="1"/>
          </p:cNvCxnSpPr>
          <p:nvPr/>
        </p:nvCxnSpPr>
        <p:spPr>
          <a:xfrm flipV="1">
            <a:off x="3154680" y="2148839"/>
            <a:ext cx="223418" cy="0"/>
          </a:xfrm>
          <a:prstGeom prst="line">
            <a:avLst/>
          </a:prstGeom>
          <a:ln w="12700">
            <a:solidFill>
              <a:srgbClr val="1B2430"/>
            </a:solidFill>
            <a:tailEnd type="triangle" w="med" len="med"/>
          </a:ln>
        </p:spPr>
      </p:cxnSp>
      <p:sp>
        <p:nvSpPr>
          <p:cNvPr id="11" name="Rectangle 10"/>
          <p:cNvSpPr/>
          <p:nvPr/>
        </p:nvSpPr>
        <p:spPr>
          <a:xfrm>
            <a:off x="6207556" y="1645919"/>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3  Seal the choices</a:t>
            </a:r>
          </a:p>
          <a:p>
            <a:pPr algn="l">
              <a:spcAft>
                <a:spcPts val="0"/>
              </a:spcAft>
            </a:pPr>
            <a:r>
              <a:rPr sz="1100">
                <a:solidFill>
                  <a:srgbClr val="5B6675"/>
                </a:solidFill>
                <a:latin typeface="Segoe UI"/>
              </a:rPr>
              <a:t>padded and sealed with the election's public key into PendingBallot</a:t>
            </a:r>
          </a:p>
        </p:txBody>
      </p:sp>
      <p:cxnSp>
        <p:nvCxnSpPr>
          <p:cNvPr id="12" name="Connector 11"/>
          <p:cNvCxnSpPr>
            <a:stCxn id="9" idx="3"/>
            <a:endCxn id="11" idx="1"/>
          </p:cNvCxnSpPr>
          <p:nvPr/>
        </p:nvCxnSpPr>
        <p:spPr>
          <a:xfrm flipV="1">
            <a:off x="5984138" y="2148839"/>
            <a:ext cx="223418" cy="0"/>
          </a:xfrm>
          <a:prstGeom prst="line">
            <a:avLst/>
          </a:prstGeom>
          <a:ln w="12700">
            <a:solidFill>
              <a:srgbClr val="1B2430"/>
            </a:solidFill>
            <a:tailEnd type="triangle" w="med" len="med"/>
          </a:ln>
        </p:spPr>
      </p:cxnSp>
      <p:sp>
        <p:nvSpPr>
          <p:cNvPr id="13" name="Rectangle 12"/>
          <p:cNvSpPr/>
          <p:nvPr/>
        </p:nvSpPr>
        <p:spPr>
          <a:xfrm>
            <a:off x="9037015" y="1645919"/>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4  Hand back a receipt</a:t>
            </a:r>
          </a:p>
          <a:p>
            <a:pPr algn="l">
              <a:spcAft>
                <a:spcPts val="0"/>
              </a:spcAft>
            </a:pPr>
            <a:r>
              <a:rPr sz="1100">
                <a:solidFill>
                  <a:srgbClr val="5B6675"/>
                </a:solidFill>
                <a:latin typeface="Segoe UI"/>
              </a:rPr>
              <a:t>tracking code in BallotReceipt, linked to no ballot</a:t>
            </a:r>
          </a:p>
        </p:txBody>
      </p:sp>
      <p:cxnSp>
        <p:nvCxnSpPr>
          <p:cNvPr id="14" name="Connector 13"/>
          <p:cNvCxnSpPr>
            <a:stCxn id="11" idx="3"/>
            <a:endCxn id="13" idx="1"/>
          </p:cNvCxnSpPr>
          <p:nvPr/>
        </p:nvCxnSpPr>
        <p:spPr>
          <a:xfrm flipV="1">
            <a:off x="8813596" y="2148839"/>
            <a:ext cx="223419" cy="0"/>
          </a:xfrm>
          <a:prstGeom prst="line">
            <a:avLst/>
          </a:prstGeom>
          <a:ln w="12700">
            <a:solidFill>
              <a:srgbClr val="1B2430"/>
            </a:solidFill>
            <a:tailEnd type="triangle" w="med" len="med"/>
          </a:ln>
        </p:spPr>
      </p:cxnSp>
      <p:sp>
        <p:nvSpPr>
          <p:cNvPr id="15" name="TextBox 14"/>
          <p:cNvSpPr txBox="1"/>
          <p:nvPr/>
        </p:nvSpPr>
        <p:spPr>
          <a:xfrm>
            <a:off x="548640" y="2990088"/>
            <a:ext cx="11094415" cy="274320"/>
          </a:xfrm>
          <a:prstGeom prst="rect">
            <a:avLst/>
          </a:prstGeom>
          <a:noFill/>
        </p:spPr>
        <p:txBody>
          <a:bodyPr wrap="square" lIns="0" tIns="0" rIns="0" bIns="0" anchor="t"/>
          <a:lstStyle/>
          <a:p>
            <a:pPr algn="l">
              <a:spcAft>
                <a:spcPts val="0"/>
              </a:spcAft>
            </a:pPr>
            <a:r>
              <a:rPr sz="1050">
                <a:solidFill>
                  <a:srgbClr val="0F6C73"/>
                </a:solidFill>
                <a:latin typeface="Segoe UI Semibold"/>
              </a:rPr>
              <a:t>AT THE COUNT  ·  TWO-PERSON APPROVAL</a:t>
            </a:r>
          </a:p>
        </p:txBody>
      </p:sp>
      <p:sp>
        <p:nvSpPr>
          <p:cNvPr id="16" name="Rectangle 15"/>
          <p:cNvSpPr/>
          <p:nvPr/>
        </p:nvSpPr>
        <p:spPr>
          <a:xfrm>
            <a:off x="548640" y="3337560"/>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5  Supply the key</a:t>
            </a:r>
          </a:p>
          <a:p>
            <a:pPr algn="l">
              <a:spcAft>
                <a:spcPts val="0"/>
              </a:spcAft>
            </a:pPr>
            <a:r>
              <a:rPr sz="1100">
                <a:solidFill>
                  <a:srgbClr val="5B6675"/>
                </a:solidFill>
                <a:latin typeface="Segoe UI"/>
              </a:rPr>
              <a:t>Returning Officer brings the private key, held off the server</a:t>
            </a:r>
          </a:p>
        </p:txBody>
      </p:sp>
      <p:sp>
        <p:nvSpPr>
          <p:cNvPr id="17" name="Rectangle 16"/>
          <p:cNvSpPr/>
          <p:nvPr/>
        </p:nvSpPr>
        <p:spPr>
          <a:xfrm>
            <a:off x="3378098" y="3337560"/>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6  Open together</a:t>
            </a:r>
          </a:p>
          <a:p>
            <a:pPr algn="l">
              <a:spcAft>
                <a:spcPts val="0"/>
              </a:spcAft>
            </a:pPr>
            <a:r>
              <a:rPr sz="1100">
                <a:solidFill>
                  <a:srgbClr val="5B6675"/>
                </a:solidFill>
                <a:latin typeface="Segoe UI"/>
              </a:rPr>
              <a:t>every sealed row is opened in one pass and shuffled</a:t>
            </a:r>
          </a:p>
        </p:txBody>
      </p:sp>
      <p:cxnSp>
        <p:nvCxnSpPr>
          <p:cNvPr id="18" name="Connector 17"/>
          <p:cNvCxnSpPr>
            <a:stCxn id="16" idx="3"/>
            <a:endCxn id="17" idx="1"/>
          </p:cNvCxnSpPr>
          <p:nvPr/>
        </p:nvCxnSpPr>
        <p:spPr>
          <a:xfrm flipV="1">
            <a:off x="3154680" y="3840480"/>
            <a:ext cx="223418" cy="0"/>
          </a:xfrm>
          <a:prstGeom prst="line">
            <a:avLst/>
          </a:prstGeom>
          <a:ln w="12700">
            <a:solidFill>
              <a:srgbClr val="1B2430"/>
            </a:solidFill>
            <a:tailEnd type="triangle" w="med" len="med"/>
          </a:ln>
        </p:spPr>
      </p:cxnSp>
      <p:sp>
        <p:nvSpPr>
          <p:cNvPr id="19" name="Rectangle 18"/>
          <p:cNvSpPr/>
          <p:nvPr/>
        </p:nvSpPr>
        <p:spPr>
          <a:xfrm>
            <a:off x="6207556" y="3337560"/>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7  Store anonymously</a:t>
            </a:r>
          </a:p>
          <a:p>
            <a:pPr algn="l">
              <a:spcAft>
                <a:spcPts val="0"/>
              </a:spcAft>
            </a:pPr>
            <a:r>
              <a:rPr sz="1100">
                <a:solidFill>
                  <a:srgbClr val="5B6675"/>
                </a:solidFill>
                <a:latin typeface="Segoe UI"/>
              </a:rPr>
              <a:t>Ballot and BallotVote under random keys; sealed rows deleted</a:t>
            </a:r>
          </a:p>
        </p:txBody>
      </p:sp>
      <p:cxnSp>
        <p:nvCxnSpPr>
          <p:cNvPr id="20" name="Connector 19"/>
          <p:cNvCxnSpPr>
            <a:stCxn id="17" idx="3"/>
            <a:endCxn id="19" idx="1"/>
          </p:cNvCxnSpPr>
          <p:nvPr/>
        </p:nvCxnSpPr>
        <p:spPr>
          <a:xfrm flipV="1">
            <a:off x="5984138" y="3840480"/>
            <a:ext cx="223418" cy="0"/>
          </a:xfrm>
          <a:prstGeom prst="line">
            <a:avLst/>
          </a:prstGeom>
          <a:ln w="12700">
            <a:solidFill>
              <a:srgbClr val="1B2430"/>
            </a:solidFill>
            <a:tailEnd type="triangle" w="med" len="med"/>
          </a:ln>
        </p:spPr>
      </p:cxnSp>
      <p:sp>
        <p:nvSpPr>
          <p:cNvPr id="21" name="Rectangle 20"/>
          <p:cNvSpPr/>
          <p:nvPr/>
        </p:nvSpPr>
        <p:spPr>
          <a:xfrm>
            <a:off x="9037015" y="3337560"/>
            <a:ext cx="2606040" cy="1005840"/>
          </a:xfrm>
          <a:prstGeom prst="rect">
            <a:avLst/>
          </a:prstGeom>
          <a:solidFill>
            <a:srgbClr val="F3F4F6"/>
          </a:solidFill>
          <a:ln>
            <a:noFill/>
          </a:ln>
        </p:spPr>
        <p:txBody>
          <a:bodyPr wrap="square" lIns="109728" rIns="109728" rtlCol="0" anchor="t"/>
          <a:lstStyle/>
          <a:p>
            <a:pPr algn="l">
              <a:spcAft>
                <a:spcPts val="400"/>
              </a:spcAft>
            </a:pPr>
            <a:r>
              <a:rPr sz="1200">
                <a:solidFill>
                  <a:srgbClr val="1B2430"/>
                </a:solidFill>
                <a:latin typeface="Segoe UI Semibold"/>
              </a:rPr>
              <a:t>8  Publish</a:t>
            </a:r>
          </a:p>
          <a:p>
            <a:pPr algn="l">
              <a:spcAft>
                <a:spcPts val="0"/>
              </a:spcAft>
            </a:pPr>
            <a:r>
              <a:rPr sz="1100">
                <a:solidFill>
                  <a:srgbClr val="5B6675"/>
                </a:solidFill>
                <a:latin typeface="Segoe UI"/>
              </a:rPr>
              <a:t>results, plus shuffled ballots that anyone can re-add</a:t>
            </a:r>
          </a:p>
        </p:txBody>
      </p:sp>
      <p:cxnSp>
        <p:nvCxnSpPr>
          <p:cNvPr id="22" name="Connector 21"/>
          <p:cNvCxnSpPr>
            <a:stCxn id="19" idx="3"/>
            <a:endCxn id="21" idx="1"/>
          </p:cNvCxnSpPr>
          <p:nvPr/>
        </p:nvCxnSpPr>
        <p:spPr>
          <a:xfrm flipV="1">
            <a:off x="8813596" y="3840480"/>
            <a:ext cx="223419" cy="0"/>
          </a:xfrm>
          <a:prstGeom prst="line">
            <a:avLst/>
          </a:prstGeom>
          <a:ln w="12700">
            <a:solidFill>
              <a:srgbClr val="1B2430"/>
            </a:solidFill>
            <a:tailEnd type="triangle" w="med" len="med"/>
          </a:ln>
        </p:spPr>
      </p:cxnSp>
      <p:sp>
        <p:nvSpPr>
          <p:cNvPr id="23" name="Rectangle 22"/>
          <p:cNvSpPr/>
          <p:nvPr/>
        </p:nvSpPr>
        <p:spPr>
          <a:xfrm>
            <a:off x="548640" y="4846320"/>
            <a:ext cx="5410047" cy="914400"/>
          </a:xfrm>
          <a:prstGeom prst="rect">
            <a:avLst/>
          </a:prstGeom>
          <a:noFill/>
          <a:ln w="9525">
            <a:solidFill>
              <a:srgbClr val="C9CED6"/>
            </a:solidFill>
          </a:ln>
        </p:spPr>
        <p:txBody>
          <a:bodyPr wrap="square" lIns="109728" rIns="109728" rtlCol="0" anchor="t"/>
          <a:lstStyle/>
          <a:p>
            <a:pPr algn="l">
              <a:spcAft>
                <a:spcPts val="300"/>
              </a:spcAft>
            </a:pPr>
            <a:r>
              <a:rPr sz="1200">
                <a:solidFill>
                  <a:srgbClr val="1B2430"/>
                </a:solidFill>
                <a:latin typeface="Segoe UI Semibold"/>
              </a:rPr>
              <a:t>Tamper evidence</a:t>
            </a:r>
          </a:p>
          <a:p>
            <a:pPr algn="l">
              <a:spcAft>
                <a:spcPts val="0"/>
              </a:spcAft>
            </a:pPr>
            <a:r>
              <a:rPr sz="1100">
                <a:solidFill>
                  <a:srgbClr val="5B6675"/>
                </a:solidFill>
                <a:latin typeface="Segoe UI"/>
              </a:rPr>
              <a:t>Each significant action is appended to a hash chain. Anyone can check it through a public verify endpoint; a changed, removed or reordered entry breaks the chain.</a:t>
            </a:r>
          </a:p>
        </p:txBody>
      </p:sp>
      <p:sp>
        <p:nvSpPr>
          <p:cNvPr id="24" name="Rectangle 23"/>
          <p:cNvSpPr/>
          <p:nvPr/>
        </p:nvSpPr>
        <p:spPr>
          <a:xfrm>
            <a:off x="6233007" y="4846320"/>
            <a:ext cx="5410047" cy="914400"/>
          </a:xfrm>
          <a:prstGeom prst="rect">
            <a:avLst/>
          </a:prstGeom>
          <a:noFill/>
          <a:ln w="9525">
            <a:solidFill>
              <a:srgbClr val="0F6C73"/>
            </a:solidFill>
          </a:ln>
        </p:spPr>
        <p:txBody>
          <a:bodyPr wrap="square" lIns="109728" rIns="109728" rtlCol="0" anchor="t"/>
          <a:lstStyle/>
          <a:p>
            <a:pPr algn="l">
              <a:spcAft>
                <a:spcPts val="300"/>
              </a:spcAft>
            </a:pPr>
            <a:r>
              <a:rPr sz="1200">
                <a:solidFill>
                  <a:srgbClr val="0F6C73"/>
                </a:solidFill>
                <a:latin typeface="Segoe UI Semibold"/>
              </a:rPr>
              <a:t>Disclosed limit</a:t>
            </a:r>
          </a:p>
          <a:p>
            <a:pPr algn="l">
              <a:spcAft>
                <a:spcPts val="0"/>
              </a:spcAft>
            </a:pPr>
            <a:r>
              <a:rPr sz="1100">
                <a:solidFill>
                  <a:srgbClr val="5B6675"/>
                </a:solidFill>
                <a:latin typeface="Segoe UI"/>
              </a:rPr>
              <a:t>A backup taken during polling, together with the private key, could show roughly when someone voted. The key is destroyed after the election.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Requirements: 57 functional, 37 quality, 11 scenarios</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9 / 12</a:t>
            </a:r>
          </a:p>
        </p:txBody>
      </p:sp>
      <p:sp>
        <p:nvSpPr>
          <p:cNvPr id="7" name="TextBox 6"/>
          <p:cNvSpPr txBox="1"/>
          <p:nvPr/>
        </p:nvSpPr>
        <p:spPr>
          <a:xfrm>
            <a:off x="548640" y="1280160"/>
            <a:ext cx="64008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FUNCTIONAL REQUIREMENTS BY AREA AND PRIORITY</a:t>
            </a:r>
          </a:p>
        </p:txBody>
      </p:sp>
      <p:graphicFrame>
        <p:nvGraphicFramePr>
          <p:cNvPr id="8" name="Chart 7"/>
          <p:cNvGraphicFramePr>
            <a:graphicFrameLocks noGrp="1"/>
          </p:cNvGraphicFramePr>
          <p:nvPr/>
        </p:nvGraphicFramePr>
        <p:xfrm>
          <a:off x="548640" y="1600200"/>
          <a:ext cx="658368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p:cNvSpPr txBox="1"/>
          <p:nvPr/>
        </p:nvSpPr>
        <p:spPr>
          <a:xfrm>
            <a:off x="548640" y="5943600"/>
            <a:ext cx="6583680" cy="320040"/>
          </a:xfrm>
          <a:prstGeom prst="rect">
            <a:avLst/>
          </a:prstGeom>
          <a:noFill/>
        </p:spPr>
        <p:txBody>
          <a:bodyPr wrap="square" lIns="0" tIns="0" rIns="0" bIns="0" anchor="t"/>
          <a:lstStyle/>
          <a:p>
            <a:pPr algn="l">
              <a:spcAft>
                <a:spcPts val="0"/>
              </a:spcAft>
            </a:pPr>
            <a:r>
              <a:rPr sz="1100">
                <a:solidFill>
                  <a:srgbClr val="5B6675"/>
                </a:solidFill>
                <a:latin typeface="Segoe UI"/>
              </a:rPr>
              <a:t>Must 38  ·  Should 12  ·  Could 7</a:t>
            </a:r>
          </a:p>
        </p:txBody>
      </p:sp>
      <p:sp>
        <p:nvSpPr>
          <p:cNvPr id="10" name="TextBox 9"/>
          <p:cNvSpPr txBox="1"/>
          <p:nvPr/>
        </p:nvSpPr>
        <p:spPr>
          <a:xfrm>
            <a:off x="7589520" y="1280160"/>
            <a:ext cx="402336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QUALITY REQUIREMENTS, ISO/IEC 25010</a:t>
            </a:r>
          </a:p>
        </p:txBody>
      </p:sp>
      <p:graphicFrame>
        <p:nvGraphicFramePr>
          <p:cNvPr id="11" name="Table 10"/>
          <p:cNvGraphicFramePr>
            <a:graphicFrameLocks noGrp="1"/>
          </p:cNvGraphicFramePr>
          <p:nvPr/>
        </p:nvGraphicFramePr>
        <p:xfrm>
          <a:off x="7589520" y="1600200"/>
          <a:ext cx="4050792" cy="2926080"/>
        </p:xfrm>
        <a:graphic>
          <a:graphicData uri="http://schemas.openxmlformats.org/drawingml/2006/table">
            <a:tbl>
              <a:tblPr>
                <a:tableStyleId>{2D5ABB26-0587-4C30-8999-92F81FD0307C}</a:tableStyleId>
              </a:tblPr>
              <a:tblGrid>
                <a:gridCol w="2971800">
                  <a:extLst>
                    <a:ext uri="{9D8B030D-6E8A-4147-A177-3AD203B41FA5}">
                      <a16:colId xmlns:a16="http://schemas.microsoft.com/office/drawing/2014/main" val="20000"/>
                    </a:ext>
                  </a:extLst>
                </a:gridCol>
                <a:gridCol w="1078992">
                  <a:extLst>
                    <a:ext uri="{9D8B030D-6E8A-4147-A177-3AD203B41FA5}">
                      <a16:colId xmlns:a16="http://schemas.microsoft.com/office/drawing/2014/main" val="20001"/>
                    </a:ext>
                  </a:extLst>
                </a:gridCol>
              </a:tblGrid>
              <a:tr h="292608">
                <a:tc>
                  <a:txBody>
                    <a:bodyPr/>
                    <a:lstStyle/>
                    <a:p>
                      <a:r>
                        <a:rPr sz="1100">
                          <a:solidFill>
                            <a:srgbClr val="1B2430"/>
                          </a:solidFill>
                          <a:latin typeface="Segoe UI Semibold"/>
                        </a:rPr>
                        <a:t>Characteristic</a:t>
                      </a: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100">
                          <a:solidFill>
                            <a:srgbClr val="1B2430"/>
                          </a:solidFill>
                          <a:latin typeface="Segoe UI Semibold"/>
                        </a:rPr>
                        <a:t>Count</a:t>
                      </a:r>
                    </a:p>
                  </a:txBody>
                  <a:tcPr marL="73152" marR="73152" marT="36576" marB="36576" anchor="ctr">
                    <a:lnL w="0">
                      <a:noFill/>
                    </a:lnL>
                    <a:lnR w="0">
                      <a:noFill/>
                    </a:lnR>
                    <a:lnT w="0">
                      <a:noFill/>
                    </a:lnT>
                    <a:lnB w="12700">
                      <a:solidFill>
                        <a:srgbClr val="1B2430"/>
                      </a:solidFill>
                    </a:lnB>
                    <a:solidFill>
                      <a:srgbClr val="F3F4F6"/>
                    </a:solidFill>
                  </a:tcPr>
                </a:tc>
                <a:extLst>
                  <a:ext uri="{0D108BD9-81ED-4DB2-BD59-A6C34878D82A}">
                    <a16:rowId xmlns:a16="http://schemas.microsoft.com/office/drawing/2014/main" val="10000"/>
                  </a:ext>
                </a:extLst>
              </a:tr>
              <a:tr h="292608">
                <a:tc>
                  <a:txBody>
                    <a:bodyPr/>
                    <a:lstStyle/>
                    <a:p>
                      <a:r>
                        <a:rPr sz="1100">
                          <a:solidFill>
                            <a:srgbClr val="1B2430"/>
                          </a:solidFill>
                          <a:latin typeface="Segoe UI Semibold"/>
                        </a:rPr>
                        <a:t>Functional suitability</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2</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1"/>
                  </a:ext>
                </a:extLst>
              </a:tr>
              <a:tr h="292608">
                <a:tc>
                  <a:txBody>
                    <a:bodyPr/>
                    <a:lstStyle/>
                    <a:p>
                      <a:r>
                        <a:rPr sz="1100">
                          <a:solidFill>
                            <a:srgbClr val="1B2430"/>
                          </a:solidFill>
                          <a:latin typeface="Segoe UI Semibold"/>
                        </a:rPr>
                        <a:t>Performance efficiency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5</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2"/>
                  </a:ext>
                </a:extLst>
              </a:tr>
              <a:tr h="292608">
                <a:tc>
                  <a:txBody>
                    <a:bodyPr/>
                    <a:lstStyle/>
                    <a:p>
                      <a:r>
                        <a:rPr sz="1100">
                          <a:solidFill>
                            <a:srgbClr val="1B2430"/>
                          </a:solidFill>
                          <a:latin typeface="Segoe UI Semibold"/>
                        </a:rPr>
                        <a:t>Compatibility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3</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3"/>
                  </a:ext>
                </a:extLst>
              </a:tr>
              <a:tr h="292608">
                <a:tc>
                  <a:txBody>
                    <a:bodyPr/>
                    <a:lstStyle/>
                    <a:p>
                      <a:r>
                        <a:rPr sz="1100">
                          <a:solidFill>
                            <a:srgbClr val="1B2430"/>
                          </a:solidFill>
                          <a:latin typeface="Segoe UI Semibold"/>
                        </a:rPr>
                        <a:t>Usability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5</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4"/>
                  </a:ext>
                </a:extLst>
              </a:tr>
              <a:tr h="292608">
                <a:tc>
                  <a:txBody>
                    <a:bodyPr/>
                    <a:lstStyle/>
                    <a:p>
                      <a:r>
                        <a:rPr sz="1100">
                          <a:solidFill>
                            <a:srgbClr val="1B2430"/>
                          </a:solidFill>
                          <a:latin typeface="Segoe UI Semibold"/>
                        </a:rPr>
                        <a:t>Reliability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6</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5"/>
                  </a:ext>
                </a:extLst>
              </a:tr>
              <a:tr h="292608">
                <a:tc>
                  <a:txBody>
                    <a:bodyPr/>
                    <a:lstStyle/>
                    <a:p>
                      <a:r>
                        <a:rPr sz="1100">
                          <a:solidFill>
                            <a:srgbClr val="1B2430"/>
                          </a:solidFill>
                          <a:latin typeface="Segoe UI Semibold"/>
                        </a:rPr>
                        <a:t>Security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9</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6"/>
                  </a:ext>
                </a:extLst>
              </a:tr>
              <a:tr h="292608">
                <a:tc>
                  <a:txBody>
                    <a:bodyPr/>
                    <a:lstStyle/>
                    <a:p>
                      <a:r>
                        <a:rPr sz="1100">
                          <a:solidFill>
                            <a:srgbClr val="1B2430"/>
                          </a:solidFill>
                          <a:latin typeface="Segoe UI Semibold"/>
                        </a:rPr>
                        <a:t>Maintainability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4</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7"/>
                  </a:ext>
                </a:extLst>
              </a:tr>
              <a:tr h="292608">
                <a:tc>
                  <a:txBody>
                    <a:bodyPr/>
                    <a:lstStyle/>
                    <a:p>
                      <a:r>
                        <a:rPr sz="1100">
                          <a:solidFill>
                            <a:srgbClr val="1B2430"/>
                          </a:solidFill>
                          <a:latin typeface="Segoe UI Semibold"/>
                        </a:rPr>
                        <a:t>Portability</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3</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8"/>
                  </a:ext>
                </a:extLst>
              </a:tr>
              <a:tr h="292608">
                <a:tc>
                  <a:txBody>
                    <a:bodyPr/>
                    <a:lstStyle/>
                    <a:p>
                      <a:r>
                        <a:rPr sz="1100">
                          <a:solidFill>
                            <a:srgbClr val="1B2430"/>
                          </a:solidFill>
                          <a:latin typeface="Segoe UI Semibold"/>
                        </a:rPr>
                        <a:t>Total</a:t>
                      </a:r>
                    </a:p>
                  </a:txBody>
                  <a:tcPr marL="73152" marR="73152" marT="36576" marB="36576">
                    <a:lnL w="0">
                      <a:noFill/>
                    </a:lnL>
                    <a:lnR w="0">
                      <a:noFill/>
                    </a:lnR>
                    <a:lnT w="9525" cap="flat" cmpd="sng" algn="ctr">
                      <a:solidFill>
                        <a:srgbClr val="C9CED6"/>
                      </a:solidFill>
                      <a:prstDash val="solid"/>
                      <a:round/>
                      <a:headEnd type="none" w="med" len="med"/>
                      <a:tailEnd type="none" w="med" len="med"/>
                    </a:lnT>
                    <a:lnB w="12700">
                      <a:solidFill>
                        <a:srgbClr val="1B2430"/>
                      </a:solidFill>
                    </a:lnB>
                    <a:solidFill>
                      <a:srgbClr val="FFFFFF"/>
                    </a:solidFill>
                  </a:tcPr>
                </a:tc>
                <a:tc>
                  <a:txBody>
                    <a:bodyPr/>
                    <a:lstStyle/>
                    <a:p>
                      <a:r>
                        <a:rPr sz="1100">
                          <a:solidFill>
                            <a:srgbClr val="1B2430"/>
                          </a:solidFill>
                          <a:latin typeface="Segoe UI Semibold"/>
                        </a:rPr>
                        <a:t>37</a:t>
                      </a:r>
                    </a:p>
                  </a:txBody>
                  <a:tcPr marL="73152" marR="73152" marT="36576" marB="36576">
                    <a:lnL w="0">
                      <a:noFill/>
                    </a:lnL>
                    <a:lnR w="0">
                      <a:noFill/>
                    </a:lnR>
                    <a:lnT w="9525" cap="flat" cmpd="sng" algn="ctr">
                      <a:solidFill>
                        <a:srgbClr val="C9CED6"/>
                      </a:solidFill>
                      <a:prstDash val="solid"/>
                      <a:round/>
                      <a:headEnd type="none" w="med" len="med"/>
                      <a:tailEnd type="none" w="med" len="med"/>
                    </a:lnT>
                    <a:lnB w="12700">
                      <a:solidFill>
                        <a:srgbClr val="1B2430"/>
                      </a:solidFill>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Verification: three test suites and a scripted election</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10 / 12</a:t>
            </a:r>
          </a:p>
        </p:txBody>
      </p:sp>
      <p:sp>
        <p:nvSpPr>
          <p:cNvPr id="7" name="TextBox 6"/>
          <p:cNvSpPr txBox="1"/>
          <p:nvPr/>
        </p:nvSpPr>
        <p:spPr>
          <a:xfrm>
            <a:off x="548640" y="1280160"/>
            <a:ext cx="64008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TEST DECLARATIONS IN SOURCE</a:t>
            </a:r>
          </a:p>
        </p:txBody>
      </p:sp>
      <p:graphicFrame>
        <p:nvGraphicFramePr>
          <p:cNvPr id="8" name="Chart 7"/>
          <p:cNvGraphicFramePr>
            <a:graphicFrameLocks noGrp="1"/>
          </p:cNvGraphicFramePr>
          <p:nvPr/>
        </p:nvGraphicFramePr>
        <p:xfrm>
          <a:off x="548640" y="1600200"/>
          <a:ext cx="6400800" cy="3108960"/>
        </p:xfrm>
        <a:graphic>
          <a:graphicData uri="http://schemas.openxmlformats.org/drawingml/2006/chart">
            <c:chart xmlns:c="http://schemas.openxmlformats.org/drawingml/2006/chart" xmlns:r="http://schemas.openxmlformats.org/officeDocument/2006/relationships" r:id="rId3"/>
          </a:graphicData>
        </a:graphic>
      </p:graphicFrame>
      <p:cxnSp>
        <p:nvCxnSpPr>
          <p:cNvPr id="9" name="Connector 8"/>
          <p:cNvCxnSpPr/>
          <p:nvPr/>
        </p:nvCxnSpPr>
        <p:spPr>
          <a:xfrm>
            <a:off x="548640" y="4892040"/>
            <a:ext cx="6400800" cy="0"/>
          </a:xfrm>
          <a:prstGeom prst="line">
            <a:avLst/>
          </a:prstGeom>
          <a:ln w="9525">
            <a:solidFill>
              <a:srgbClr val="C9CED6"/>
            </a:solidFill>
          </a:ln>
        </p:spPr>
      </p:cxnSp>
      <p:sp>
        <p:nvSpPr>
          <p:cNvPr id="10" name="TextBox 9"/>
          <p:cNvSpPr txBox="1"/>
          <p:nvPr/>
        </p:nvSpPr>
        <p:spPr>
          <a:xfrm>
            <a:off x="548640" y="4983480"/>
            <a:ext cx="3108960" cy="1188720"/>
          </a:xfrm>
          <a:prstGeom prst="rect">
            <a:avLst/>
          </a:prstGeom>
          <a:noFill/>
        </p:spPr>
        <p:txBody>
          <a:bodyPr wrap="square" lIns="0" tIns="0" rIns="0" bIns="0" anchor="t"/>
          <a:lstStyle/>
          <a:p>
            <a:pPr algn="l">
              <a:spcAft>
                <a:spcPts val="0"/>
              </a:spcAft>
            </a:pPr>
            <a:r>
              <a:rPr sz="3200">
                <a:solidFill>
                  <a:srgbClr val="1B2430"/>
                </a:solidFill>
                <a:latin typeface="Segoe UI Semibold"/>
              </a:rPr>
              <a:t>517</a:t>
            </a:r>
          </a:p>
          <a:p>
            <a:pPr algn="l">
              <a:spcAft>
                <a:spcPts val="0"/>
              </a:spcAft>
            </a:pPr>
            <a:r>
              <a:rPr sz="1100">
                <a:solidFill>
                  <a:srgbClr val="5B6675"/>
                </a:solidFill>
                <a:latin typeface="Segoe UI"/>
              </a:rPr>
              <a:t>election test attributes in 37 backend files</a:t>
            </a:r>
          </a:p>
        </p:txBody>
      </p:sp>
      <p:sp>
        <p:nvSpPr>
          <p:cNvPr id="11" name="TextBox 10"/>
          <p:cNvSpPr txBox="1"/>
          <p:nvPr/>
        </p:nvSpPr>
        <p:spPr>
          <a:xfrm>
            <a:off x="3840480" y="4983480"/>
            <a:ext cx="3108960" cy="1188720"/>
          </a:xfrm>
          <a:prstGeom prst="rect">
            <a:avLst/>
          </a:prstGeom>
          <a:noFill/>
        </p:spPr>
        <p:txBody>
          <a:bodyPr wrap="square" lIns="0" tIns="0" rIns="0" bIns="0" anchor="t"/>
          <a:lstStyle/>
          <a:p>
            <a:pPr algn="l">
              <a:spcAft>
                <a:spcPts val="0"/>
              </a:spcAft>
            </a:pPr>
            <a:r>
              <a:rPr sz="3200">
                <a:solidFill>
                  <a:srgbClr val="1B2430"/>
                </a:solidFill>
                <a:latin typeface="Segoe UI Semibold"/>
              </a:rPr>
              <a:t>3,099</a:t>
            </a:r>
          </a:p>
          <a:p>
            <a:pPr algn="l">
              <a:spcAft>
                <a:spcPts val="0"/>
              </a:spcAft>
            </a:pPr>
            <a:r>
              <a:rPr sz="1100">
                <a:solidFill>
                  <a:srgbClr val="5B6675"/>
                </a:solidFill>
                <a:latin typeface="Segoe UI"/>
              </a:rPr>
              <a:t>declarations in all, counted from source</a:t>
            </a:r>
          </a:p>
        </p:txBody>
      </p:sp>
      <p:sp>
        <p:nvSpPr>
          <p:cNvPr id="12" name="TextBox 11"/>
          <p:cNvSpPr txBox="1"/>
          <p:nvPr/>
        </p:nvSpPr>
        <p:spPr>
          <a:xfrm>
            <a:off x="7589520" y="1280160"/>
            <a:ext cx="402336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SCRIPTED ELECTION RUN</a:t>
            </a:r>
          </a:p>
        </p:txBody>
      </p:sp>
      <p:sp>
        <p:nvSpPr>
          <p:cNvPr id="13" name="Rectangle 12"/>
          <p:cNvSpPr/>
          <p:nvPr/>
        </p:nvSpPr>
        <p:spPr>
          <a:xfrm>
            <a:off x="7589520" y="1627632"/>
            <a:ext cx="4053535" cy="603504"/>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Set up   </a:t>
            </a:r>
            <a:r>
              <a:rPr sz="1100">
                <a:solidFill>
                  <a:srgbClr val="1B2430"/>
                </a:solidFill>
                <a:latin typeface="Segoe UI"/>
              </a:rPr>
              <a:t>election announced through campaign</a:t>
            </a:r>
          </a:p>
        </p:txBody>
      </p:sp>
      <p:sp>
        <p:nvSpPr>
          <p:cNvPr id="14" name="Rectangle 13"/>
          <p:cNvSpPr/>
          <p:nvPr/>
        </p:nvSpPr>
        <p:spPr>
          <a:xfrm>
            <a:off x="7589520" y="2395728"/>
            <a:ext cx="4053535" cy="603504"/>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Open polling   </a:t>
            </a:r>
            <a:r>
              <a:rPr sz="1100">
                <a:solidFill>
                  <a:srgbClr val="1B2430"/>
                </a:solidFill>
                <a:latin typeface="Segoe UI"/>
              </a:rPr>
              <a:t>two officials approve</a:t>
            </a:r>
          </a:p>
        </p:txBody>
      </p:sp>
      <p:cxnSp>
        <p:nvCxnSpPr>
          <p:cNvPr id="15" name="Connector 14"/>
          <p:cNvCxnSpPr>
            <a:stCxn id="13" idx="2"/>
            <a:endCxn id="14" idx="0"/>
          </p:cNvCxnSpPr>
          <p:nvPr/>
        </p:nvCxnSpPr>
        <p:spPr>
          <a:xfrm flipH="1">
            <a:off x="9616287" y="2231136"/>
            <a:ext cx="0" cy="164592"/>
          </a:xfrm>
          <a:prstGeom prst="line">
            <a:avLst/>
          </a:prstGeom>
          <a:ln w="12700">
            <a:solidFill>
              <a:srgbClr val="5B6675"/>
            </a:solidFill>
            <a:tailEnd type="triangle" w="med" len="med"/>
          </a:ln>
        </p:spPr>
      </p:cxnSp>
      <p:sp>
        <p:nvSpPr>
          <p:cNvPr id="16" name="Rectangle 15"/>
          <p:cNvSpPr/>
          <p:nvPr/>
        </p:nvSpPr>
        <p:spPr>
          <a:xfrm>
            <a:off x="7589520" y="3163824"/>
            <a:ext cx="4053535" cy="603504"/>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Vote   </a:t>
            </a:r>
            <a:r>
              <a:rPr sz="1100">
                <a:solidFill>
                  <a:srgbClr val="1B2430"/>
                </a:solidFill>
                <a:latin typeface="Segoe UI"/>
              </a:rPr>
              <a:t>ten scripted members cast ballots</a:t>
            </a:r>
          </a:p>
        </p:txBody>
      </p:sp>
      <p:cxnSp>
        <p:nvCxnSpPr>
          <p:cNvPr id="17" name="Connector 16"/>
          <p:cNvCxnSpPr>
            <a:stCxn id="14" idx="2"/>
            <a:endCxn id="16" idx="0"/>
          </p:cNvCxnSpPr>
          <p:nvPr/>
        </p:nvCxnSpPr>
        <p:spPr>
          <a:xfrm flipH="1">
            <a:off x="9616287" y="2999232"/>
            <a:ext cx="0" cy="164592"/>
          </a:xfrm>
          <a:prstGeom prst="line">
            <a:avLst/>
          </a:prstGeom>
          <a:ln w="12700">
            <a:solidFill>
              <a:srgbClr val="5B6675"/>
            </a:solidFill>
            <a:tailEnd type="triangle" w="med" len="med"/>
          </a:ln>
        </p:spPr>
      </p:cxnSp>
      <p:sp>
        <p:nvSpPr>
          <p:cNvPr id="18" name="Rectangle 17"/>
          <p:cNvSpPr/>
          <p:nvPr/>
        </p:nvSpPr>
        <p:spPr>
          <a:xfrm>
            <a:off x="7589520" y="3931920"/>
            <a:ext cx="4053535" cy="603504"/>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Close and count   </a:t>
            </a:r>
            <a:r>
              <a:rPr sz="1100">
                <a:solidFill>
                  <a:srgbClr val="1B2430"/>
                </a:solidFill>
                <a:latin typeface="Segoe UI"/>
              </a:rPr>
              <a:t>two officials approve each step</a:t>
            </a:r>
          </a:p>
        </p:txBody>
      </p:sp>
      <p:cxnSp>
        <p:nvCxnSpPr>
          <p:cNvPr id="19" name="Connector 18"/>
          <p:cNvCxnSpPr>
            <a:stCxn id="16" idx="2"/>
            <a:endCxn id="18" idx="0"/>
          </p:cNvCxnSpPr>
          <p:nvPr/>
        </p:nvCxnSpPr>
        <p:spPr>
          <a:xfrm flipH="1">
            <a:off x="9616287" y="3767328"/>
            <a:ext cx="0" cy="164592"/>
          </a:xfrm>
          <a:prstGeom prst="line">
            <a:avLst/>
          </a:prstGeom>
          <a:ln w="12700">
            <a:solidFill>
              <a:srgbClr val="5B6675"/>
            </a:solidFill>
            <a:tailEnd type="triangle" w="med" len="med"/>
          </a:ln>
        </p:spPr>
      </p:cxnSp>
      <p:sp>
        <p:nvSpPr>
          <p:cNvPr id="20" name="Rectangle 19"/>
          <p:cNvSpPr/>
          <p:nvPr/>
        </p:nvSpPr>
        <p:spPr>
          <a:xfrm>
            <a:off x="7589520" y="4700016"/>
            <a:ext cx="4053535" cy="603504"/>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Declare   </a:t>
            </a:r>
            <a:r>
              <a:rPr sz="1100">
                <a:solidFill>
                  <a:srgbClr val="1B2430"/>
                </a:solidFill>
                <a:latin typeface="Segoe UI"/>
              </a:rPr>
              <a:t>results and shuffled ballots published</a:t>
            </a:r>
          </a:p>
        </p:txBody>
      </p:sp>
      <p:cxnSp>
        <p:nvCxnSpPr>
          <p:cNvPr id="21" name="Connector 20"/>
          <p:cNvCxnSpPr>
            <a:stCxn id="18" idx="2"/>
            <a:endCxn id="20" idx="0"/>
          </p:cNvCxnSpPr>
          <p:nvPr/>
        </p:nvCxnSpPr>
        <p:spPr>
          <a:xfrm flipH="1">
            <a:off x="9616287" y="4535424"/>
            <a:ext cx="0" cy="164592"/>
          </a:xfrm>
          <a:prstGeom prst="line">
            <a:avLst/>
          </a:prstGeom>
          <a:ln w="12700">
            <a:solidFill>
              <a:srgbClr val="5B6675"/>
            </a:solidFill>
            <a:tailEnd type="triangle" w="med" len="med"/>
          </a:ln>
        </p:spPr>
      </p:cxnSp>
      <p:sp>
        <p:nvSpPr>
          <p:cNvPr id="22" name="Rectangle 21"/>
          <p:cNvSpPr/>
          <p:nvPr/>
        </p:nvSpPr>
        <p:spPr>
          <a:xfrm>
            <a:off x="7589520" y="5468112"/>
            <a:ext cx="4053535" cy="603504"/>
          </a:xfrm>
          <a:prstGeom prst="rect">
            <a:avLst/>
          </a:prstGeom>
          <a:solidFill>
            <a:srgbClr val="F3F4F6"/>
          </a:solidFill>
          <a:ln>
            <a:noFill/>
          </a:ln>
        </p:spPr>
        <p:txBody>
          <a:bodyPr wrap="square" lIns="109728" rIns="109728" rtlCol="0" anchor="ctr"/>
          <a:lstStyle/>
          <a:p>
            <a:pPr algn="l">
              <a:spcAft>
                <a:spcPts val="0"/>
              </a:spcAft>
            </a:pPr>
            <a:r>
              <a:rPr sz="1100">
                <a:solidFill>
                  <a:srgbClr val="1B2430"/>
                </a:solidFill>
                <a:latin typeface="Segoe UI Semibold"/>
              </a:rPr>
              <a:t>Report   </a:t>
            </a:r>
            <a:r>
              <a:rPr sz="1100">
                <a:solidFill>
                  <a:srgbClr val="1B2430"/>
                </a:solidFill>
                <a:latin typeface="Segoe UI"/>
              </a:rPr>
              <a:t>the run writes a report of every step</a:t>
            </a:r>
          </a:p>
        </p:txBody>
      </p:sp>
      <p:cxnSp>
        <p:nvCxnSpPr>
          <p:cNvPr id="23" name="Connector 22"/>
          <p:cNvCxnSpPr>
            <a:stCxn id="20" idx="2"/>
            <a:endCxn id="22" idx="0"/>
          </p:cNvCxnSpPr>
          <p:nvPr/>
        </p:nvCxnSpPr>
        <p:spPr>
          <a:xfrm flipH="1">
            <a:off x="9616287" y="5303520"/>
            <a:ext cx="0" cy="164592"/>
          </a:xfrm>
          <a:prstGeom prst="line">
            <a:avLst/>
          </a:prstGeom>
          <a:ln w="12700">
            <a:solidFill>
              <a:srgbClr val="5B6675"/>
            </a:solidFill>
            <a:tailEnd type="triangl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Standards as design baselines, not certification</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11 / 12</a:t>
            </a:r>
          </a:p>
        </p:txBody>
      </p:sp>
      <p:graphicFrame>
        <p:nvGraphicFramePr>
          <p:cNvPr id="7" name="Table 6"/>
          <p:cNvGraphicFramePr>
            <a:graphicFrameLocks noGrp="1"/>
          </p:cNvGraphicFramePr>
          <p:nvPr/>
        </p:nvGraphicFramePr>
        <p:xfrm>
          <a:off x="548640" y="1325880"/>
          <a:ext cx="11091672" cy="3621024"/>
        </p:xfrm>
        <a:graphic>
          <a:graphicData uri="http://schemas.openxmlformats.org/drawingml/2006/table">
            <a:tbl>
              <a:tblPr>
                <a:tableStyleId>{2D5ABB26-0587-4C30-8999-92F81FD0307C}</a:tableStyleId>
              </a:tblPr>
              <a:tblGrid>
                <a:gridCol w="178308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gridCol w="3044952">
                  <a:extLst>
                    <a:ext uri="{9D8B030D-6E8A-4147-A177-3AD203B41FA5}">
                      <a16:colId xmlns:a16="http://schemas.microsoft.com/office/drawing/2014/main" val="20003"/>
                    </a:ext>
                  </a:extLst>
                </a:gridCol>
              </a:tblGrid>
              <a:tr h="329184">
                <a:tc>
                  <a:txBody>
                    <a:bodyPr/>
                    <a:lstStyle/>
                    <a:p>
                      <a:r>
                        <a:rPr sz="1100">
                          <a:solidFill>
                            <a:srgbClr val="1B2430"/>
                          </a:solidFill>
                          <a:latin typeface="Segoe UI Semibold"/>
                        </a:rPr>
                        <a:t>Standard</a:t>
                      </a: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100">
                          <a:solidFill>
                            <a:srgbClr val="1B2430"/>
                          </a:solidFill>
                          <a:latin typeface="Segoe UI Semibold"/>
                        </a:rPr>
                        <a:t>Expects</a:t>
                      </a: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100">
                          <a:solidFill>
                            <a:srgbClr val="1B2430"/>
                          </a:solidFill>
                          <a:latin typeface="Segoe UI Semibold"/>
                        </a:rPr>
                        <a:t>How the design answers</a:t>
                      </a:r>
                    </a:p>
                  </a:txBody>
                  <a:tcPr marL="73152" marR="73152" marT="36576" marB="36576" anchor="ctr">
                    <a:lnL w="0">
                      <a:noFill/>
                    </a:lnL>
                    <a:lnR w="0">
                      <a:noFill/>
                    </a:lnR>
                    <a:lnT w="0">
                      <a:noFill/>
                    </a:lnT>
                    <a:lnB w="12700">
                      <a:solidFill>
                        <a:srgbClr val="1B2430"/>
                      </a:solidFill>
                    </a:lnB>
                    <a:solidFill>
                      <a:srgbClr val="F3F4F6"/>
                    </a:solidFill>
                  </a:tcPr>
                </a:tc>
                <a:tc>
                  <a:txBody>
                    <a:bodyPr/>
                    <a:lstStyle/>
                    <a:p>
                      <a:r>
                        <a:rPr sz="1100">
                          <a:solidFill>
                            <a:srgbClr val="1B2430"/>
                          </a:solidFill>
                          <a:latin typeface="Segoe UI Semibold"/>
                        </a:rPr>
                        <a:t>Where it stops short</a:t>
                      </a:r>
                    </a:p>
                  </a:txBody>
                  <a:tcPr marL="73152" marR="73152" marT="36576" marB="36576" anchor="ctr">
                    <a:lnL w="0">
                      <a:noFill/>
                    </a:lnL>
                    <a:lnR w="0">
                      <a:noFill/>
                    </a:lnR>
                    <a:lnT w="0">
                      <a:noFill/>
                    </a:lnT>
                    <a:lnB w="12700">
                      <a:solidFill>
                        <a:srgbClr val="1B2430"/>
                      </a:solidFill>
                    </a:lnB>
                    <a:solidFill>
                      <a:srgbClr val="F3F4F6"/>
                    </a:solidFill>
                  </a:tcPr>
                </a:tc>
                <a:extLst>
                  <a:ext uri="{0D108BD9-81ED-4DB2-BD59-A6C34878D82A}">
                    <a16:rowId xmlns:a16="http://schemas.microsoft.com/office/drawing/2014/main" val="10000"/>
                  </a:ext>
                </a:extLst>
              </a:tr>
              <a:tr h="658368">
                <a:tc>
                  <a:txBody>
                    <a:bodyPr/>
                    <a:lstStyle/>
                    <a:p>
                      <a:r>
                        <a:rPr sz="1100">
                          <a:solidFill>
                            <a:srgbClr val="1B2430"/>
                          </a:solidFill>
                          <a:latin typeface="Segoe UI Semibold"/>
                        </a:rPr>
                        <a:t>CoE CM/Rec(2017)5</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secret, equal and verifiable e-voting</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sealed ballots, frozen roll, random candidate order, tracking codes, published shuffled ballots</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no end-to-end cryptographic proof</a:t>
                      </a:r>
                    </a:p>
                  </a:txBody>
                  <a:tcPr marL="73152" marR="73152" marT="36576" marB="36576">
                    <a:lnL w="0">
                      <a:noFill/>
                    </a:lnL>
                    <a:lnR w="0">
                      <a:noFill/>
                    </a:lnR>
                    <a:lnT w="12700" cap="flat" cmpd="sng" algn="ctr">
                      <a:solidFill>
                        <a:srgbClr val="1B2430"/>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1"/>
                  </a:ext>
                </a:extLst>
              </a:tr>
              <a:tr h="658368">
                <a:tc>
                  <a:txBody>
                    <a:bodyPr/>
                    <a:lstStyle/>
                    <a:p>
                      <a:r>
                        <a:rPr sz="1100">
                          <a:solidFill>
                            <a:srgbClr val="1B2430"/>
                          </a:solidFill>
                          <a:latin typeface="Segoe UI Semibold"/>
                        </a:rPr>
                        <a:t>VVSG 2.0</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secrecy, separation of duties, error handling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padded sealed ballots; posts per election; a failed cast writes nothing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no paper or hardware trail; no certification or load testing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2"/>
                  </a:ext>
                </a:extLst>
              </a:tr>
              <a:tr h="658368">
                <a:tc>
                  <a:txBody>
                    <a:bodyPr/>
                    <a:lstStyle/>
                    <a:p>
                      <a:r>
                        <a:rPr sz="1100">
                          <a:solidFill>
                            <a:srgbClr val="1B2430"/>
                          </a:solidFill>
                          <a:latin typeface="Segoe UI Semibold"/>
                        </a:rPr>
                        <a:t>ISO/IEC 27001</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access control, cryptography, logging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access tied to an accepted post and ended automatically; two-person rule; hash-chained log</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the management system is the organisation's job</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3"/>
                  </a:ext>
                </a:extLst>
              </a:tr>
              <a:tr h="658368">
                <a:tc>
                  <a:txBody>
                    <a:bodyPr/>
                    <a:lstStyle/>
                    <a:p>
                      <a:r>
                        <a:rPr sz="1100">
                          <a:solidFill>
                            <a:srgbClr val="1B2430"/>
                          </a:solidFill>
                          <a:latin typeface="Segoe UI Semibold"/>
                        </a:rPr>
                        <a:t>ISO/IEC 27018</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data minimisation and retention</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sealed ballot holds no member and no time; key destroyed after the election</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sub-processor and contract matters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4"/>
                  </a:ext>
                </a:extLst>
              </a:tr>
              <a:tr h="658368">
                <a:tc>
                  <a:txBody>
                    <a:bodyPr/>
                    <a:lstStyle/>
                    <a:p>
                      <a:r>
                        <a:rPr sz="1100">
                          <a:solidFill>
                            <a:srgbClr val="1B2430"/>
                          </a:solidFill>
                          <a:latin typeface="Segoe UI Semibold"/>
                        </a:rPr>
                        <a:t>WCAG 2.2 AA</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accessible voting screens</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keyboard, screen reader, contrast, focus and a review-then-cast step</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tc>
                  <a:txBody>
                    <a:bodyPr/>
                    <a:lstStyle/>
                    <a:p>
                      <a:r>
                        <a:rPr sz="1100">
                          <a:solidFill>
                            <a:srgbClr val="1B2430"/>
                          </a:solidFill>
                          <a:latin typeface="Segoe UI"/>
                        </a:rPr>
                        <a:t>assisted voting goes through the paper procedure</a:t>
                      </a:r>
                    </a:p>
                  </a:txBody>
                  <a:tcPr marL="73152" marR="73152" marT="36576" marB="36576">
                    <a:lnL w="0">
                      <a:noFill/>
                    </a:lnL>
                    <a:lnR w="0">
                      <a:noFill/>
                    </a:lnR>
                    <a:lnT w="9525" cap="flat" cmpd="sng" algn="ctr">
                      <a:solidFill>
                        <a:srgbClr val="C9CED6"/>
                      </a:solidFill>
                      <a:prstDash val="solid"/>
                      <a:round/>
                      <a:headEnd type="none" w="med" len="med"/>
                      <a:tailEnd type="none" w="med" len="med"/>
                    </a:lnT>
                    <a:lnB w="9525">
                      <a:solidFill>
                        <a:srgbClr val="C9CED6"/>
                      </a:solidFill>
                    </a:lnB>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548640" y="5138928"/>
            <a:ext cx="11094415" cy="1005840"/>
          </a:xfrm>
          <a:prstGeom prst="rect">
            <a:avLst/>
          </a:prstGeom>
          <a:noFill/>
        </p:spPr>
        <p:txBody>
          <a:bodyPr wrap="square" lIns="0" tIns="0" rIns="0" bIns="0" anchor="t"/>
          <a:lstStyle/>
          <a:p>
            <a:pPr algn="l">
              <a:spcAft>
                <a:spcPts val="0"/>
              </a:spcAft>
            </a:pPr>
            <a:r>
              <a:rPr sz="1200">
                <a:solidFill>
                  <a:srgbClr val="1B2430"/>
                </a:solidFill>
                <a:latin typeface="Segoe UI Semibold"/>
              </a:rPr>
              <a:t>Left out on purpose.  </a:t>
            </a:r>
            <a:r>
              <a:rPr sz="1200">
                <a:solidFill>
                  <a:srgbClr val="1B2430"/>
                </a:solidFill>
                <a:latin typeface="Segoe UI"/>
              </a:rPr>
              <a:t>A split ballot key, sealing on the voter's device, a roll objection window, load testing and certification. Each is named as a limit rather than claimed.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What is left, and questions</a:t>
            </a:r>
          </a:p>
        </p:txBody>
      </p:sp>
      <p:cxnSp>
        <p:nvCxnSpPr>
          <p:cNvPr id="3" name="Connector 2"/>
          <p:cNvCxnSpPr/>
          <p:nvPr/>
        </p:nvCxnSpPr>
        <p:spPr>
          <a:xfrm>
            <a:off x="548640" y="1024128"/>
            <a:ext cx="11094415" cy="0"/>
          </a:xfrm>
          <a:prstGeom prst="line">
            <a:avLst/>
          </a:prstGeom>
          <a:ln w="9525">
            <a:solidFill>
              <a:srgbClr val="C9CED6"/>
            </a:solidFill>
          </a:ln>
        </p:spPr>
      </p:cxnSp>
      <p:cxnSp>
        <p:nvCxnSpPr>
          <p:cNvPr id="4" name="Connector 3"/>
          <p:cNvCxnSpPr/>
          <p:nvPr/>
        </p:nvCxnSpPr>
        <p:spPr>
          <a:xfrm>
            <a:off x="548640" y="1024128"/>
            <a:ext cx="822960" cy="0"/>
          </a:xfrm>
          <a:prstGeom prst="line">
            <a:avLst/>
          </a:prstGeom>
          <a:ln w="31750">
            <a:solidFill>
              <a:srgbClr val="0F6C73"/>
            </a:solidFill>
          </a:ln>
        </p:spPr>
      </p:cxnSp>
      <p:sp>
        <p:nvSpPr>
          <p:cNvPr id="5" name="TextBox 4"/>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12 / 12</a:t>
            </a:r>
          </a:p>
        </p:txBody>
      </p:sp>
      <p:sp>
        <p:nvSpPr>
          <p:cNvPr id="7" name="TextBox 6"/>
          <p:cNvSpPr txBox="1"/>
          <p:nvPr/>
        </p:nvSpPr>
        <p:spPr>
          <a:xfrm>
            <a:off x="548640" y="1280160"/>
            <a:ext cx="59436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OPEN WORK</a:t>
            </a:r>
          </a:p>
        </p:txBody>
      </p:sp>
      <p:cxnSp>
        <p:nvCxnSpPr>
          <p:cNvPr id="8" name="Connector 7"/>
          <p:cNvCxnSpPr/>
          <p:nvPr/>
        </p:nvCxnSpPr>
        <p:spPr>
          <a:xfrm>
            <a:off x="548640" y="1645920"/>
            <a:ext cx="6035039" cy="0"/>
          </a:xfrm>
          <a:prstGeom prst="line">
            <a:avLst/>
          </a:prstGeom>
          <a:ln w="9525">
            <a:solidFill>
              <a:srgbClr val="C9CED6"/>
            </a:solidFill>
          </a:ln>
        </p:spPr>
      </p:cxnSp>
      <p:sp>
        <p:nvSpPr>
          <p:cNvPr id="9" name="TextBox 8"/>
          <p:cNvSpPr txBox="1"/>
          <p:nvPr/>
        </p:nvSpPr>
        <p:spPr>
          <a:xfrm>
            <a:off x="548640" y="1755648"/>
            <a:ext cx="6035040" cy="960120"/>
          </a:xfrm>
          <a:prstGeom prst="rect">
            <a:avLst/>
          </a:prstGeom>
          <a:noFill/>
        </p:spPr>
        <p:txBody>
          <a:bodyPr wrap="square" lIns="0" tIns="0" rIns="0" bIns="0" anchor="t"/>
          <a:lstStyle/>
          <a:p>
            <a:pPr algn="l">
              <a:spcAft>
                <a:spcPts val="300"/>
              </a:spcAft>
            </a:pPr>
            <a:r>
              <a:rPr sz="1500">
                <a:solidFill>
                  <a:srgbClr val="1B2430"/>
                </a:solidFill>
                <a:latin typeface="Segoe UI Semibold"/>
              </a:rPr>
              <a:t>86 to do, 28 partial</a:t>
            </a:r>
          </a:p>
          <a:p>
            <a:pPr algn="l">
              <a:spcAft>
                <a:spcPts val="0"/>
              </a:spcAft>
            </a:pPr>
            <a:r>
              <a:rPr sz="1250">
                <a:solidFill>
                  <a:srgbClr val="5B6675"/>
                </a:solidFill>
                <a:latin typeface="Segoe UI"/>
              </a:rPr>
              <a:t>in the tracker; finished work moves to an archive, so these counts understate progress</a:t>
            </a:r>
          </a:p>
        </p:txBody>
      </p:sp>
      <p:cxnSp>
        <p:nvCxnSpPr>
          <p:cNvPr id="10" name="Connector 9"/>
          <p:cNvCxnSpPr/>
          <p:nvPr/>
        </p:nvCxnSpPr>
        <p:spPr>
          <a:xfrm>
            <a:off x="548640" y="2834640"/>
            <a:ext cx="6035039" cy="0"/>
          </a:xfrm>
          <a:prstGeom prst="line">
            <a:avLst/>
          </a:prstGeom>
          <a:ln w="9525">
            <a:solidFill>
              <a:srgbClr val="C9CED6"/>
            </a:solidFill>
          </a:ln>
        </p:spPr>
      </p:cxnSp>
      <p:cxnSp>
        <p:nvCxnSpPr>
          <p:cNvPr id="12" name="Connector 11"/>
          <p:cNvCxnSpPr/>
          <p:nvPr/>
        </p:nvCxnSpPr>
        <p:spPr>
          <a:xfrm>
            <a:off x="548640" y="4023360"/>
            <a:ext cx="6035039" cy="0"/>
          </a:xfrm>
          <a:prstGeom prst="line">
            <a:avLst/>
          </a:prstGeom>
          <a:ln w="9525">
            <a:solidFill>
              <a:srgbClr val="C9CED6"/>
            </a:solidFill>
          </a:ln>
        </p:spPr>
      </p:cxnSp>
      <p:graphicFrame>
        <p:nvGraphicFramePr>
          <p:cNvPr id="15" name="Table 14">
            <a:extLst>
              <a:ext uri="{FF2B5EF4-FFF2-40B4-BE49-F238E27FC236}">
                <a16:creationId xmlns:a16="http://schemas.microsoft.com/office/drawing/2014/main" id="{FB7B51A4-04EF-BD96-B234-55BC4409B2E9}"/>
              </a:ext>
            </a:extLst>
          </p:cNvPr>
          <p:cNvGraphicFramePr>
            <a:graphicFrameLocks noGrp="1"/>
          </p:cNvGraphicFramePr>
          <p:nvPr>
            <p:extLst>
              <p:ext uri="{D42A27DB-BD31-4B8C-83A1-F6EECF244321}">
                <p14:modId xmlns:p14="http://schemas.microsoft.com/office/powerpoint/2010/main" val="2927576445"/>
              </p:ext>
            </p:extLst>
          </p:nvPr>
        </p:nvGraphicFramePr>
        <p:xfrm>
          <a:off x="4287520" y="2388540"/>
          <a:ext cx="6905415" cy="4469460"/>
        </p:xfrm>
        <a:graphic>
          <a:graphicData uri="http://schemas.openxmlformats.org/drawingml/2006/table">
            <a:tbl>
              <a:tblPr>
                <a:tableStyleId>{5C22544A-7EE6-4342-B048-85BDC9FD1C3A}</a:tableStyleId>
              </a:tblPr>
              <a:tblGrid>
                <a:gridCol w="2301805">
                  <a:extLst>
                    <a:ext uri="{9D8B030D-6E8A-4147-A177-3AD203B41FA5}">
                      <a16:colId xmlns:a16="http://schemas.microsoft.com/office/drawing/2014/main" val="2909966855"/>
                    </a:ext>
                  </a:extLst>
                </a:gridCol>
                <a:gridCol w="2301805">
                  <a:extLst>
                    <a:ext uri="{9D8B030D-6E8A-4147-A177-3AD203B41FA5}">
                      <a16:colId xmlns:a16="http://schemas.microsoft.com/office/drawing/2014/main" val="3689321574"/>
                    </a:ext>
                  </a:extLst>
                </a:gridCol>
                <a:gridCol w="2301805">
                  <a:extLst>
                    <a:ext uri="{9D8B030D-6E8A-4147-A177-3AD203B41FA5}">
                      <a16:colId xmlns:a16="http://schemas.microsoft.com/office/drawing/2014/main" val="3553014998"/>
                    </a:ext>
                  </a:extLst>
                </a:gridCol>
              </a:tblGrid>
              <a:tr h="104056">
                <a:tc>
                  <a:txBody>
                    <a:bodyPr/>
                    <a:lstStyle/>
                    <a:p>
                      <a:pPr algn="l">
                        <a:buNone/>
                      </a:pPr>
                      <a:r>
                        <a:rPr lang="en-US" sz="700">
                          <a:effectLst/>
                        </a:rPr>
                        <a:t>Document</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rPr>
                        <a:t>GitHub (preprod branch)</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rPr>
                        <a:t>Preprod / local</a:t>
                      </a: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2101345212"/>
                  </a:ext>
                </a:extLst>
              </a:tr>
              <a:tr h="288239">
                <a:tc>
                  <a:txBody>
                    <a:bodyPr/>
                    <a:lstStyle/>
                    <a:p>
                      <a:pPr algn="l">
                        <a:buNone/>
                      </a:pPr>
                      <a:r>
                        <a:rPr lang="en-US" sz="700">
                          <a:effectLst/>
                        </a:rPr>
                        <a:t>ERD (book section 5.6, Data Modelling)</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3"/>
                        </a:rPr>
                        <a:t>https://github.com/shalin-rahman/GHCAA/blob/preprod/docs/book/05-system-analysis.md#56-data-modelling-and-analysis-model-review</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dirty="0">
                        <a:solidFill>
                          <a:srgbClr val="BFBFBF"/>
                        </a:solidFill>
                        <a:effectLst/>
                        <a:latin typeface="-apple-system"/>
                      </a:endParaRPr>
                    </a:p>
                  </a:txBody>
                  <a:tcPr marL="10298" marR="10298" marT="10298" marB="10298" anchor="ctr"/>
                </a:tc>
                <a:extLst>
                  <a:ext uri="{0D108BD9-81ED-4DB2-BD59-A6C34878D82A}">
                    <a16:rowId xmlns:a16="http://schemas.microsoft.com/office/drawing/2014/main" val="1765435952"/>
                  </a:ext>
                </a:extLst>
              </a:tr>
              <a:tr h="191274">
                <a:tc>
                  <a:txBody>
                    <a:bodyPr/>
                    <a:lstStyle/>
                    <a:p>
                      <a:pPr algn="l">
                        <a:buNone/>
                      </a:pPr>
                      <a:r>
                        <a:rPr lang="en-US" sz="700">
                          <a:effectLst/>
                        </a:rPr>
                        <a:t>SRS</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4"/>
                        </a:rPr>
                        <a:t>https://github.com/shalin-rahman/GHCAA/blob/preprod/docs/SRS.md</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3152576386"/>
                  </a:ext>
                </a:extLst>
              </a:tr>
              <a:tr h="278492">
                <a:tc>
                  <a:txBody>
                    <a:bodyPr/>
                    <a:lstStyle/>
                    <a:p>
                      <a:pPr algn="l">
                        <a:buNone/>
                      </a:pPr>
                      <a:r>
                        <a:rPr lang="en-US" sz="700">
                          <a:effectLst/>
                        </a:rPr>
                        <a:t>Functional requirements (SRS section 3)</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5"/>
                        </a:rPr>
                        <a:t>https://github.com/shalin-rahman/GHCAA/blob/preprod/docs/SRS.md#3-functional-requirements-fr</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2771541504"/>
                  </a:ext>
                </a:extLst>
              </a:tr>
              <a:tr h="278492">
                <a:tc>
                  <a:txBody>
                    <a:bodyPr/>
                    <a:lstStyle/>
                    <a:p>
                      <a:pPr algn="l">
                        <a:buNone/>
                      </a:pPr>
                      <a:r>
                        <a:rPr lang="en-US" sz="700">
                          <a:effectLst/>
                        </a:rPr>
                        <a:t>Functional requirements (book section 3.3)</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6"/>
                        </a:rPr>
                        <a:t>https://github.com/shalin-rahman/GHCAA/blob/preprod/docs/book/03-requirements.md#33-requirements-specification</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4158759897"/>
                  </a:ext>
                </a:extLst>
              </a:tr>
              <a:tr h="278492">
                <a:tc>
                  <a:txBody>
                    <a:bodyPr/>
                    <a:lstStyle/>
                    <a:p>
                      <a:pPr algn="l">
                        <a:buNone/>
                      </a:pPr>
                      <a:r>
                        <a:rPr lang="en-US" sz="700">
                          <a:effectLst/>
                        </a:rPr>
                        <a:t>Non-functional requirements (SRS section 4)</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7"/>
                        </a:rPr>
                        <a:t>https://github.com/shalin-rahman/GHCAA/blob/preprod/docs/SRS.md#4-non-functional-requirements-nfr</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4076654057"/>
                  </a:ext>
                </a:extLst>
              </a:tr>
              <a:tr h="365710">
                <a:tc>
                  <a:txBody>
                    <a:bodyPr/>
                    <a:lstStyle/>
                    <a:p>
                      <a:pPr algn="l">
                        <a:buNone/>
                      </a:pPr>
                      <a:r>
                        <a:rPr lang="en-US" sz="700">
                          <a:effectLst/>
                        </a:rPr>
                        <a:t>Non-functional requirements (book section 3.4)</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8"/>
                        </a:rPr>
                        <a:t>https://github.com/shalin-rahman/GHCAA/blob/preprod/docs/book/03-requirements.md#34-non-functional-requirements-and-quality-attribute-scenarios</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2403148802"/>
                  </a:ext>
                </a:extLst>
              </a:tr>
              <a:tr h="365710">
                <a:tc>
                  <a:txBody>
                    <a:bodyPr/>
                    <a:lstStyle/>
                    <a:p>
                      <a:pPr algn="l">
                        <a:buNone/>
                      </a:pPr>
                      <a:r>
                        <a:rPr lang="en-US" sz="700">
                          <a:effectLst/>
                        </a:rPr>
                        <a:t>Book HTML</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9"/>
                        </a:rPr>
                        <a:t>https://github.com/shalin-rahman/GHCAA/blob/preprod/docs/book/GHCAA-Documentation-Book.html</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rPr>
                        <a:t>Rendered (public repo only): </a:t>
                      </a:r>
                      <a:r>
                        <a:rPr lang="en-US" sz="700">
                          <a:effectLst/>
                          <a:hlinkClick r:id="rId10"/>
                        </a:rPr>
                        <a:t>https://htmlpreview.github.io/?https://github.com/shalin-rahman/GHCAA/blob/preprod/docs/book/GHCAA-Documentation-Book.html</a:t>
                      </a: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2063774775"/>
                  </a:ext>
                </a:extLst>
              </a:tr>
              <a:tr h="278492">
                <a:tc>
                  <a:txBody>
                    <a:bodyPr/>
                    <a:lstStyle/>
                    <a:p>
                      <a:pPr algn="l">
                        <a:buNone/>
                      </a:pPr>
                      <a:r>
                        <a:rPr lang="en-US" sz="700">
                          <a:effectLst/>
                        </a:rPr>
                        <a:t>Book HTML, two-column</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11"/>
                        </a:rPr>
                        <a:t>https://github.com/shalin-rahman/GHCAA/blob/preprod/docs/book/GHCAA-Documentation-Book-2col.html</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574942612"/>
                  </a:ext>
                </a:extLst>
              </a:tr>
              <a:tr h="278492">
                <a:tc>
                  <a:txBody>
                    <a:bodyPr/>
                    <a:lstStyle/>
                    <a:p>
                      <a:pPr algn="l">
                        <a:buNone/>
                      </a:pPr>
                      <a:r>
                        <a:rPr lang="en-US" sz="700">
                          <a:effectLst/>
                        </a:rPr>
                        <a:t>Election master overview</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12"/>
                        </a:rPr>
                        <a:t>https://github.com/shalin-rahman/GHCAA/blob/preprod/docs/Elections/00-Election-Master-Overview.md</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2116855814"/>
                  </a:ext>
                </a:extLst>
              </a:tr>
              <a:tr h="278492">
                <a:tc>
                  <a:txBody>
                    <a:bodyPr/>
                    <a:lstStyle/>
                    <a:p>
                      <a:pPr algn="l">
                        <a:buNone/>
                      </a:pPr>
                      <a:r>
                        <a:rPr lang="en-US" sz="700">
                          <a:effectLst/>
                        </a:rPr>
                        <a:t>Spec 023 (ballot secrecy)</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13"/>
                        </a:rPr>
                        <a:t>https://github.com/shalin-rahman/GHCAA/blob/preprod/docs/specs/023-election-ballot-secrecy-and-standards/spec.md</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3323631591"/>
                  </a:ext>
                </a:extLst>
              </a:tr>
              <a:tr h="191274">
                <a:tc>
                  <a:txBody>
                    <a:bodyPr/>
                    <a:lstStyle/>
                    <a:p>
                      <a:pPr algn="l">
                        <a:buNone/>
                      </a:pPr>
                      <a:r>
                        <a:rPr lang="en-US" sz="700">
                          <a:effectLst/>
                        </a:rPr>
                        <a:t>TODO</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14"/>
                        </a:rPr>
                        <a:t>https://github.com/shalin-rahman/GHCAA/blob/preprod/docs/TODO.md</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1453299862"/>
                  </a:ext>
                </a:extLst>
              </a:tr>
              <a:tr h="207367">
                <a:tc>
                  <a:txBody>
                    <a:bodyPr/>
                    <a:lstStyle/>
                    <a:p>
                      <a:pPr algn="l">
                        <a:buNone/>
                      </a:pPr>
                      <a:r>
                        <a:rPr lang="en-US" sz="700">
                          <a:effectLst/>
                        </a:rPr>
                        <a:t>Tracker HTML</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rPr>
                        <a:t>Not on GitHub (git-ignored)</a:t>
                      </a: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rPr>
                        <a:t>Local: </a:t>
                      </a:r>
                      <a:r>
                        <a:rPr lang="en-US" sz="700">
                          <a:effectLst/>
                          <a:hlinkClick r:id="rId15"/>
                        </a:rPr>
                        <a:t>docs/book/build/tracker.html</a:t>
                      </a:r>
                      <a:r>
                        <a:rPr lang="en-US" sz="700">
                          <a:effectLst/>
                        </a:rPr>
                        <a:t>, made by python docs/book/build/tracker_page.py</a:t>
                      </a: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2960727623"/>
                  </a:ext>
                </a:extLst>
              </a:tr>
              <a:tr h="191274">
                <a:tc>
                  <a:txBody>
                    <a:bodyPr/>
                    <a:lstStyle/>
                    <a:p>
                      <a:pPr algn="l">
                        <a:buNone/>
                      </a:pPr>
                      <a:r>
                        <a:rPr lang="en-US" sz="700">
                          <a:effectLst/>
                        </a:rPr>
                        <a:t>Dev Tracker page</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tc>
                  <a:txBody>
                    <a:bodyPr/>
                    <a:lstStyle/>
                    <a:p>
                      <a:pPr algn="l">
                        <a:buNone/>
                      </a:pPr>
                      <a:r>
                        <a:rPr lang="en-US" sz="700">
                          <a:effectLst/>
                          <a:hlinkClick r:id="rId16"/>
                        </a:rPr>
                        <a:t>https://ghcaa-ryl6.onrender.com/admin/dev-tracker</a:t>
                      </a:r>
                      <a:r>
                        <a:rPr lang="en-US" sz="700">
                          <a:effectLst/>
                        </a:rPr>
                        <a:t> (SuperAdmin login)</a:t>
                      </a:r>
                      <a:endParaRPr lang="en-US" sz="700" b="0" i="0">
                        <a:solidFill>
                          <a:srgbClr val="BFBFBF"/>
                        </a:solidFill>
                        <a:effectLst/>
                        <a:latin typeface="-apple-system"/>
                      </a:endParaRPr>
                    </a:p>
                  </a:txBody>
                  <a:tcPr marL="10298" marR="10298" marT="10298" marB="10298" anchor="ctr"/>
                </a:tc>
                <a:extLst>
                  <a:ext uri="{0D108BD9-81ED-4DB2-BD59-A6C34878D82A}">
                    <a16:rowId xmlns:a16="http://schemas.microsoft.com/office/drawing/2014/main" val="2481490186"/>
                  </a:ext>
                </a:extLst>
              </a:tr>
              <a:tr h="104056">
                <a:tc>
                  <a:txBody>
                    <a:bodyPr/>
                    <a:lstStyle/>
                    <a:p>
                      <a:pPr algn="l">
                        <a:buNone/>
                      </a:pPr>
                      <a:r>
                        <a:rPr lang="en-US" sz="700">
                          <a:effectLst/>
                        </a:rPr>
                        <a:t>Preprod site</a:t>
                      </a:r>
                      <a:endParaRPr lang="en-US" sz="700" b="0" i="0">
                        <a:solidFill>
                          <a:srgbClr val="BFBFBF"/>
                        </a:solidFill>
                        <a:effectLst/>
                        <a:latin typeface="-apple-system"/>
                      </a:endParaRPr>
                    </a:p>
                  </a:txBody>
                  <a:tcPr marL="10298" marR="10298" marT="10298" marB="10298" anchor="ctr"/>
                </a:tc>
                <a:tc>
                  <a:txBody>
                    <a:bodyPr/>
                    <a:lstStyle/>
                    <a:p>
                      <a:pPr algn="l">
                        <a:buNone/>
                      </a:pPr>
                      <a:endParaRPr lang="en-US" sz="700" b="0" i="0">
                        <a:solidFill>
                          <a:srgbClr val="BFBFBF"/>
                        </a:solidFill>
                        <a:effectLst/>
                        <a:latin typeface="-apple-system"/>
                      </a:endParaRPr>
                    </a:p>
                  </a:txBody>
                  <a:tcPr marL="10298" marR="10298" marT="10298" marB="10298" anchor="ctr"/>
                </a:tc>
                <a:tc>
                  <a:txBody>
                    <a:bodyPr/>
                    <a:lstStyle/>
                    <a:p>
                      <a:pPr algn="l">
                        <a:buNone/>
                      </a:pPr>
                      <a:r>
                        <a:rPr lang="en-US" sz="700" dirty="0">
                          <a:effectLst/>
                          <a:hlinkClick r:id="rId17"/>
                        </a:rPr>
                        <a:t>https://ghcaa-ryl6.onrender.com</a:t>
                      </a:r>
                      <a:endParaRPr lang="en-US" sz="700" b="0" i="0" dirty="0">
                        <a:solidFill>
                          <a:srgbClr val="BFBFBF"/>
                        </a:solidFill>
                        <a:effectLst/>
                        <a:latin typeface="-apple-system"/>
                      </a:endParaRPr>
                    </a:p>
                  </a:txBody>
                  <a:tcPr marL="10298" marR="10298" marT="10298" marB="10298" anchor="ctr"/>
                </a:tc>
                <a:extLst>
                  <a:ext uri="{0D108BD9-81ED-4DB2-BD59-A6C34878D82A}">
                    <a16:rowId xmlns:a16="http://schemas.microsoft.com/office/drawing/2014/main" val="25255337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FBA5D-804F-DB40-FD10-70A638E0A9D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6EFC4D-6ACF-FEB6-0667-DA4FDD2452B5}"/>
              </a:ext>
            </a:extLst>
          </p:cNvPr>
          <p:cNvSpPr txBox="1"/>
          <p:nvPr/>
        </p:nvSpPr>
        <p:spPr>
          <a:xfrm>
            <a:off x="548640" y="347472"/>
            <a:ext cx="11094415" cy="566928"/>
          </a:xfrm>
          <a:prstGeom prst="rect">
            <a:avLst/>
          </a:prstGeom>
          <a:noFill/>
        </p:spPr>
        <p:txBody>
          <a:bodyPr wrap="square" lIns="0" tIns="0" rIns="0" bIns="0" anchor="b"/>
          <a:lstStyle/>
          <a:p>
            <a:pPr algn="l">
              <a:spcAft>
                <a:spcPts val="0"/>
              </a:spcAft>
            </a:pPr>
            <a:r>
              <a:rPr sz="2600">
                <a:solidFill>
                  <a:srgbClr val="1B2430"/>
                </a:solidFill>
                <a:latin typeface="Segoe UI Semibold"/>
              </a:rPr>
              <a:t>What is left, and questions</a:t>
            </a:r>
          </a:p>
        </p:txBody>
      </p:sp>
      <p:cxnSp>
        <p:nvCxnSpPr>
          <p:cNvPr id="3" name="Connector 2">
            <a:extLst>
              <a:ext uri="{FF2B5EF4-FFF2-40B4-BE49-F238E27FC236}">
                <a16:creationId xmlns:a16="http://schemas.microsoft.com/office/drawing/2014/main" id="{883D0F7F-3A07-4D55-3E68-37CBD89F18AE}"/>
              </a:ext>
            </a:extLst>
          </p:cNvPr>
          <p:cNvCxnSpPr/>
          <p:nvPr/>
        </p:nvCxnSpPr>
        <p:spPr>
          <a:xfrm>
            <a:off x="548640" y="1024128"/>
            <a:ext cx="11094415" cy="0"/>
          </a:xfrm>
          <a:prstGeom prst="line">
            <a:avLst/>
          </a:prstGeom>
          <a:ln w="9525">
            <a:solidFill>
              <a:srgbClr val="C9CED6"/>
            </a:solidFill>
          </a:ln>
        </p:spPr>
      </p:cxnSp>
      <p:cxnSp>
        <p:nvCxnSpPr>
          <p:cNvPr id="4" name="Connector 3">
            <a:extLst>
              <a:ext uri="{FF2B5EF4-FFF2-40B4-BE49-F238E27FC236}">
                <a16:creationId xmlns:a16="http://schemas.microsoft.com/office/drawing/2014/main" id="{EB9AD0B7-C4CD-2685-3C2D-AC5074429727}"/>
              </a:ext>
            </a:extLst>
          </p:cNvPr>
          <p:cNvCxnSpPr/>
          <p:nvPr/>
        </p:nvCxnSpPr>
        <p:spPr>
          <a:xfrm>
            <a:off x="548640" y="1024128"/>
            <a:ext cx="822960" cy="0"/>
          </a:xfrm>
          <a:prstGeom prst="line">
            <a:avLst/>
          </a:prstGeom>
          <a:ln w="31750">
            <a:solidFill>
              <a:srgbClr val="0F6C73"/>
            </a:solidFill>
          </a:ln>
        </p:spPr>
      </p:cxnSp>
      <p:sp>
        <p:nvSpPr>
          <p:cNvPr id="5" name="TextBox 4">
            <a:extLst>
              <a:ext uri="{FF2B5EF4-FFF2-40B4-BE49-F238E27FC236}">
                <a16:creationId xmlns:a16="http://schemas.microsoft.com/office/drawing/2014/main" id="{C472ED79-59CA-C354-BBDB-EEAE3203324E}"/>
              </a:ext>
            </a:extLst>
          </p:cNvPr>
          <p:cNvSpPr txBox="1"/>
          <p:nvPr/>
        </p:nvSpPr>
        <p:spPr>
          <a:xfrm>
            <a:off x="548640" y="6400800"/>
            <a:ext cx="7315200" cy="274320"/>
          </a:xfrm>
          <a:prstGeom prst="rect">
            <a:avLst/>
          </a:prstGeom>
          <a:noFill/>
        </p:spPr>
        <p:txBody>
          <a:bodyPr wrap="square" lIns="0" tIns="0" rIns="0" bIns="0" anchor="t"/>
          <a:lstStyle/>
          <a:p>
            <a:pPr algn="l">
              <a:spcAft>
                <a:spcPts val="0"/>
              </a:spcAft>
            </a:pPr>
            <a:r>
              <a:rPr sz="1000">
                <a:solidFill>
                  <a:srgbClr val="5B6675"/>
                </a:solidFill>
                <a:latin typeface="Segoe UI"/>
              </a:rPr>
              <a:t>GHCAA progress review  ·  31 October 2026</a:t>
            </a:r>
          </a:p>
        </p:txBody>
      </p:sp>
      <p:sp>
        <p:nvSpPr>
          <p:cNvPr id="6" name="TextBox 5">
            <a:extLst>
              <a:ext uri="{FF2B5EF4-FFF2-40B4-BE49-F238E27FC236}">
                <a16:creationId xmlns:a16="http://schemas.microsoft.com/office/drawing/2014/main" id="{7A381847-1BF7-6F8F-0505-1F286482D193}"/>
              </a:ext>
            </a:extLst>
          </p:cNvPr>
          <p:cNvSpPr txBox="1"/>
          <p:nvPr/>
        </p:nvSpPr>
        <p:spPr>
          <a:xfrm>
            <a:off x="10271455" y="6400800"/>
            <a:ext cx="1371600" cy="274320"/>
          </a:xfrm>
          <a:prstGeom prst="rect">
            <a:avLst/>
          </a:prstGeom>
          <a:noFill/>
        </p:spPr>
        <p:txBody>
          <a:bodyPr wrap="square" lIns="0" tIns="0" rIns="0" bIns="0" anchor="t"/>
          <a:lstStyle/>
          <a:p>
            <a:pPr algn="r">
              <a:spcAft>
                <a:spcPts val="0"/>
              </a:spcAft>
            </a:pPr>
            <a:r>
              <a:rPr sz="1000">
                <a:solidFill>
                  <a:srgbClr val="5B6675"/>
                </a:solidFill>
                <a:latin typeface="Segoe UI"/>
              </a:rPr>
              <a:t>12 / 12</a:t>
            </a:r>
          </a:p>
        </p:txBody>
      </p:sp>
      <p:sp>
        <p:nvSpPr>
          <p:cNvPr id="7" name="TextBox 6">
            <a:extLst>
              <a:ext uri="{FF2B5EF4-FFF2-40B4-BE49-F238E27FC236}">
                <a16:creationId xmlns:a16="http://schemas.microsoft.com/office/drawing/2014/main" id="{60C919AA-48CB-1123-A60F-2803732BC7AE}"/>
              </a:ext>
            </a:extLst>
          </p:cNvPr>
          <p:cNvSpPr txBox="1"/>
          <p:nvPr/>
        </p:nvSpPr>
        <p:spPr>
          <a:xfrm>
            <a:off x="548640" y="1280160"/>
            <a:ext cx="5943600" cy="274320"/>
          </a:xfrm>
          <a:prstGeom prst="rect">
            <a:avLst/>
          </a:prstGeom>
          <a:noFill/>
        </p:spPr>
        <p:txBody>
          <a:bodyPr wrap="square" lIns="0" tIns="0" rIns="0" bIns="0" anchor="t"/>
          <a:lstStyle/>
          <a:p>
            <a:pPr algn="l">
              <a:spcAft>
                <a:spcPts val="0"/>
              </a:spcAft>
            </a:pPr>
            <a:r>
              <a:rPr sz="1050">
                <a:solidFill>
                  <a:srgbClr val="5B6675"/>
                </a:solidFill>
                <a:latin typeface="Segoe UI Semibold"/>
              </a:rPr>
              <a:t>OPEN WORK</a:t>
            </a:r>
          </a:p>
        </p:txBody>
      </p:sp>
      <p:cxnSp>
        <p:nvCxnSpPr>
          <p:cNvPr id="8" name="Connector 7">
            <a:extLst>
              <a:ext uri="{FF2B5EF4-FFF2-40B4-BE49-F238E27FC236}">
                <a16:creationId xmlns:a16="http://schemas.microsoft.com/office/drawing/2014/main" id="{71CB9976-3013-8B2D-6164-2A3A0ED32420}"/>
              </a:ext>
            </a:extLst>
          </p:cNvPr>
          <p:cNvCxnSpPr/>
          <p:nvPr/>
        </p:nvCxnSpPr>
        <p:spPr>
          <a:xfrm>
            <a:off x="548640" y="1645920"/>
            <a:ext cx="6035039" cy="0"/>
          </a:xfrm>
          <a:prstGeom prst="line">
            <a:avLst/>
          </a:prstGeom>
          <a:ln w="9525">
            <a:solidFill>
              <a:srgbClr val="C9CED6"/>
            </a:solidFill>
          </a:ln>
        </p:spPr>
      </p:cxnSp>
      <p:sp>
        <p:nvSpPr>
          <p:cNvPr id="9" name="TextBox 8">
            <a:extLst>
              <a:ext uri="{FF2B5EF4-FFF2-40B4-BE49-F238E27FC236}">
                <a16:creationId xmlns:a16="http://schemas.microsoft.com/office/drawing/2014/main" id="{6D50092E-1D3D-98D3-EC41-F34F824ED08B}"/>
              </a:ext>
            </a:extLst>
          </p:cNvPr>
          <p:cNvSpPr txBox="1"/>
          <p:nvPr/>
        </p:nvSpPr>
        <p:spPr>
          <a:xfrm>
            <a:off x="548640" y="1755648"/>
            <a:ext cx="6035040" cy="960120"/>
          </a:xfrm>
          <a:prstGeom prst="rect">
            <a:avLst/>
          </a:prstGeom>
          <a:noFill/>
        </p:spPr>
        <p:txBody>
          <a:bodyPr wrap="square" lIns="0" tIns="0" rIns="0" bIns="0" anchor="t"/>
          <a:lstStyle/>
          <a:p>
            <a:pPr algn="l">
              <a:spcAft>
                <a:spcPts val="300"/>
              </a:spcAft>
            </a:pPr>
            <a:r>
              <a:rPr sz="1500">
                <a:solidFill>
                  <a:srgbClr val="1B2430"/>
                </a:solidFill>
                <a:latin typeface="Segoe UI Semibold"/>
              </a:rPr>
              <a:t>86 to do, 28 partial</a:t>
            </a:r>
          </a:p>
          <a:p>
            <a:pPr algn="l">
              <a:spcAft>
                <a:spcPts val="0"/>
              </a:spcAft>
            </a:pPr>
            <a:r>
              <a:rPr sz="1250">
                <a:solidFill>
                  <a:srgbClr val="5B6675"/>
                </a:solidFill>
                <a:latin typeface="Segoe UI"/>
              </a:rPr>
              <a:t>in the tracker; finished work moves to an archive, so these counts understate progress</a:t>
            </a:r>
          </a:p>
        </p:txBody>
      </p:sp>
      <p:cxnSp>
        <p:nvCxnSpPr>
          <p:cNvPr id="10" name="Connector 9">
            <a:extLst>
              <a:ext uri="{FF2B5EF4-FFF2-40B4-BE49-F238E27FC236}">
                <a16:creationId xmlns:a16="http://schemas.microsoft.com/office/drawing/2014/main" id="{17CF9439-1B27-DF02-CD15-AFA190533519}"/>
              </a:ext>
            </a:extLst>
          </p:cNvPr>
          <p:cNvCxnSpPr/>
          <p:nvPr/>
        </p:nvCxnSpPr>
        <p:spPr>
          <a:xfrm>
            <a:off x="548640" y="2834640"/>
            <a:ext cx="6035039" cy="0"/>
          </a:xfrm>
          <a:prstGeom prst="line">
            <a:avLst/>
          </a:prstGeom>
          <a:ln w="9525">
            <a:solidFill>
              <a:srgbClr val="C9CED6"/>
            </a:solidFill>
          </a:ln>
        </p:spPr>
      </p:cxnSp>
      <p:sp>
        <p:nvSpPr>
          <p:cNvPr id="11" name="TextBox 10">
            <a:extLst>
              <a:ext uri="{FF2B5EF4-FFF2-40B4-BE49-F238E27FC236}">
                <a16:creationId xmlns:a16="http://schemas.microsoft.com/office/drawing/2014/main" id="{91138095-FC21-78C1-8FDF-E9917E90481F}"/>
              </a:ext>
            </a:extLst>
          </p:cNvPr>
          <p:cNvSpPr txBox="1"/>
          <p:nvPr/>
        </p:nvSpPr>
        <p:spPr>
          <a:xfrm>
            <a:off x="548640" y="2944368"/>
            <a:ext cx="6035040" cy="960120"/>
          </a:xfrm>
          <a:prstGeom prst="rect">
            <a:avLst/>
          </a:prstGeom>
          <a:noFill/>
        </p:spPr>
        <p:txBody>
          <a:bodyPr wrap="square" lIns="0" tIns="0" rIns="0" bIns="0" anchor="t"/>
          <a:lstStyle/>
          <a:p>
            <a:pPr algn="l">
              <a:spcAft>
                <a:spcPts val="300"/>
              </a:spcAft>
            </a:pPr>
            <a:r>
              <a:rPr sz="1500">
                <a:solidFill>
                  <a:srgbClr val="1B2430"/>
                </a:solidFill>
                <a:latin typeface="Segoe UI Semibold"/>
              </a:rPr>
              <a:t>Waiting on the election calendar</a:t>
            </a:r>
          </a:p>
          <a:p>
            <a:pPr algn="l">
              <a:spcAft>
                <a:spcPts val="0"/>
              </a:spcAft>
            </a:pPr>
            <a:r>
              <a:rPr sz="1250">
                <a:solidFill>
                  <a:srgbClr val="5B6675"/>
                </a:solidFill>
                <a:latin typeface="Segoe UI"/>
              </a:rPr>
              <a:t>phone checks on a real device and two follow-up fixes</a:t>
            </a:r>
          </a:p>
        </p:txBody>
      </p:sp>
      <p:cxnSp>
        <p:nvCxnSpPr>
          <p:cNvPr id="12" name="Connector 11">
            <a:extLst>
              <a:ext uri="{FF2B5EF4-FFF2-40B4-BE49-F238E27FC236}">
                <a16:creationId xmlns:a16="http://schemas.microsoft.com/office/drawing/2014/main" id="{242A82BF-6AD1-6AF6-EB6D-7733D99EC12D}"/>
              </a:ext>
            </a:extLst>
          </p:cNvPr>
          <p:cNvCxnSpPr/>
          <p:nvPr/>
        </p:nvCxnSpPr>
        <p:spPr>
          <a:xfrm>
            <a:off x="548640" y="4023360"/>
            <a:ext cx="6035039" cy="0"/>
          </a:xfrm>
          <a:prstGeom prst="line">
            <a:avLst/>
          </a:prstGeom>
          <a:ln w="9525">
            <a:solidFill>
              <a:srgbClr val="C9CED6"/>
            </a:solidFill>
          </a:ln>
        </p:spPr>
      </p:cxnSp>
      <p:sp>
        <p:nvSpPr>
          <p:cNvPr id="13" name="TextBox 12">
            <a:extLst>
              <a:ext uri="{FF2B5EF4-FFF2-40B4-BE49-F238E27FC236}">
                <a16:creationId xmlns:a16="http://schemas.microsoft.com/office/drawing/2014/main" id="{1A53F283-D11A-EB17-6131-30E6CCFE6D1A}"/>
              </a:ext>
            </a:extLst>
          </p:cNvPr>
          <p:cNvSpPr txBox="1"/>
          <p:nvPr/>
        </p:nvSpPr>
        <p:spPr>
          <a:xfrm>
            <a:off x="548640" y="4133088"/>
            <a:ext cx="6035040" cy="960120"/>
          </a:xfrm>
          <a:prstGeom prst="rect">
            <a:avLst/>
          </a:prstGeom>
          <a:noFill/>
        </p:spPr>
        <p:txBody>
          <a:bodyPr wrap="square" lIns="0" tIns="0" rIns="0" bIns="0" anchor="t"/>
          <a:lstStyle/>
          <a:p>
            <a:pPr algn="l">
              <a:spcAft>
                <a:spcPts val="300"/>
              </a:spcAft>
            </a:pPr>
            <a:r>
              <a:rPr sz="1500">
                <a:solidFill>
                  <a:srgbClr val="1B2430"/>
                </a:solidFill>
                <a:latin typeface="Segoe UI Semibold"/>
              </a:rPr>
              <a:t>First live election</a:t>
            </a:r>
          </a:p>
          <a:p>
            <a:pPr algn="l">
              <a:spcAft>
                <a:spcPts val="0"/>
              </a:spcAft>
            </a:pPr>
            <a:r>
              <a:rPr sz="1250">
                <a:solidFill>
                  <a:srgbClr val="5B6675"/>
                </a:solidFill>
                <a:latin typeface="Segoe UI"/>
              </a:rPr>
              <a:t>then a report on how it ran, set against the quality scenarios</a:t>
            </a:r>
          </a:p>
        </p:txBody>
      </p:sp>
      <p:sp>
        <p:nvSpPr>
          <p:cNvPr id="14" name="Rectangle 13">
            <a:extLst>
              <a:ext uri="{FF2B5EF4-FFF2-40B4-BE49-F238E27FC236}">
                <a16:creationId xmlns:a16="http://schemas.microsoft.com/office/drawing/2014/main" id="{A07E46DA-E10B-27A3-EB7E-96B6CA01CE80}"/>
              </a:ext>
            </a:extLst>
          </p:cNvPr>
          <p:cNvSpPr/>
          <p:nvPr/>
        </p:nvSpPr>
        <p:spPr>
          <a:xfrm>
            <a:off x="7315200" y="1325880"/>
            <a:ext cx="4327855" cy="4846320"/>
          </a:xfrm>
          <a:prstGeom prst="rect">
            <a:avLst/>
          </a:prstGeom>
          <a:solidFill>
            <a:srgbClr val="F3F4F6"/>
          </a:solidFill>
          <a:ln>
            <a:noFill/>
          </a:ln>
        </p:spPr>
        <p:txBody>
          <a:bodyPr wrap="square" lIns="411480" rIns="411480" rtlCol="0" anchor="ctr"/>
          <a:lstStyle/>
          <a:p>
            <a:pPr algn="l">
              <a:spcAft>
                <a:spcPts val="1000"/>
              </a:spcAft>
            </a:pPr>
            <a:r>
              <a:rPr sz="4000">
                <a:solidFill>
                  <a:srgbClr val="1B2430"/>
                </a:solidFill>
                <a:latin typeface="Segoe UI Semibold"/>
              </a:rPr>
              <a:t>Questions</a:t>
            </a:r>
          </a:p>
          <a:p>
            <a:pPr algn="l">
              <a:spcAft>
                <a:spcPts val="2600"/>
              </a:spcAft>
            </a:pPr>
            <a:r>
              <a:rPr sz="2000">
                <a:solidFill>
                  <a:srgbClr val="5B6675"/>
                </a:solidFill>
                <a:latin typeface="Segoe UI"/>
              </a:rPr>
              <a:t>Thank you</a:t>
            </a:r>
          </a:p>
          <a:p>
            <a:pPr algn="l">
              <a:spcAft>
                <a:spcPts val="300"/>
              </a:spcAft>
            </a:pPr>
            <a:r>
              <a:rPr sz="1050">
                <a:solidFill>
                  <a:srgbClr val="0F6C73"/>
                </a:solidFill>
                <a:latin typeface="Segoe UI Semibold"/>
              </a:rPr>
              <a:t>SOURCE CODE</a:t>
            </a:r>
          </a:p>
          <a:p>
            <a:pPr algn="l">
              <a:spcAft>
                <a:spcPts val="0"/>
              </a:spcAft>
            </a:pPr>
            <a:r>
              <a:rPr sz="1400">
                <a:solidFill>
                  <a:srgbClr val="1B2430"/>
                </a:solidFill>
                <a:latin typeface="Segoe UI"/>
              </a:rPr>
              <a:t>github.com/shalin-rahman/GHCAA</a:t>
            </a:r>
          </a:p>
        </p:txBody>
      </p:sp>
    </p:spTree>
    <p:extLst>
      <p:ext uri="{BB962C8B-B14F-4D97-AF65-F5344CB8AC3E}">
        <p14:creationId xmlns:p14="http://schemas.microsoft.com/office/powerpoint/2010/main" val="6950716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2688</Words>
  <Application>Microsoft Office PowerPoint</Application>
  <PresentationFormat>Widescreen</PresentationFormat>
  <Paragraphs>398</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Habibur Rahman Shalin</cp:lastModifiedBy>
  <cp:revision>2</cp:revision>
  <dcterms:created xsi:type="dcterms:W3CDTF">2013-01-27T09:14:16Z</dcterms:created>
  <dcterms:modified xsi:type="dcterms:W3CDTF">2026-10-31T08:24:26Z</dcterms:modified>
  <cp:category/>
</cp:coreProperties>
</file>