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5" r:id="rId4"/>
    <p:sldMasterId id="2147483967" r:id="rId5"/>
  </p:sldMasterIdLst>
  <p:notesMasterIdLst>
    <p:notesMasterId r:id="rId18"/>
  </p:notesMasterIdLst>
  <p:handoutMasterIdLst>
    <p:handoutMasterId r:id="rId19"/>
  </p:handoutMasterIdLst>
  <p:sldIdLst>
    <p:sldId id="306" r:id="rId6"/>
    <p:sldId id="308" r:id="rId7"/>
    <p:sldId id="310" r:id="rId8"/>
    <p:sldId id="309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0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EBBBCC-DAD2-459C-BE2E-F6DE35CF9A2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81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Flutter tests</c:v>
                </c:pt>
                <c:pt idx="1">
                  <c:v>Angular specs (it)</c:v>
                </c:pt>
                <c:pt idx="2">
                  <c:v>NUnit [TestCase]</c:v>
                </c:pt>
                <c:pt idx="3">
                  <c:v>NUnit [Test]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372</c:v>
                </c:pt>
                <c:pt idx="1">
                  <c:v>905</c:v>
                </c:pt>
                <c:pt idx="2">
                  <c:v>292</c:v>
                </c:pt>
                <c:pt idx="3">
                  <c:v>1530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37-41A4-8B3D-C724182E43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80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268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phases, in order. Polling is highlighted because that is where members vote. The eight actions below need two different officials: one requests, a second approves. So one official cannot move the election forward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book draws the database as six ER sub-models, Figures 6.3 to 6.8. One diagram of all 83 entity types cannot be read on a page. The next two slides are the election sub-models.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Election, its seats, the frozen voter roll, nominations, results and the audit log. A member stands for a seat or backs a candidate through Nomination. ElectionAuditEntry keeps PrevHash and Hash, so the log is a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SeatVote records who voted and when. PendingBallot holds the sealed choices. Ballot and BallotVote use random GUID keys. BallotReceipt holds a tracking code. Point to the gap: there is no foreign key from SeatVote to Ballot.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side knows who voted. Right side knows what was chosen. The dashed line is the gap: no key crosses it. The arrow is a write in one transaction, not a stored link. The sealed rows have no member and no time, and the count shuffles them before writing Ballot rows under random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setup before the talk. In the talk, run resume slow so each step shows, 400 ms apart. Step-up codes come by real email, so the machine needs network access. If the room setup is not reliable, show screenshots from a rehearsal run instead. Rehearse the full run the day before, and run the clean-up script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numbers count test declarations in the source. They are not a pass rate. Run the suites before the talk and quote the pass result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Finished items are moved out of TODO.md, so 86 open items is not the whole history. The device checks and the two fixes need a real election to test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7223309" y="8001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4974183" cy="262441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05" y="4312625"/>
            <a:ext cx="4974183" cy="106580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38313" y="812266"/>
            <a:ext cx="3829736" cy="4928136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7B139E-1A4F-D7CF-7764-58DA6FAF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38451A-1E74-ABF8-A9BB-311A384B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58985DD-E6CE-DBCC-61CF-9BBFE330E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2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8A1486C-62DF-0286-F0FA-6D8E6C85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873A82E-EC69-8912-507C-DA9B307DE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29786"/>
            <a:ext cx="1096365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CDC75B5-A903-6188-96C8-F11039960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97D771A-54A9-9D83-6EAA-DDC7151C8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2259B42-FA10-6971-2364-7DC5DFA2D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1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7E220B-260A-1899-9D05-BB8723A88261}"/>
              </a:ext>
            </a:extLst>
          </p:cNvPr>
          <p:cNvGrpSpPr/>
          <p:nvPr/>
        </p:nvGrpSpPr>
        <p:grpSpPr>
          <a:xfrm>
            <a:off x="6941116" y="366348"/>
            <a:ext cx="4886768" cy="6125303"/>
            <a:chOff x="521210" y="647905"/>
            <a:chExt cx="11365967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1ECAE7C-A949-93C0-3EB3-0B16C6DAC3B2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C0165170-3C5A-515F-1EA4-AA3CB178D565}"/>
                </a:ext>
              </a:extLst>
            </p:cNvPr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7F9E3EB-FD43-A59C-A54A-F11FA925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896" y="1129554"/>
            <a:ext cx="4219626" cy="347523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6AC0B9A-E217-462C-714E-6E5BE5799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5" y="4731335"/>
            <a:ext cx="4219626" cy="11845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16905E-92F3-BA17-041B-A2D4BCBF5BB2}"/>
              </a:ext>
            </a:extLst>
          </p:cNvPr>
          <p:cNvCxnSpPr>
            <a:cxnSpLocks/>
          </p:cNvCxnSpPr>
          <p:nvPr userDrawn="1"/>
        </p:nvCxnSpPr>
        <p:spPr>
          <a:xfrm>
            <a:off x="659257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780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7F24906-AE7E-6354-BEF6-653E4278B8E2}"/>
              </a:ext>
            </a:extLst>
          </p:cNvPr>
          <p:cNvGrpSpPr/>
          <p:nvPr/>
        </p:nvGrpSpPr>
        <p:grpSpPr>
          <a:xfrm>
            <a:off x="365760" y="366348"/>
            <a:ext cx="4886768" cy="6125303"/>
            <a:chOff x="521210" y="647905"/>
            <a:chExt cx="11365967" cy="5565740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97863BD0-3668-62B2-C6F4-BD77D371C352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A731F6E5-8C9E-C424-E6F3-6E6FC4DD5464}"/>
                </a:ext>
              </a:extLst>
            </p:cNvPr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1FE1C070-AE3A-DBC9-E7FC-B233E403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541" y="603503"/>
            <a:ext cx="4235820" cy="3739895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F9F140D-1A01-09CE-B008-51350362B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541" y="4661255"/>
            <a:ext cx="423582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13962" y="0"/>
            <a:ext cx="6578038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3280CB-6F3A-4AAC-F373-F6910037E871}"/>
              </a:ext>
            </a:extLst>
          </p:cNvPr>
          <p:cNvCxnSpPr>
            <a:cxnSpLocks/>
          </p:cNvCxnSpPr>
          <p:nvPr/>
        </p:nvCxnSpPr>
        <p:spPr>
          <a:xfrm>
            <a:off x="5594712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138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8790317" y="8001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6699667" cy="22078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05" y="3786997"/>
            <a:ext cx="6699665" cy="159143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807569" y="812266"/>
            <a:ext cx="2260479" cy="4928136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7B139E-1A4F-D7CF-7764-58DA6FAF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38451A-1E74-ABF8-A9BB-311A384B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58985DD-E6CE-DBCC-61CF-9BBFE330E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03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B67FC65-5AAF-6A23-5752-1C26B207DC72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043EAAF4-DE2D-970B-4D15-6D36EEAC1744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496DF73D-E4E2-469F-D426-591823D792A6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923" y="874374"/>
            <a:ext cx="9634154" cy="2821728"/>
          </a:xfrm>
        </p:spPr>
        <p:txBody>
          <a:bodyPr anchor="b">
            <a:normAutofit/>
          </a:bodyPr>
          <a:lstStyle>
            <a:lvl1pPr algn="ctr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2480" y="4077583"/>
            <a:ext cx="8167040" cy="1717042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59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E55F6A4-0EE0-72F7-43D5-EB21317D9598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C4D77848-8CF0-5322-623B-CDF1FE03362C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1">
              <a:extLst>
                <a:ext uri="{FF2B5EF4-FFF2-40B4-BE49-F238E27FC236}">
                  <a16:creationId xmlns:a16="http://schemas.microsoft.com/office/drawing/2014/main" id="{677E7171-85EC-575A-EE36-F9950B227D94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BAC83CEA-8EC3-98F1-0078-550B9B56B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845" y="935204"/>
            <a:ext cx="10036005" cy="3592628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2BA4ADB-DF4D-29DD-5069-E1950A2F6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845" y="4698103"/>
            <a:ext cx="10036005" cy="10149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8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75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65F8DDB-78C2-9A91-D69C-2BE7D0DC5F3C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2CE1086-051B-D73D-67CF-8E86D2965B5E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900" y="1208585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623" y="3929930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2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309359E1-DCAB-6CB5-49DB-E3E715B038D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2930F3-3A63-5E7D-B558-798DFD2A08F5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tx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2013" y="1282325"/>
            <a:ext cx="8893834" cy="398855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9B0FCAC-1DD5-03B7-6568-464B93F97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10DA06E-F976-C917-8034-10D565141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2B0EFD-25F7-7463-7D6B-AD6B0A8B0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42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8B3FAB4B-5BE6-36A5-AC57-A8A4DE80EDF0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55D774B-5A74-ECBA-B23F-FDB73925D455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31" y="1525905"/>
            <a:ext cx="8838202" cy="846396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80332" y="2650524"/>
            <a:ext cx="8838202" cy="238635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27C2936-23FD-A202-FEC8-A04EC6038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74C11B4-B6D5-47F5-335E-A913C2501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40C422B-2C69-102F-F573-37A60C6CA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1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CA9E58B-E51C-E405-905F-70ADA8DA9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5981630" y="787402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63974" y="1339060"/>
            <a:ext cx="3927674" cy="7945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2056" y="2430700"/>
            <a:ext cx="3927674" cy="294773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2663" y="812266"/>
            <a:ext cx="5096260" cy="4928136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01417BD-FFDA-56B8-4551-B115E221D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EBB8A5-D4C6-548F-819A-FE7750FBF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7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744A8A6-B09A-3C25-2DA9-92129860EDBD}"/>
              </a:ext>
            </a:extLst>
          </p:cNvPr>
          <p:cNvGrpSpPr/>
          <p:nvPr/>
        </p:nvGrpSpPr>
        <p:grpSpPr>
          <a:xfrm>
            <a:off x="858371" y="1538141"/>
            <a:ext cx="5594950" cy="3781718"/>
            <a:chOff x="521208" y="647905"/>
            <a:chExt cx="11365969" cy="5565740"/>
          </a:xfrm>
        </p:grpSpPr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18600D5A-4CF6-D9F9-1A3A-5136CC2CE45D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7" name="Shape">
              <a:extLst>
                <a:ext uri="{FF2B5EF4-FFF2-40B4-BE49-F238E27FC236}">
                  <a16:creationId xmlns:a16="http://schemas.microsoft.com/office/drawing/2014/main" id="{69249D5A-EA70-0210-8234-7481C00A91D0}"/>
                </a:ext>
              </a:extLst>
            </p:cNvPr>
            <p:cNvSpPr/>
            <p:nvPr/>
          </p:nvSpPr>
          <p:spPr>
            <a:xfrm>
              <a:off x="521208" y="647905"/>
              <a:ext cx="11047664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F42DEFD-DF95-ABA5-F5E7-97EE2BC3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332" y="2009984"/>
            <a:ext cx="4515599" cy="269202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28878" y="2129872"/>
            <a:ext cx="4304752" cy="2454797"/>
          </a:xfrm>
        </p:spPr>
        <p:txBody>
          <a:bodyPr anchor="ctr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1BCE18F-7F76-B015-517A-B218F96C3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4B1BEB0-0A50-8032-92AF-CE95330EA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5677150-7CBF-C5C3-D369-2021EB4B3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35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E7B2878-E57A-BF28-CA0B-25C595B6B23B}"/>
              </a:ext>
            </a:extLst>
          </p:cNvPr>
          <p:cNvGrpSpPr/>
          <p:nvPr/>
        </p:nvGrpSpPr>
        <p:grpSpPr>
          <a:xfrm>
            <a:off x="858371" y="971570"/>
            <a:ext cx="4956175" cy="4914861"/>
            <a:chOff x="521208" y="647905"/>
            <a:chExt cx="11365969" cy="5565740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08FFA22-A55A-8523-9665-963EF8BF5CEE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249E8B92-9DA1-2B88-C923-D1B15EB00E1E}"/>
                </a:ext>
              </a:extLst>
            </p:cNvPr>
            <p:cNvSpPr/>
            <p:nvPr/>
          </p:nvSpPr>
          <p:spPr>
            <a:xfrm>
              <a:off x="521208" y="647905"/>
              <a:ext cx="11047664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B7E33A4B-2075-9CF4-BC69-F5E43B10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92" y="1478826"/>
            <a:ext cx="3846237" cy="3744148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23177" y="1727014"/>
            <a:ext cx="4956175" cy="346121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96A57-F4BE-9BFE-192B-8B6BE3EB5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2D03E-A50A-19D0-5987-28EA74509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9D5AA-125E-CB20-B949-8633A826D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71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741D8BB-05AF-A317-C2B4-DC1CB87B9246}"/>
              </a:ext>
            </a:extLst>
          </p:cNvPr>
          <p:cNvGrpSpPr/>
          <p:nvPr/>
        </p:nvGrpSpPr>
        <p:grpSpPr>
          <a:xfrm>
            <a:off x="858371" y="971570"/>
            <a:ext cx="4708425" cy="4914861"/>
            <a:chOff x="521208" y="647905"/>
            <a:chExt cx="10797805" cy="5565740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D76689D7-5D3E-ECBB-6775-7B400A96F3D7}"/>
                </a:ext>
              </a:extLst>
            </p:cNvPr>
            <p:cNvSpPr/>
            <p:nvPr/>
          </p:nvSpPr>
          <p:spPr>
            <a:xfrm>
              <a:off x="725405" y="1009217"/>
              <a:ext cx="10593608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93638B9C-5DAA-F32E-C1B3-8B5DF702E8BE}"/>
                </a:ext>
              </a:extLst>
            </p:cNvPr>
            <p:cNvSpPr/>
            <p:nvPr/>
          </p:nvSpPr>
          <p:spPr>
            <a:xfrm>
              <a:off x="521208" y="647905"/>
              <a:ext cx="10441168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84027933-14DD-AC05-2EC9-CE1166FE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93" y="1478826"/>
            <a:ext cx="3647180" cy="3744148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79486" y="971569"/>
            <a:ext cx="5199866" cy="491486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4A6CC-4DAE-D6DF-005D-9A746EA34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53F9-F5D7-A57F-631C-1011FA2D2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7895-A265-B576-2779-D9431696A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82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id="{38F88781-30C8-3349-475F-145EFAD547E5}"/>
              </a:ext>
            </a:extLst>
          </p:cNvPr>
          <p:cNvSpPr/>
          <p:nvPr/>
        </p:nvSpPr>
        <p:spPr>
          <a:xfrm>
            <a:off x="924451" y="1290629"/>
            <a:ext cx="3469803" cy="459580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5C0C482B-4AFD-2FA3-38E4-917E66DA8BB7}"/>
              </a:ext>
            </a:extLst>
          </p:cNvPr>
          <p:cNvSpPr/>
          <p:nvPr/>
        </p:nvSpPr>
        <p:spPr>
          <a:xfrm>
            <a:off x="858371" y="971570"/>
            <a:ext cx="3378902" cy="474288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CC4C23-E507-7EE9-B6A1-7AC51247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332" y="1388700"/>
            <a:ext cx="2480605" cy="390862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6945" y="796935"/>
            <a:ext cx="6369358" cy="5264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46573-B9BF-5258-A368-AE00F4845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0948-8FBA-8AE9-029C-B469581BC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1F34A-A62C-BC8F-113D-3A7AD96EF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33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518C51F0-983B-E75D-43D9-AB5A1692E483}"/>
              </a:ext>
            </a:extLst>
          </p:cNvPr>
          <p:cNvSpPr/>
          <p:nvPr/>
        </p:nvSpPr>
        <p:spPr>
          <a:xfrm>
            <a:off x="678727" y="1027243"/>
            <a:ext cx="3469803" cy="2960557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4F13FE91-399F-901F-6CF0-0447176EA2EF}"/>
              </a:ext>
            </a:extLst>
          </p:cNvPr>
          <p:cNvSpPr/>
          <p:nvPr/>
        </p:nvSpPr>
        <p:spPr>
          <a:xfrm>
            <a:off x="612647" y="708184"/>
            <a:ext cx="3378902" cy="3101816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30AF312-BB7E-63CF-42C0-3AAF17BB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09" y="1170994"/>
            <a:ext cx="2474546" cy="219204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3300" y="708184"/>
            <a:ext cx="67630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5D260-6D49-B6E6-0AF7-CB139EC2E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449F8-8E08-2E2D-E1DC-B35D55FA9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85ACA-FF2D-E071-ABB4-8D1CBF292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08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514175"/>
            <a:ext cx="6426389" cy="131502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894081-07CB-999F-D411-9154D25C9500}"/>
              </a:ext>
            </a:extLst>
          </p:cNvPr>
          <p:cNvCxnSpPr>
            <a:cxnSpLocks/>
          </p:cNvCxnSpPr>
          <p:nvPr/>
        </p:nvCxnSpPr>
        <p:spPr>
          <a:xfrm>
            <a:off x="457108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3319"/>
            <a:ext cx="6339541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975104"/>
            <a:ext cx="6339414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16B204-7C08-FBD9-C195-7CBD8936FB7B}"/>
              </a:ext>
            </a:extLst>
          </p:cNvPr>
          <p:cNvCxnSpPr>
            <a:cxnSpLocks/>
          </p:cNvCxnSpPr>
          <p:nvPr/>
        </p:nvCxnSpPr>
        <p:spPr>
          <a:xfrm>
            <a:off x="7614198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091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555536"/>
            <a:ext cx="6950232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E22ED6-A6FC-6BAB-A8E5-6EFB749B5EC5}"/>
              </a:ext>
            </a:extLst>
          </p:cNvPr>
          <p:cNvCxnSpPr>
            <a:cxnSpLocks/>
          </p:cNvCxnSpPr>
          <p:nvPr/>
        </p:nvCxnSpPr>
        <p:spPr>
          <a:xfrm>
            <a:off x="4033993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194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2478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A678A9-441B-21DA-8AA8-66BD33D80407}"/>
              </a:ext>
            </a:extLst>
          </p:cNvPr>
          <p:cNvCxnSpPr>
            <a:cxnSpLocks/>
          </p:cNvCxnSpPr>
          <p:nvPr/>
        </p:nvCxnSpPr>
        <p:spPr>
          <a:xfrm>
            <a:off x="808210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284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499533"/>
            <a:ext cx="4477512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1975104"/>
            <a:ext cx="4477512" cy="4282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4889" y="6343955"/>
            <a:ext cx="21050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EE92A-D40E-A2FF-476E-83554812296F}"/>
              </a:ext>
            </a:extLst>
          </p:cNvPr>
          <p:cNvCxnSpPr>
            <a:cxnSpLocks/>
          </p:cNvCxnSpPr>
          <p:nvPr/>
        </p:nvCxnSpPr>
        <p:spPr>
          <a:xfrm>
            <a:off x="650287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D94575-E64C-2C45-ED82-56D9EFD2AB39}"/>
              </a:ext>
            </a:extLst>
          </p:cNvPr>
          <p:cNvCxnSpPr>
            <a:cxnSpLocks/>
          </p:cNvCxnSpPr>
          <p:nvPr userDrawn="1"/>
        </p:nvCxnSpPr>
        <p:spPr>
          <a:xfrm>
            <a:off x="650287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911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38716"/>
            <a:ext cx="449418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FAD69B9-5A14-83A8-41F7-86017A14E034}"/>
              </a:ext>
            </a:extLst>
          </p:cNvPr>
          <p:cNvCxnSpPr>
            <a:cxnSpLocks/>
          </p:cNvCxnSpPr>
          <p:nvPr/>
        </p:nvCxnSpPr>
        <p:spPr>
          <a:xfrm>
            <a:off x="5648295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24A26F-E6FC-DE28-35E6-D03BF996DC47}"/>
              </a:ext>
            </a:extLst>
          </p:cNvPr>
          <p:cNvCxnSpPr>
            <a:cxnSpLocks/>
          </p:cNvCxnSpPr>
          <p:nvPr userDrawn="1"/>
        </p:nvCxnSpPr>
        <p:spPr>
          <a:xfrm>
            <a:off x="5648295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543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00039"/>
            <a:ext cx="3363514" cy="166722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315569"/>
            <a:ext cx="3363513" cy="385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3C7E6A-ACFC-5D7E-62EC-7EDD357DED5D}"/>
              </a:ext>
            </a:extLst>
          </p:cNvPr>
          <p:cNvCxnSpPr>
            <a:cxnSpLocks/>
          </p:cNvCxnSpPr>
          <p:nvPr/>
        </p:nvCxnSpPr>
        <p:spPr>
          <a:xfrm>
            <a:off x="7600186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384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500039"/>
            <a:ext cx="3363514" cy="166722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363513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A89F80-5D6A-4ABF-AB9F-E9B855484CF2}"/>
              </a:ext>
            </a:extLst>
          </p:cNvPr>
          <p:cNvCxnSpPr>
            <a:cxnSpLocks/>
          </p:cNvCxnSpPr>
          <p:nvPr/>
        </p:nvCxnSpPr>
        <p:spPr>
          <a:xfrm>
            <a:off x="4597223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426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90511"/>
            <a:ext cx="2699254" cy="18589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6861E3-1150-D516-3BEE-655B15B4B936}"/>
              </a:ext>
            </a:extLst>
          </p:cNvPr>
          <p:cNvCxnSpPr>
            <a:cxnSpLocks/>
          </p:cNvCxnSpPr>
          <p:nvPr/>
        </p:nvCxnSpPr>
        <p:spPr>
          <a:xfrm>
            <a:off x="834080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201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90511"/>
            <a:ext cx="2699254" cy="18589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6165" y="6343955"/>
            <a:ext cx="159757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3743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B94044-CD6D-BA64-4DAF-CF4588CD625D}"/>
              </a:ext>
            </a:extLst>
          </p:cNvPr>
          <p:cNvCxnSpPr>
            <a:cxnSpLocks/>
          </p:cNvCxnSpPr>
          <p:nvPr/>
        </p:nvCxnSpPr>
        <p:spPr>
          <a:xfrm>
            <a:off x="385504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1462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457610"/>
            <a:ext cx="4019522" cy="161792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14223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10" y="4457611"/>
            <a:ext cx="6426391" cy="16179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20E07E-3D6A-C86E-678B-DE98A157F07A}"/>
              </a:ext>
            </a:extLst>
          </p:cNvPr>
          <p:cNvCxnSpPr>
            <a:cxnSpLocks/>
          </p:cNvCxnSpPr>
          <p:nvPr/>
        </p:nvCxnSpPr>
        <p:spPr>
          <a:xfrm>
            <a:off x="0" y="4142231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8AF9810-922B-05C3-1FAC-78185AB60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D7B9-A665-0D5C-1732-A369FD093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7B8D0A-511A-808A-9972-2B279CED5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6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0757"/>
            <a:ext cx="3044954" cy="224512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7"/>
            <a:ext cx="7460029" cy="244384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8B5EBB-F005-1B2B-24BF-B4DBB49FF96A}"/>
              </a:ext>
            </a:extLst>
          </p:cNvPr>
          <p:cNvCxnSpPr>
            <a:cxnSpLocks/>
          </p:cNvCxnSpPr>
          <p:nvPr/>
        </p:nvCxnSpPr>
        <p:spPr>
          <a:xfrm>
            <a:off x="0" y="3453964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EE91E5E-1D54-4277-467D-BF89B7943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7E62A-1224-89D2-C4D8-65D8B0271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B0821DC-7B6A-0BDA-7ED9-271E04FA2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141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7477"/>
            <a:ext cx="3021873" cy="177354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707476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3135210"/>
            <a:ext cx="279102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3135210"/>
            <a:ext cx="155937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3135210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36524"/>
            <a:ext cx="12192000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6FCCB7-3844-DE9F-A18B-F5FFF900264C}"/>
              </a:ext>
            </a:extLst>
          </p:cNvPr>
          <p:cNvCxnSpPr>
            <a:cxnSpLocks/>
          </p:cNvCxnSpPr>
          <p:nvPr/>
        </p:nvCxnSpPr>
        <p:spPr>
          <a:xfrm>
            <a:off x="-1" y="3625891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9701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838424"/>
            <a:ext cx="4485564" cy="4488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05552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32969" y="6343955"/>
            <a:ext cx="144969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682667" y="6343955"/>
            <a:ext cx="443060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7D2E59BA-BC78-5994-0E85-6CEE8FE1A2C7}"/>
              </a:ext>
            </a:extLst>
          </p:cNvPr>
          <p:cNvSpPr/>
          <p:nvPr/>
        </p:nvSpPr>
        <p:spPr>
          <a:xfrm>
            <a:off x="5774454" y="2174531"/>
            <a:ext cx="5804899" cy="4152068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C8527F9-0AAC-2962-54C9-733B06E8643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44314" y="1838424"/>
            <a:ext cx="5715205" cy="4292324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6434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50FC415C-6548-7A71-9590-9F59EEF87C10}"/>
              </a:ext>
            </a:extLst>
          </p:cNvPr>
          <p:cNvSpPr/>
          <p:nvPr/>
        </p:nvSpPr>
        <p:spPr>
          <a:xfrm>
            <a:off x="5440228" y="2239339"/>
            <a:ext cx="6139125" cy="3880753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113357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013ECA8-A109-DA0B-779F-91413FC019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15252" y="1912398"/>
            <a:ext cx="6044267" cy="4011844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87E7E84-44E5-0E60-3EE3-8737B2A18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8E621FE-7CC2-0C35-A07D-B3FC44FD4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00CB403-B088-E56C-7827-A20ABF576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2677956A-C88F-78CB-7428-13BB3FEF3483}"/>
              </a:ext>
            </a:extLst>
          </p:cNvPr>
          <p:cNvSpPr/>
          <p:nvPr/>
        </p:nvSpPr>
        <p:spPr>
          <a:xfrm>
            <a:off x="739739" y="1970410"/>
            <a:ext cx="5804899" cy="434956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7784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186B2304-4EA6-E2B5-F4F8-D1686841F0A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599" y="1627632"/>
            <a:ext cx="5715205" cy="4496489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627632"/>
            <a:ext cx="4479145" cy="4692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03254" y="6343955"/>
            <a:ext cx="214411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98655" y="6343955"/>
            <a:ext cx="144969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5200" y="6343955"/>
            <a:ext cx="443060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1624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D5D7C530-B577-9E02-8A60-5EDBB72006B5}"/>
              </a:ext>
            </a:extLst>
          </p:cNvPr>
          <p:cNvSpPr/>
          <p:nvPr/>
        </p:nvSpPr>
        <p:spPr>
          <a:xfrm>
            <a:off x="675680" y="2516628"/>
            <a:ext cx="4609551" cy="3620904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4F75EDFE-D268-4D74-752B-6DB079CF1C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599" y="2173850"/>
            <a:ext cx="4488792" cy="379367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B72A591-427A-90CA-36AE-C150001B3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FBD4796-905C-132A-092E-22E9AF1B0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ED0402-467D-E037-9829-BCC7DE3B8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508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6E70FB67-0F80-BE17-D86B-F8A00D36D16F}"/>
              </a:ext>
            </a:extLst>
          </p:cNvPr>
          <p:cNvSpPr/>
          <p:nvPr/>
        </p:nvSpPr>
        <p:spPr>
          <a:xfrm>
            <a:off x="792041" y="2637923"/>
            <a:ext cx="3529341" cy="3508440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8"/>
            <a:ext cx="3696859" cy="131634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5960" y="2295145"/>
            <a:ext cx="3436881" cy="367584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3150" y="709098"/>
            <a:ext cx="6644488" cy="5439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2135E48-6254-45C6-7DDB-66AFB4150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60DF9-E1C4-5761-5FC3-5D2AEF153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BEF33CE-9AB9-2977-453D-017FBD423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175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3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5" name="Title 9">
            <a:extLst>
              <a:ext uri="{FF2B5EF4-FFF2-40B4-BE49-F238E27FC236}">
                <a16:creationId xmlns:a16="http://schemas.microsoft.com/office/drawing/2014/main" id="{213AB558-35C1-4A44-D31A-525DE98E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646" y="4411825"/>
            <a:ext cx="8385556" cy="1500447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A5A92EC-E3FB-31E9-61F0-EE7ECD707D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8096" y="731564"/>
            <a:ext cx="10582656" cy="368026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72E3F0-624C-9464-9338-4D71D7C12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DC64F13-B276-91F5-3FAF-69DAEAF48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266EE2-59A7-B270-100C-C647392CA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6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tx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CFF24796-27C6-1A14-59BA-1D20CAD0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666" y="4411825"/>
            <a:ext cx="8385556" cy="1500447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7A66-804B-6952-8FF1-16C74E3D536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42666" y="731564"/>
            <a:ext cx="9918700" cy="368026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8B0C2F5-833E-589B-382A-13B46D9A4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498214-05A5-D7BC-183C-F46B38033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D5C440-7C25-FCBF-0AFD-9A43D1865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75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6" name="Title 9">
            <a:extLst>
              <a:ext uri="{FF2B5EF4-FFF2-40B4-BE49-F238E27FC236}">
                <a16:creationId xmlns:a16="http://schemas.microsoft.com/office/drawing/2014/main" id="{966F0FDE-BE83-A597-B207-9E183688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646" y="4411825"/>
            <a:ext cx="8385556" cy="1500447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ECA9D19-419F-EF79-9149-F59A94F89DF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8096" y="731564"/>
            <a:ext cx="10582656" cy="368026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573A4C0-0776-77C6-66AA-8AB5D53B5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2B00FB5-92F5-2777-E446-7B3B68933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F52380C-3432-CA29-4761-532477B7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A53F8570-6B05-5072-2FE4-39B21A8F9EA3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8F171EE-5BF3-25A4-19B0-5E5E7959125A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9927" y="1322671"/>
            <a:ext cx="9298005" cy="390785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1" cap="all" baseline="0"/>
            </a:lvl1pPr>
            <a:lvl2pPr marL="228600" indent="0" algn="ctr">
              <a:lnSpc>
                <a:spcPct val="90000"/>
              </a:lnSpc>
              <a:buNone/>
              <a:defRPr sz="5400" b="1"/>
            </a:lvl2pPr>
            <a:lvl3pPr marL="457200" indent="0" algn="ctr">
              <a:lnSpc>
                <a:spcPct val="90000"/>
              </a:lnSpc>
              <a:buNone/>
              <a:defRPr sz="4800" b="1"/>
            </a:lvl3pPr>
            <a:lvl4pPr marL="685800" indent="0" algn="ctr">
              <a:lnSpc>
                <a:spcPct val="90000"/>
              </a:lnSpc>
              <a:buNone/>
              <a:defRPr sz="4400" b="1"/>
            </a:lvl4pPr>
            <a:lvl5pPr marL="914400" indent="0" algn="ctr">
              <a:lnSpc>
                <a:spcPct val="90000"/>
              </a:lnSpc>
              <a:buNone/>
              <a:defRPr sz="4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CE3EBB0-2A3C-612E-DC6C-0AE876654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5E6F7F-E895-1277-02D6-F925FA6D2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9676103-43BF-3489-0BCB-B1D89DE77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69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67509756-1709-4FB3-87C9-65E52F8A642D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F72170A-AA7E-9DE2-6ECB-19945A37EAD7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C9F461-9F58-7EDE-FFF1-E8FCAD2E23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19927" y="1322104"/>
            <a:ext cx="9297987" cy="3908425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 cap="all" baseline="0"/>
            </a:lvl1pPr>
            <a:lvl2pPr marL="228600" indent="0">
              <a:lnSpc>
                <a:spcPct val="90000"/>
              </a:lnSpc>
              <a:buNone/>
              <a:defRPr sz="5400"/>
            </a:lvl2pPr>
            <a:lvl3pPr marL="457200" indent="0">
              <a:lnSpc>
                <a:spcPct val="90000"/>
              </a:lnSpc>
              <a:buNone/>
              <a:defRPr sz="4800"/>
            </a:lvl3pPr>
            <a:lvl4pPr marL="685800" indent="0">
              <a:lnSpc>
                <a:spcPct val="90000"/>
              </a:lnSpc>
              <a:buNone/>
              <a:defRPr sz="4400"/>
            </a:lvl4pPr>
            <a:lvl5pPr marL="914400" indent="0">
              <a:lnSpc>
                <a:spcPct val="90000"/>
              </a:lnSpc>
              <a:buNone/>
              <a:defRPr sz="40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368E2D6-4C18-38E3-8152-995311472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CB827A9-A5DE-C188-2939-D60BED184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EBF00D-1E46-AF2D-0D8E-2F38D533C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68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9F509C9-EBD3-FFB9-4531-BBE9EE870C9B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F77DADAD-5C68-8B22-D7D6-9EFA4FCE9FBF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tx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C84AEDAF-DA87-0FC6-A421-8548D43C9150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3F4551C1-F77D-5DEA-D4A6-E296C313BD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1593" y="844209"/>
            <a:ext cx="10362510" cy="4968161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1" cap="all" baseline="0"/>
            </a:lvl1pPr>
            <a:lvl2pPr marL="228600" indent="0" algn="ctr">
              <a:lnSpc>
                <a:spcPct val="90000"/>
              </a:lnSpc>
              <a:buNone/>
              <a:defRPr sz="5400" b="1"/>
            </a:lvl2pPr>
            <a:lvl3pPr marL="457200" indent="0" algn="ctr">
              <a:lnSpc>
                <a:spcPct val="90000"/>
              </a:lnSpc>
              <a:buNone/>
              <a:defRPr sz="4800" b="1"/>
            </a:lvl3pPr>
            <a:lvl4pPr marL="685800" indent="0" algn="ctr">
              <a:lnSpc>
                <a:spcPct val="90000"/>
              </a:lnSpc>
              <a:buNone/>
              <a:defRPr sz="4400" b="1"/>
            </a:lvl4pPr>
            <a:lvl5pPr marL="914400" indent="0" algn="ctr">
              <a:lnSpc>
                <a:spcPct val="90000"/>
              </a:lnSpc>
              <a:buNone/>
              <a:defRPr sz="4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C2AFDFC-279D-866C-97E4-0413DAD37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29DF21-7E57-6F8D-84A6-32DD2CDC6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0DFF13-FAC1-37BC-2037-41048E696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14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">
            <a:extLst>
              <a:ext uri="{FF2B5EF4-FFF2-40B4-BE49-F238E27FC236}">
                <a16:creationId xmlns:a16="http://schemas.microsoft.com/office/drawing/2014/main" id="{2DE75237-C959-D427-59CB-754609076995}"/>
              </a:ext>
            </a:extLst>
          </p:cNvPr>
          <p:cNvSpPr/>
          <p:nvPr/>
        </p:nvSpPr>
        <p:spPr>
          <a:xfrm>
            <a:off x="680973" y="1199512"/>
            <a:ext cx="11058961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2E7456C8-E832-7DE1-2809-F37CD2039059}"/>
              </a:ext>
            </a:extLst>
          </p:cNvPr>
          <p:cNvSpPr/>
          <p:nvPr/>
        </p:nvSpPr>
        <p:spPr>
          <a:xfrm>
            <a:off x="452064" y="838200"/>
            <a:ext cx="11058961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C8B71B71-DED1-B066-5130-1F2DE6145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3157" y="4171150"/>
            <a:ext cx="9427773" cy="46634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764B92A2-9C11-A473-0B3F-CAAD66CB9FF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50623" y="1475874"/>
            <a:ext cx="9852843" cy="2393479"/>
          </a:xfrm>
        </p:spPr>
        <p:txBody>
          <a:bodyPr anchor="b">
            <a:normAutofit/>
          </a:bodyPr>
          <a:lstStyle>
            <a:lvl1pPr marL="228600" indent="0" algn="ctr">
              <a:buNone/>
              <a:defRPr sz="40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47B8EDB-536A-003E-AE0A-AB072C6BD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59023AF-254C-8366-C5DA-6778C6116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DA5A3A-7694-A45B-B5A0-90DAAB4B2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82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">
            <a:extLst>
              <a:ext uri="{FF2B5EF4-FFF2-40B4-BE49-F238E27FC236}">
                <a16:creationId xmlns:a16="http://schemas.microsoft.com/office/drawing/2014/main" id="{2DE75237-C959-D427-59CB-754609076995}"/>
              </a:ext>
            </a:extLst>
          </p:cNvPr>
          <p:cNvSpPr/>
          <p:nvPr/>
        </p:nvSpPr>
        <p:spPr>
          <a:xfrm>
            <a:off x="680973" y="1199512"/>
            <a:ext cx="11058961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2E7456C8-E832-7DE1-2809-F37CD2039059}"/>
              </a:ext>
            </a:extLst>
          </p:cNvPr>
          <p:cNvSpPr/>
          <p:nvPr/>
        </p:nvSpPr>
        <p:spPr>
          <a:xfrm>
            <a:off x="452064" y="838200"/>
            <a:ext cx="11058961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1D793A1-BF22-DDD0-DBA9-DEFF700F0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4935583"/>
            <a:ext cx="94277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302FB0-A6C5-BD5A-AF43-984A6C3F868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100" y="1365758"/>
            <a:ext cx="9898063" cy="3308350"/>
          </a:xfrm>
        </p:spPr>
        <p:txBody>
          <a:bodyPr anchor="ctr">
            <a:normAutofit/>
          </a:bodyPr>
          <a:lstStyle>
            <a:lvl1pPr marL="228600" indent="0">
              <a:buNone/>
              <a:defRPr sz="40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B46980-787B-28B2-BEF9-0889894EF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A696B03-9BC5-E21E-A5FD-103860D28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97DCEF-D6BB-4719-2240-3051D4DDE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7FA2DADE-9D41-2081-4A77-1D5CE9B7776B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138D331-ECD1-1788-A7CA-448A49C9F489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B18BA15F-A0BE-EFD1-7E68-4B1BD84BE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6585" y="4526280"/>
            <a:ext cx="9108208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6074EC9-559B-FD63-2E36-6C0F1C29A95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36585" y="1527048"/>
            <a:ext cx="9108208" cy="270420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B5B5DC6-7732-056F-CCE9-08CA0A2F5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0CB01E-671D-F7D5-38AC-15837FE38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CEAD38F-C515-CF0A-DFEF-E4F3E918B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87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">
            <a:extLst>
              <a:ext uri="{FF2B5EF4-FFF2-40B4-BE49-F238E27FC236}">
                <a16:creationId xmlns:a16="http://schemas.microsoft.com/office/drawing/2014/main" id="{8EAF9CAC-FFA2-BEF7-4631-1C54E575EDE5}"/>
              </a:ext>
            </a:extLst>
          </p:cNvPr>
          <p:cNvSpPr/>
          <p:nvPr/>
        </p:nvSpPr>
        <p:spPr>
          <a:xfrm>
            <a:off x="734919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37C03440-D61A-0EBF-6628-89058E855965}"/>
              </a:ext>
            </a:extLst>
          </p:cNvPr>
          <p:cNvSpPr/>
          <p:nvPr/>
        </p:nvSpPr>
        <p:spPr>
          <a:xfrm>
            <a:off x="6525104" y="2090064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66704" cy="113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0235ED5-6A34-E190-C6AF-47C4365CF4D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2647" y="1956816"/>
            <a:ext cx="5049837" cy="3986212"/>
          </a:xfrm>
          <a:solidFill>
            <a:schemeClr val="bg1"/>
          </a:solidFill>
          <a:ln w="25400">
            <a:solidFill>
              <a:schemeClr val="dk1"/>
            </a:solidFill>
          </a:ln>
        </p:spPr>
        <p:txBody>
          <a:bodyPr lIns="365760" tIns="274320" rIns="36576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924B5D-8BA0-6E97-9FCD-47734558730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02388" y="1941513"/>
            <a:ext cx="5049837" cy="3986212"/>
          </a:xfrm>
          <a:solidFill>
            <a:schemeClr val="bg1"/>
          </a:solidFill>
          <a:ln w="25400">
            <a:solidFill>
              <a:schemeClr val="dk1"/>
            </a:solidFill>
          </a:ln>
        </p:spPr>
        <p:txBody>
          <a:bodyPr lIns="365760" tIns="274320" rIns="36576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E9D210-740B-975E-F164-1DE3D1A89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378DF6A-F028-C688-AFFC-152D73F73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F58732C-80CB-B4FE-AB5F-DDFE3F83A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410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87053FE2-64E0-3012-349A-A9A3630871D9}"/>
              </a:ext>
            </a:extLst>
          </p:cNvPr>
          <p:cNvSpPr/>
          <p:nvPr/>
        </p:nvSpPr>
        <p:spPr>
          <a:xfrm>
            <a:off x="734919" y="2106081"/>
            <a:ext cx="5054248" cy="398701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C46A75A9-A17B-098E-3A45-F6C555BE2639}"/>
              </a:ext>
            </a:extLst>
          </p:cNvPr>
          <p:cNvSpPr/>
          <p:nvPr/>
        </p:nvSpPr>
        <p:spPr>
          <a:xfrm>
            <a:off x="609964" y="1964050"/>
            <a:ext cx="5054248" cy="398701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09A08B6C-E5A4-86B0-F3FC-9D459A8BBBFE}"/>
              </a:ext>
            </a:extLst>
          </p:cNvPr>
          <p:cNvSpPr/>
          <p:nvPr/>
        </p:nvSpPr>
        <p:spPr>
          <a:xfrm>
            <a:off x="6527790" y="2106081"/>
            <a:ext cx="5054248" cy="398701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BC04CEF9-7BA9-D4E7-7852-594CC56DBD37}"/>
              </a:ext>
            </a:extLst>
          </p:cNvPr>
          <p:cNvSpPr/>
          <p:nvPr/>
        </p:nvSpPr>
        <p:spPr>
          <a:xfrm>
            <a:off x="6402835" y="1964050"/>
            <a:ext cx="5054248" cy="398701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DBC014A-57E4-E622-1B5A-DDCDE4F1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66704" cy="113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026" y="2140585"/>
            <a:ext cx="4433978" cy="57596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DB215F-F64D-AFEC-78DE-A34FCC39898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715897" y="2140585"/>
            <a:ext cx="4433978" cy="57596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3026" y="2842450"/>
            <a:ext cx="4433978" cy="2898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EAD70E4-41EC-CD82-9922-84432DB9000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15897" y="2842450"/>
            <a:ext cx="4433978" cy="2898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957D-E390-A6CD-0738-7DBCB3C4B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323C36B-3396-E0B9-7965-0F8040BFF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F87EB5-54D8-0C98-C391-699B7F558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949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97C84A4-6A79-3485-A77E-989CD7583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E55074A-9964-8F29-CF91-8A0D5AF16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AAF6FDF-2AC3-DB97-1683-2D56D880D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44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A6B9D93-9B64-1CD3-A833-FFDD8C5DBA7C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7BFBC61-3CC2-D636-FC54-55E9720C4A08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9D0D17A4-DEA9-4B44-C0FE-1238BACA12F7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3E672C-94F7-4F94-AA9D-0B2344E4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94D1CA6-A4DC-DBEE-5E99-FCD16E8FE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02D83F5-E164-0E11-063F-914D641C1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43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490C2B9-2891-C4B8-A62C-388B9E630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2391F72-8364-5853-5AF7-052CEB5F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50753C-CFE5-2B43-A721-D0E923A0E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2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">
            <a:extLst>
              <a:ext uri="{FF2B5EF4-FFF2-40B4-BE49-F238E27FC236}">
                <a16:creationId xmlns:a16="http://schemas.microsoft.com/office/drawing/2014/main" id="{AAA00F4A-8B03-B8A7-EF9E-9FA816B844D9}"/>
              </a:ext>
            </a:extLst>
          </p:cNvPr>
          <p:cNvSpPr/>
          <p:nvPr/>
        </p:nvSpPr>
        <p:spPr>
          <a:xfrm>
            <a:off x="5134801" y="980808"/>
            <a:ext cx="6345319" cy="5190277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176208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AB62C19-EED5-2CB6-3778-D242A01B31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76261" y="557784"/>
            <a:ext cx="6345319" cy="54379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3D8F1A6-74FA-F0AA-BD1D-9179B6322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DAC8853-1F8E-BAF2-7EA5-E7CC3A30143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1F632EE-8F97-1D42-BC0E-348FE22EA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2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60F089B-9235-81DB-CA69-D7CB62593609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7BE37C7-4A0D-B366-88A7-61DDF6BADDFF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" name="Shape1">
              <a:extLst>
                <a:ext uri="{FF2B5EF4-FFF2-40B4-BE49-F238E27FC236}">
                  <a16:creationId xmlns:a16="http://schemas.microsoft.com/office/drawing/2014/main" id="{F6ED5B22-34B0-7A29-DE32-F681BB887699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011" y="1571632"/>
            <a:ext cx="6905972" cy="1133856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2428" y="3198297"/>
            <a:ext cx="9844686" cy="241139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3B0EB48-D222-B712-F2B3-9932C893C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38DC1E4-B259-385B-34D7-4FEBAE45C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374E6-29F5-6E16-088E-EC1EE38D0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38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67284EC-3D0F-3F16-846C-AB08017ABD0D}"/>
              </a:ext>
            </a:extLst>
          </p:cNvPr>
          <p:cNvGrpSpPr/>
          <p:nvPr/>
        </p:nvGrpSpPr>
        <p:grpSpPr>
          <a:xfrm>
            <a:off x="1290931" y="492893"/>
            <a:ext cx="9610139" cy="5876422"/>
            <a:chOff x="521208" y="647905"/>
            <a:chExt cx="11365969" cy="55657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E5FBE18-9CC6-A8C8-127B-CCA2232BDB14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" name="Shape1">
              <a:extLst>
                <a:ext uri="{FF2B5EF4-FFF2-40B4-BE49-F238E27FC236}">
                  <a16:creationId xmlns:a16="http://schemas.microsoft.com/office/drawing/2014/main" id="{896B8FC0-2B00-3276-EB32-68AEA34310A4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548" y="1627318"/>
            <a:ext cx="8257213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79669" y="3622674"/>
            <a:ext cx="8257087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0BE14F-B804-8786-E6FC-084A0A7FA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1CB601B-B447-CD6E-FCA1-4CC6DDC76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F950DAF-2879-C094-CC30-7714177A4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78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20287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55334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44128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24953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7798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648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03239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08830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99276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27719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29115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199777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7523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16472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75226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7124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38427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7223309" y="8001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4974183" cy="262441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05" y="4312625"/>
            <a:ext cx="4974183" cy="106580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38313" y="812266"/>
            <a:ext cx="3829736" cy="4928136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7B139E-1A4F-D7CF-7764-58DA6FAF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38451A-1E74-ABF8-A9BB-311A384B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58985DD-E6CE-DBCC-61CF-9BBFE330E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50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image" Target="../media/image13.png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96670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3C955DE-5CD9-CD51-B605-4A616AD7C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 algn="l" rtl="0">
              <a:defRPr sz="1200" cap="all" baseline="0"/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DD014B-8F2C-F57A-615A-FA05655D5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 algn="l" rtl="0">
              <a:defRPr sz="1200" cap="all" baseline="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91BBAA5-67F0-C82E-FEFD-FB109AD13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 algn="r" rtl="0">
              <a:defRPr sz="1200" cap="all" baseline="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6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8" r:id="rId2"/>
    <p:sldLayoutId id="2147483889" r:id="rId3"/>
    <p:sldLayoutId id="2147483890" r:id="rId4"/>
    <p:sldLayoutId id="2147483937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  <p:sldLayoutId id="2147483902" r:id="rId17"/>
    <p:sldLayoutId id="2147483903" r:id="rId18"/>
    <p:sldLayoutId id="2147483904" r:id="rId19"/>
    <p:sldLayoutId id="2147483905" r:id="rId20"/>
    <p:sldLayoutId id="2147483906" r:id="rId21"/>
    <p:sldLayoutId id="2147483907" r:id="rId22"/>
    <p:sldLayoutId id="2147483908" r:id="rId23"/>
    <p:sldLayoutId id="2147483909" r:id="rId24"/>
    <p:sldLayoutId id="2147483910" r:id="rId25"/>
    <p:sldLayoutId id="2147483911" r:id="rId26"/>
    <p:sldLayoutId id="2147483912" r:id="rId27"/>
    <p:sldLayoutId id="2147483913" r:id="rId28"/>
    <p:sldLayoutId id="2147483914" r:id="rId29"/>
    <p:sldLayoutId id="2147483915" r:id="rId30"/>
    <p:sldLayoutId id="2147483916" r:id="rId31"/>
    <p:sldLayoutId id="2147483917" r:id="rId32"/>
    <p:sldLayoutId id="2147483918" r:id="rId33"/>
    <p:sldLayoutId id="2147483919" r:id="rId34"/>
    <p:sldLayoutId id="2147483920" r:id="rId35"/>
    <p:sldLayoutId id="2147483921" r:id="rId36"/>
    <p:sldLayoutId id="2147483922" r:id="rId37"/>
    <p:sldLayoutId id="2147483923" r:id="rId38"/>
    <p:sldLayoutId id="2147483924" r:id="rId39"/>
    <p:sldLayoutId id="2147483925" r:id="rId40"/>
    <p:sldLayoutId id="2147483926" r:id="rId41"/>
    <p:sldLayoutId id="2147483927" r:id="rId42"/>
    <p:sldLayoutId id="2147483928" r:id="rId43"/>
    <p:sldLayoutId id="2147483929" r:id="rId44"/>
    <p:sldLayoutId id="2147483930" r:id="rId45"/>
    <p:sldLayoutId id="2147483931" r:id="rId46"/>
    <p:sldLayoutId id="2147483932" r:id="rId47"/>
    <p:sldLayoutId id="2147483933" r:id="rId48"/>
    <p:sldLayoutId id="2147483934" r:id="rId49"/>
    <p:sldLayoutId id="2147483935" r:id="rId50"/>
    <p:sldLayoutId id="214748393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67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  <p:sldLayoutId id="2147483981" r:id="rId14"/>
    <p:sldLayoutId id="2147483982" r:id="rId15"/>
    <p:sldLayoutId id="2147483983" r:id="rId16"/>
    <p:sldLayoutId id="2147483984" r:id="rId17"/>
    <p:sldLayoutId id="214748398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9.xml"/><Relationship Id="rId6" Type="http://schemas.openxmlformats.org/officeDocument/2006/relationships/hyperlink" Target="https://github.com/shalin-rahman/GHCAA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39E0C-DCD6-A65D-C252-79AF7F81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3844" y="211666"/>
            <a:ext cx="6932489" cy="2819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i="0" kern="1200" dirty="0">
                <a:solidFill>
                  <a:srgbClr val="EBEBEB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Design, Development and Evaluation of a Specification-Driven, Reusable Alumni Management Platform for Resource-Constrained Institutions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BCE3760-2BE8-EA7D-E3FF-401690ABF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011" y="4777379"/>
            <a:ext cx="7057522" cy="159802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Md Habibur Rahman, EMIT, B7, 2512220</a:t>
            </a: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Under Supervision Of – </a:t>
            </a: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Professor Dr. Kazi </a:t>
            </a:r>
            <a:r>
              <a:rPr lang="en-US" cap="none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Muheymin</a:t>
            </a:r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-Us-Sakib</a:t>
            </a: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Date: 31 Oct </a:t>
            </a:r>
            <a:r>
              <a:rPr lang="en-US" sz="1400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2026</a:t>
            </a:r>
            <a:endParaRPr lang="en-US" cap="none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48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81964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C550DA8-87E2-3C4B-F26D-9770597E2C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" r="3215"/>
          <a:stretch/>
        </p:blipFill>
        <p:spPr>
          <a:xfrm>
            <a:off x="647240" y="1652546"/>
            <a:ext cx="2936836" cy="3781508"/>
          </a:xfrm>
          <a:prstGeom prst="rect">
            <a:avLst/>
          </a:prstGeom>
          <a:noFill/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026271-4383-DD56-0896-BF1CA679E276}"/>
              </a:ext>
            </a:extLst>
          </p:cNvPr>
          <p:cNvSpPr txBox="1"/>
          <p:nvPr/>
        </p:nvSpPr>
        <p:spPr>
          <a:xfrm>
            <a:off x="4793844" y="35037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Platform progress.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Focus: the election module and the data model</a:t>
            </a:r>
          </a:p>
        </p:txBody>
      </p:sp>
    </p:spTree>
    <p:extLst>
      <p:ext uri="{BB962C8B-B14F-4D97-AF65-F5344CB8AC3E}">
        <p14:creationId xmlns:p14="http://schemas.microsoft.com/office/powerpoint/2010/main" val="264041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4E5C9-A4A0-7002-0699-1682F5C31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Where the project stands</a:t>
            </a:r>
            <a:b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46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F441C-CEC0-F6B3-6F44-55F9104AB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0279" y="4588329"/>
            <a:ext cx="3344020" cy="16219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chemeClr val="bg2">
                    <a:lumMod val="40000"/>
                    <a:lumOff val="60000"/>
                  </a:schemeClr>
                </a:solidFill>
              </a:rPr>
              <a:t>note: the count is of code, not of features used</a:t>
            </a:r>
          </a:p>
        </p:txBody>
      </p: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BA8B01-419E-5766-4853-B58B324A8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884526"/>
              </p:ext>
            </p:extLst>
          </p:nvPr>
        </p:nvGraphicFramePr>
        <p:xfrm>
          <a:off x="763588" y="1596113"/>
          <a:ext cx="6673103" cy="3670970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{91EBBBCC-DAD2-459C-BE2E-F6DE35CF9A28}</a:tableStyleId>
              </a:tblPr>
              <a:tblGrid>
                <a:gridCol w="3402012">
                  <a:extLst>
                    <a:ext uri="{9D8B030D-6E8A-4147-A177-3AD203B41FA5}">
                      <a16:colId xmlns:a16="http://schemas.microsoft.com/office/drawing/2014/main" val="273506774"/>
                    </a:ext>
                  </a:extLst>
                </a:gridCol>
                <a:gridCol w="3271091">
                  <a:extLst>
                    <a:ext uri="{9D8B030D-6E8A-4147-A177-3AD203B41FA5}">
                      <a16:colId xmlns:a16="http://schemas.microsoft.com/office/drawing/2014/main" val="2194414724"/>
                    </a:ext>
                  </a:extLst>
                </a:gridCol>
              </a:tblGrid>
              <a:tr h="596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cap="none" spc="0" dirty="0">
                          <a:solidFill>
                            <a:schemeClr val="bg1"/>
                          </a:solidFill>
                          <a:effectLst/>
                        </a:rPr>
                        <a:t>What</a:t>
                      </a:r>
                      <a:endParaRPr lang="en-US" sz="2200" b="0" i="0" cap="none" spc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  <a:endParaRPr lang="en-US" sz="2200" b="0" i="0" cap="none" spc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362188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API controllers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643388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HTTP endpoints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406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450258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</a:rPr>
                        <a:t>Entity types in the database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83 (24 for elections and polls)</a:t>
                      </a:r>
                      <a:endParaRPr lang="en-US" sz="1600" b="0" i="0" cap="none" spc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657855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PostgreSQL migrations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34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64887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Commits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378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72005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Clients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</a:rPr>
                        <a:t>Angular web, Flutter mobile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49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29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Architecture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10192415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Layers are API, Infrastructure, Application and Domain. </a:t>
            </a:r>
            <a:b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Single API serves for the web and mobile.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AB1083-70D2-CB7D-823C-2818E1D11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06" y="2357538"/>
            <a:ext cx="10567534" cy="44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6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03AC5-019E-44C4-5AC6-97BB76855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5806440"/>
            <a:ext cx="8046720" cy="548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sz="1800"/>
              <a:t>One official cannot move the election forward alone.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9C172-2EA9-4046-9664-D4433CA77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411480"/>
            <a:ext cx="8046720" cy="10972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Election lifecycle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Chevron 27"/>
          <p:cNvSpPr/>
          <p:nvPr/>
        </p:nvSpPr>
        <p:spPr>
          <a:xfrm>
            <a:off x="685800" y="182880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Announced</a:t>
            </a:r>
          </a:p>
        </p:txBody>
      </p:sp>
      <p:sp>
        <p:nvSpPr>
          <p:cNvPr id="29" name="Chevron 28"/>
          <p:cNvSpPr/>
          <p:nvPr/>
        </p:nvSpPr>
        <p:spPr>
          <a:xfrm>
            <a:off x="2350008" y="182880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Nomination</a:t>
            </a:r>
          </a:p>
        </p:txBody>
      </p:sp>
      <p:sp>
        <p:nvSpPr>
          <p:cNvPr id="30" name="Chevron 29"/>
          <p:cNvSpPr/>
          <p:nvPr/>
        </p:nvSpPr>
        <p:spPr>
          <a:xfrm>
            <a:off x="4014216" y="182880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Scrutiny</a:t>
            </a:r>
          </a:p>
        </p:txBody>
      </p:sp>
      <p:sp>
        <p:nvSpPr>
          <p:cNvPr id="31" name="Chevron 30"/>
          <p:cNvSpPr/>
          <p:nvPr/>
        </p:nvSpPr>
        <p:spPr>
          <a:xfrm>
            <a:off x="5678424" y="182880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Withdrawal</a:t>
            </a:r>
          </a:p>
        </p:txBody>
      </p:sp>
      <p:sp>
        <p:nvSpPr>
          <p:cNvPr id="32" name="Chevron 31"/>
          <p:cNvSpPr/>
          <p:nvPr/>
        </p:nvSpPr>
        <p:spPr>
          <a:xfrm>
            <a:off x="7342632" y="182880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CandidateList</a:t>
            </a:r>
          </a:p>
        </p:txBody>
      </p:sp>
      <p:sp>
        <p:nvSpPr>
          <p:cNvPr id="33" name="Chevron 32"/>
          <p:cNvSpPr/>
          <p:nvPr/>
        </p:nvSpPr>
        <p:spPr>
          <a:xfrm>
            <a:off x="685800" y="278892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Campaign</a:t>
            </a:r>
          </a:p>
        </p:txBody>
      </p:sp>
      <p:sp>
        <p:nvSpPr>
          <p:cNvPr id="34" name="Chevron 33"/>
          <p:cNvSpPr/>
          <p:nvPr/>
        </p:nvSpPr>
        <p:spPr>
          <a:xfrm>
            <a:off x="2350008" y="278892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Polling</a:t>
            </a:r>
          </a:p>
        </p:txBody>
      </p:sp>
      <p:sp>
        <p:nvSpPr>
          <p:cNvPr id="35" name="Chevron 34"/>
          <p:cNvSpPr/>
          <p:nvPr/>
        </p:nvSpPr>
        <p:spPr>
          <a:xfrm>
            <a:off x="4014216" y="278892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Counting</a:t>
            </a:r>
          </a:p>
        </p:txBody>
      </p:sp>
      <p:sp>
        <p:nvSpPr>
          <p:cNvPr id="36" name="Chevron 35"/>
          <p:cNvSpPr/>
          <p:nvPr/>
        </p:nvSpPr>
        <p:spPr>
          <a:xfrm>
            <a:off x="5678424" y="278892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Declared</a:t>
            </a:r>
          </a:p>
        </p:txBody>
      </p:sp>
      <p:sp>
        <p:nvSpPr>
          <p:cNvPr id="37" name="Chevron 36"/>
          <p:cNvSpPr/>
          <p:nvPr/>
        </p:nvSpPr>
        <p:spPr>
          <a:xfrm>
            <a:off x="7342632" y="2788920"/>
            <a:ext cx="178308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Archived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886200"/>
            <a:ext cx="82296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600" b="1">
                <a:solidFill>
                  <a:schemeClr val="tx2"/>
                </a:solidFill>
              </a:rPr>
              <a:t>Needs a second official to approve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389120"/>
            <a:ext cx="1920240" cy="457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0">
                <a:solidFill>
                  <a:schemeClr val="tx2"/>
                </a:solidFill>
              </a:rPr>
              <a:t>Publish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4389120"/>
            <a:ext cx="1920240" cy="457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0">
                <a:solidFill>
                  <a:schemeClr val="tx2"/>
                </a:solidFill>
              </a:rPr>
              <a:t>OpenPolling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00600" y="4389120"/>
            <a:ext cx="1920240" cy="457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0">
                <a:solidFill>
                  <a:schemeClr val="tx2"/>
                </a:solidFill>
              </a:rPr>
              <a:t>ReplaceBallotKey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4389120"/>
            <a:ext cx="1920240" cy="457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0">
                <a:solidFill>
                  <a:schemeClr val="tx2"/>
                </a:solidFill>
              </a:rPr>
              <a:t>ClosePolling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956048"/>
            <a:ext cx="1920240" cy="457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0">
                <a:solidFill>
                  <a:schemeClr val="tx2"/>
                </a:solidFill>
              </a:rPr>
              <a:t>Count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4956048"/>
            <a:ext cx="1920240" cy="457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0">
                <a:solidFill>
                  <a:schemeClr val="tx2"/>
                </a:solidFill>
              </a:rPr>
              <a:t>Declare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4956048"/>
            <a:ext cx="1920240" cy="457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0">
                <a:solidFill>
                  <a:schemeClr val="tx2"/>
                </a:solidFill>
              </a:rPr>
              <a:t>Archive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4956048"/>
            <a:ext cx="1920240" cy="457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0">
                <a:solidFill>
                  <a:schemeClr val="tx2"/>
                </a:solidFill>
              </a:rPr>
              <a:t>EmergencyRevoke</a:t>
            </a:r>
          </a:p>
        </p:txBody>
      </p:sp>
    </p:spTree>
    <p:extLst>
      <p:ext uri="{BB962C8B-B14F-4D97-AF65-F5344CB8AC3E}">
        <p14:creationId xmlns:p14="http://schemas.microsoft.com/office/powerpoint/2010/main" val="117019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Data model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8595360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83 entity types, drawn as six ER sub-models. 24 serve elections and polls.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22960" y="2514600"/>
            <a:ext cx="3337560" cy="137160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800" b="0" dirty="0">
                <a:solidFill>
                  <a:schemeClr val="tx2"/>
                </a:solidFill>
              </a:rPr>
              <a:t>Identity and records</a:t>
            </a:r>
          </a:p>
          <a:p>
            <a:pPr algn="ctr"/>
            <a:r>
              <a:rPr sz="1800" b="0" dirty="0">
                <a:solidFill>
                  <a:schemeClr val="tx2"/>
                </a:solidFill>
              </a:rPr>
              <a:t>Figure 6.3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434840" y="2514600"/>
            <a:ext cx="3337560" cy="137160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800" b="0">
                <a:solidFill>
                  <a:schemeClr val="tx2"/>
                </a:solidFill>
              </a:rPr>
              <a:t>Standing and money</a:t>
            </a:r>
          </a:p>
          <a:p>
            <a:pPr algn="ctr"/>
            <a:r>
              <a:rPr sz="1800" b="0">
                <a:solidFill>
                  <a:schemeClr val="tx2"/>
                </a:solidFill>
              </a:rPr>
              <a:t>Figure 6.4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046720" y="2514600"/>
            <a:ext cx="3337560" cy="137160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800" b="0">
                <a:solidFill>
                  <a:schemeClr val="tx2"/>
                </a:solidFill>
              </a:rPr>
              <a:t>Events and participation</a:t>
            </a:r>
          </a:p>
          <a:p>
            <a:pPr algn="ctr"/>
            <a:r>
              <a:rPr sz="1800" b="0">
                <a:solidFill>
                  <a:schemeClr val="tx2"/>
                </a:solidFill>
              </a:rPr>
              <a:t>Figure 6.5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22960" y="4206240"/>
            <a:ext cx="3337560" cy="137160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800" b="0">
                <a:solidFill>
                  <a:schemeClr val="tx2"/>
                </a:solidFill>
              </a:rPr>
              <a:t>Governance</a:t>
            </a:r>
          </a:p>
          <a:p>
            <a:pPr algn="ctr"/>
            <a:r>
              <a:rPr sz="1800" b="0">
                <a:solidFill>
                  <a:schemeClr val="tx2"/>
                </a:solidFill>
              </a:rPr>
              <a:t>Figure 6.6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434840" y="4206240"/>
            <a:ext cx="3337560" cy="13716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800" b="0">
                <a:solidFill>
                  <a:schemeClr val="bg1"/>
                </a:solidFill>
              </a:rPr>
              <a:t>Election roll and nominations</a:t>
            </a:r>
          </a:p>
          <a:p>
            <a:pPr algn="ctr"/>
            <a:r>
              <a:rPr sz="1800" b="0">
                <a:solidFill>
                  <a:schemeClr val="bg1"/>
                </a:solidFill>
              </a:rPr>
              <a:t>Figure 6.7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046720" y="4206240"/>
            <a:ext cx="3337560" cy="13716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800" b="0">
                <a:solidFill>
                  <a:schemeClr val="bg1"/>
                </a:solidFill>
              </a:rPr>
              <a:t>Voting and the count</a:t>
            </a:r>
          </a:p>
          <a:p>
            <a:pPr algn="ctr"/>
            <a:r>
              <a:rPr sz="1800" b="0">
                <a:solidFill>
                  <a:schemeClr val="bg1"/>
                </a:solidFill>
              </a:rPr>
              <a:t>Figure 6.8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0">
                <a:solidFill>
                  <a:schemeClr val="tx2"/>
                </a:solidFill>
              </a:rPr>
              <a:t>Why six: one diagram of all the tables cannot be printed legibly. The two shaded sub-models are the 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Election ERD: roll and nominations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8595360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Book Figure 6.7</a:t>
            </a:r>
          </a:p>
        </p:txBody>
      </p:sp>
      <p:pic>
        <p:nvPicPr>
          <p:cNvPr id="138" name="Picture 137" descr="erd-roll-nominations-t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1196" y="2240280"/>
            <a:ext cx="779912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Election ERD: voting and the count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8595360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Book Figure 6.8</a:t>
            </a:r>
          </a:p>
        </p:txBody>
      </p:sp>
      <p:pic>
        <p:nvPicPr>
          <p:cNvPr id="138" name="Picture 137" descr="erd-voting-count-t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745" y="2240280"/>
            <a:ext cx="8195389" cy="4526280"/>
          </a:xfrm>
          <a:prstGeom prst="rect">
            <a:avLst/>
          </a:prstGeom>
        </p:spPr>
      </p:pic>
      <p:sp>
        <p:nvSpPr>
          <p:cNvPr id="139" name="Rounded Rectangle 138"/>
          <p:cNvSpPr/>
          <p:nvPr/>
        </p:nvSpPr>
        <p:spPr>
          <a:xfrm>
            <a:off x="9006840" y="2926080"/>
            <a:ext cx="2743200" cy="23774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500" b="1">
                <a:solidFill>
                  <a:schemeClr val="bg1"/>
                </a:solidFill>
              </a:rPr>
              <a:t>No key joins SeatVote to Ballot.</a:t>
            </a:r>
          </a:p>
          <a:p>
            <a:pPr algn="l"/>
            <a:r>
              <a:rPr sz="1500" b="0">
                <a:solidFill>
                  <a:schemeClr val="bg1"/>
                </a:solidFill>
              </a:rPr>
              <a:t>SeatVote knows who voted. Ballot knows what was chosen. Nothing links the two.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How ballot secrecy is kept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8595360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Who voted and what they chose are stored apart.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600" b="1">
                <a:solidFill>
                  <a:schemeClr val="tx2"/>
                </a:solidFill>
              </a:rPr>
              <a:t>Voter side: who voted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92240" y="2377440"/>
            <a:ext cx="5029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600" b="1">
                <a:solidFill>
                  <a:schemeClr val="tx2"/>
                </a:solidFill>
              </a:rPr>
              <a:t>Ballot side: what was chosen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6080760" y="2377440"/>
            <a:ext cx="0" cy="3246120"/>
          </a:xfrm>
          <a:prstGeom prst="line">
            <a:avLst/>
          </a:prstGeom>
          <a:ln w="22225"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640080" y="2926080"/>
            <a:ext cx="5029200" cy="82296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1">
                <a:solidFill>
                  <a:schemeClr val="tx2"/>
                </a:solidFill>
              </a:rPr>
              <a:t>1  </a:t>
            </a:r>
            <a:r>
              <a:rPr sz="1400" b="0">
                <a:solidFill>
                  <a:schemeClr val="tx2"/>
                </a:solidFill>
              </a:rPr>
              <a:t>The voter casts a ballot. SeatVote records the member and the time.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492240" y="2926080"/>
            <a:ext cx="5029200" cy="82296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1" dirty="0">
                <a:solidFill>
                  <a:schemeClr val="tx2"/>
                </a:solidFill>
              </a:rPr>
              <a:t>2  </a:t>
            </a:r>
            <a:r>
              <a:rPr sz="1400" b="0" dirty="0">
                <a:solidFill>
                  <a:schemeClr val="tx2"/>
                </a:solidFill>
              </a:rPr>
              <a:t>In the same transaction the choices go to </a:t>
            </a:r>
            <a:r>
              <a:rPr sz="1400" b="0" dirty="0" err="1">
                <a:solidFill>
                  <a:schemeClr val="tx2"/>
                </a:solidFill>
              </a:rPr>
              <a:t>PendingBallot</a:t>
            </a:r>
            <a:r>
              <a:rPr sz="1400" b="0" dirty="0">
                <a:solidFill>
                  <a:schemeClr val="tx2"/>
                </a:solidFill>
              </a:rPr>
              <a:t>, sealed with the election public key. No member, no time.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5669280" y="3337560"/>
            <a:ext cx="822960" cy="0"/>
          </a:xfrm>
          <a:prstGeom prst="line">
            <a:avLst/>
          </a:prstGeom>
          <a:ln w="22225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6492240" y="4069080"/>
            <a:ext cx="5029200" cy="118872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1">
                <a:solidFill>
                  <a:schemeClr val="tx2"/>
                </a:solidFill>
              </a:rPr>
              <a:t>3  </a:t>
            </a:r>
            <a:r>
              <a:rPr sz="1400" b="0">
                <a:solidFill>
                  <a:schemeClr val="tx2"/>
                </a:solidFill>
              </a:rPr>
              <a:t>At the count, the officer's private key opens the sealed rows. They are shuffled, written to Ballot and BallotVote under random GUIDs, then deleted.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9006840" y="3749039"/>
            <a:ext cx="0" cy="320041"/>
          </a:xfrm>
          <a:prstGeom prst="line">
            <a:avLst/>
          </a:prstGeom>
          <a:ln w="22225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640080" y="4069080"/>
            <a:ext cx="5029200" cy="118872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1">
                <a:solidFill>
                  <a:schemeClr val="tx2"/>
                </a:solidFill>
              </a:rPr>
              <a:t>4  </a:t>
            </a:r>
            <a:r>
              <a:rPr sz="1400" b="0">
                <a:solidFill>
                  <a:schemeClr val="tx2"/>
                </a:solidFill>
              </a:rPr>
              <a:t>The voter gets a tracking code in BallotReceipt. It is not linked to the ballot.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40080" y="5760720"/>
            <a:ext cx="10881360" cy="6858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1">
                <a:solidFill>
                  <a:schemeClr val="bg1"/>
                </a:solidFill>
              </a:rPr>
              <a:t>5  </a:t>
            </a:r>
            <a:r>
              <a:rPr sz="1400" b="0">
                <a:solidFill>
                  <a:schemeClr val="bg1"/>
                </a:solidFill>
              </a:rPr>
              <a:t>ElectionAuditEntry chains each entry to the hash of the one before it, so an edit shows.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Demo: a full local election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8595360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Run by the walkthrough script, step by step.</a:t>
            </a:r>
          </a:p>
        </p:txBody>
      </p:sp>
      <p:sp>
        <p:nvSpPr>
          <p:cNvPr id="138" name="Chevron 137"/>
          <p:cNvSpPr/>
          <p:nvPr/>
        </p:nvSpPr>
        <p:spPr>
          <a:xfrm>
            <a:off x="640080" y="2514600"/>
            <a:ext cx="169164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Setup</a:t>
            </a:r>
          </a:p>
        </p:txBody>
      </p:sp>
      <p:sp>
        <p:nvSpPr>
          <p:cNvPr id="139" name="Chevron 138"/>
          <p:cNvSpPr/>
          <p:nvPr/>
        </p:nvSpPr>
        <p:spPr>
          <a:xfrm>
            <a:off x="2221991" y="2514600"/>
            <a:ext cx="169164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Polling</a:t>
            </a:r>
          </a:p>
        </p:txBody>
      </p:sp>
      <p:sp>
        <p:nvSpPr>
          <p:cNvPr id="140" name="Chevron 139"/>
          <p:cNvSpPr/>
          <p:nvPr/>
        </p:nvSpPr>
        <p:spPr>
          <a:xfrm>
            <a:off x="3803904" y="2514600"/>
            <a:ext cx="1691640" cy="777240"/>
          </a:xfrm>
          <a:prstGeom prst="chevron">
            <a:avLst>
              <a:gd name="adj" fmla="val 3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10 voters</a:t>
            </a:r>
          </a:p>
        </p:txBody>
      </p:sp>
      <p:sp>
        <p:nvSpPr>
          <p:cNvPr id="141" name="Chevron 140"/>
          <p:cNvSpPr/>
          <p:nvPr/>
        </p:nvSpPr>
        <p:spPr>
          <a:xfrm>
            <a:off x="5385816" y="2514600"/>
            <a:ext cx="169164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Close</a:t>
            </a:r>
          </a:p>
        </p:txBody>
      </p:sp>
      <p:sp>
        <p:nvSpPr>
          <p:cNvPr id="142" name="Chevron 141"/>
          <p:cNvSpPr/>
          <p:nvPr/>
        </p:nvSpPr>
        <p:spPr>
          <a:xfrm>
            <a:off x="6967728" y="2514600"/>
            <a:ext cx="169164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Count</a:t>
            </a:r>
          </a:p>
        </p:txBody>
      </p:sp>
      <p:sp>
        <p:nvSpPr>
          <p:cNvPr id="143" name="Chevron 142"/>
          <p:cNvSpPr/>
          <p:nvPr/>
        </p:nvSpPr>
        <p:spPr>
          <a:xfrm>
            <a:off x="8549640" y="2514600"/>
            <a:ext cx="169164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Declare</a:t>
            </a:r>
          </a:p>
        </p:txBody>
      </p:sp>
      <p:sp>
        <p:nvSpPr>
          <p:cNvPr id="144" name="Chevron 143"/>
          <p:cNvSpPr/>
          <p:nvPr/>
        </p:nvSpPr>
        <p:spPr>
          <a:xfrm>
            <a:off x="10131551" y="2514600"/>
            <a:ext cx="1691640" cy="777240"/>
          </a:xfrm>
          <a:prstGeom prst="chevron">
            <a:avLst>
              <a:gd name="adj" fmla="val 3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40080" y="3657600"/>
            <a:ext cx="108813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500" b="1">
                <a:solidFill>
                  <a:schemeClr val="tx2"/>
                </a:solidFill>
              </a:rPr>
              <a:t>Commands, from the repo root, local machine only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40080" y="4114800"/>
            <a:ext cx="10881360" cy="146304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0">
                <a:solidFill>
                  <a:schemeClr val="tx2"/>
                </a:solidFill>
                <a:latin typeface="Consolas"/>
              </a:rPr>
              <a:t>scripts\run-election-walkthrough.bat setup         before the talk, up to Campaign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Consolas"/>
              </a:rPr>
              <a:t>scripts\run-election-walkthrough.bat resume slow   in the talk, polling to results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Consolas"/>
              </a:rPr>
              <a:t>scripts\run-election-walkthrough.bat full demo     one go, polling dates moved to now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Consolas"/>
              </a:rPr>
              <a:t>scripts\clean-election-test-data.bat               afterwards, remove the test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Verification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8595360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Test declarations counted from source on 31 Oct 2026.</a:t>
            </a:r>
          </a:p>
        </p:txBody>
      </p:sp>
      <p:graphicFrame>
        <p:nvGraphicFramePr>
          <p:cNvPr id="138" name="Chart 137"/>
          <p:cNvGraphicFramePr>
            <a:graphicFrameLocks noGrp="1"/>
          </p:cNvGraphicFramePr>
          <p:nvPr/>
        </p:nvGraphicFramePr>
        <p:xfrm>
          <a:off x="640080" y="23317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9" name="Rounded Rectangle 138"/>
          <p:cNvSpPr/>
          <p:nvPr/>
        </p:nvSpPr>
        <p:spPr>
          <a:xfrm>
            <a:off x="7955279" y="2651760"/>
            <a:ext cx="3566160" cy="14630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3600" b="1">
                <a:solidFill>
                  <a:schemeClr val="bg1"/>
                </a:solidFill>
              </a:rPr>
              <a:t>517</a:t>
            </a:r>
          </a:p>
          <a:p>
            <a:pPr algn="ctr"/>
            <a:r>
              <a:rPr sz="1600" b="0">
                <a:solidFill>
                  <a:schemeClr val="bg1"/>
                </a:solidFill>
              </a:rPr>
              <a:t>election-related backend test attributes, across 37 files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955279" y="4389120"/>
            <a:ext cx="35661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0">
                <a:solidFill>
                  <a:schemeClr val="tx2"/>
                </a:solidFill>
              </a:rPr>
              <a:t>These count the tests that exist. They are not a pass rate. The design is checked by tests; it has not yet run a live election.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What is left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8595360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Tracker on 31 Oct 2026: 86 TODO, 28 PARTIAL.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22960" y="2514600"/>
            <a:ext cx="10515600" cy="3840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2000" b="1">
                <a:solidFill>
                  <a:schemeClr val="tx2"/>
                </a:solidFill>
              </a:rPr>
              <a:t>Tracker.  </a:t>
            </a:r>
            <a:r>
              <a:rPr sz="2000" b="0">
                <a:solidFill>
                  <a:schemeClr val="tx2"/>
                </a:solidFill>
              </a:rPr>
              <a:t>86 TODO and 28 PARTIAL. Finished items move to the archive file, so this list understates progress.</a:t>
            </a:r>
          </a:p>
          <a:p>
            <a:pPr algn="l"/>
            <a:endParaRPr sz="2000" b="0">
              <a:solidFill>
                <a:schemeClr val="tx2"/>
              </a:solidFill>
            </a:endParaRPr>
          </a:p>
          <a:p>
            <a:pPr algn="l"/>
            <a:r>
              <a:rPr sz="2000" b="1">
                <a:solidFill>
                  <a:schemeClr val="tx2"/>
                </a:solidFill>
              </a:rPr>
              <a:t>Waiting on the election calendar.  </a:t>
            </a:r>
            <a:r>
              <a:rPr sz="2000" b="0">
                <a:solidFill>
                  <a:schemeClr val="tx2"/>
                </a:solidFill>
              </a:rPr>
              <a:t>Phone checks on a real device (84.50) and two follow-up fixes (B4, B5).</a:t>
            </a:r>
          </a:p>
          <a:p>
            <a:pPr algn="l"/>
            <a:endParaRPr sz="2000" b="0">
              <a:solidFill>
                <a:schemeClr val="tx2"/>
              </a:solidFill>
            </a:endParaRPr>
          </a:p>
          <a:p>
            <a:pPr algn="l"/>
            <a:r>
              <a:rPr sz="2000" b="1">
                <a:solidFill>
                  <a:schemeClr val="tx2"/>
                </a:solidFill>
              </a:rPr>
              <a:t>Next.  </a:t>
            </a:r>
            <a:r>
              <a:rPr sz="2000" b="0">
                <a:solidFill>
                  <a:schemeClr val="tx2"/>
                </a:solidFill>
              </a:rPr>
              <a:t>The first live election, then a report on how it ran.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D4A59A-1C5B-EDC6-32E1-236B62FA9A21}"/>
              </a:ext>
            </a:extLst>
          </p:cNvPr>
          <p:cNvSpPr txBox="1">
            <a:spLocks/>
          </p:cNvSpPr>
          <p:nvPr/>
        </p:nvSpPr>
        <p:spPr>
          <a:xfrm>
            <a:off x="965742" y="2845986"/>
            <a:ext cx="4515599" cy="872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8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Q &amp; 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D81016-2D37-954D-48CF-C4A311033C80}"/>
              </a:ext>
            </a:extLst>
          </p:cNvPr>
          <p:cNvSpPr txBox="1">
            <a:spLocks/>
          </p:cNvSpPr>
          <p:nvPr/>
        </p:nvSpPr>
        <p:spPr>
          <a:xfrm>
            <a:off x="907398" y="1164166"/>
            <a:ext cx="4515599" cy="872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Github</a:t>
            </a:r>
            <a:br>
              <a:rPr lang="en-US" dirty="0"/>
            </a:br>
            <a:r>
              <a:rPr lang="en-US" sz="16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https://github.com/shalin-rahman/GHCAA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C52A3B-1C2C-4E52-CB04-6F311F93173A}"/>
              </a:ext>
            </a:extLst>
          </p:cNvPr>
          <p:cNvSpPr txBox="1">
            <a:spLocks/>
          </p:cNvSpPr>
          <p:nvPr/>
        </p:nvSpPr>
        <p:spPr>
          <a:xfrm>
            <a:off x="778713" y="4527806"/>
            <a:ext cx="4515599" cy="872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777479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Chalcot">
  <a:themeElements>
    <a:clrScheme name="Custom 2">
      <a:dk1>
        <a:srgbClr val="000000"/>
      </a:dk1>
      <a:lt1>
        <a:srgbClr val="F3EBE8"/>
      </a:lt1>
      <a:dk2>
        <a:srgbClr val="264653"/>
      </a:dk2>
      <a:lt2>
        <a:srgbClr val="FFFFFF"/>
      </a:lt2>
      <a:accent1>
        <a:srgbClr val="E9939D"/>
      </a:accent1>
      <a:accent2>
        <a:srgbClr val="E9C369"/>
      </a:accent2>
      <a:accent3>
        <a:srgbClr val="2A9D8F"/>
      </a:accent3>
      <a:accent4>
        <a:srgbClr val="F3D6CD"/>
      </a:accent4>
      <a:accent5>
        <a:srgbClr val="8CBA8F"/>
      </a:accent5>
      <a:accent6>
        <a:srgbClr val="919FA9"/>
      </a:accent6>
      <a:hlink>
        <a:srgbClr val="8F45C7"/>
      </a:hlink>
      <a:folHlink>
        <a:srgbClr val="D08A55"/>
      </a:folHlink>
    </a:clrScheme>
    <a:fontScheme name="Custom 362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lcot_Copilot Layouts_win32_LW_V5" id="{BB83E610-C1CA-49EC-A787-4EFEA8456B79}" vid="{40FB1116-6983-46AA-9CD7-BA42C7965D41}"/>
    </a:ext>
  </a:extLst>
</a:theme>
</file>

<file path=ppt/theme/theme2.xml><?xml version="1.0" encoding="utf-8"?>
<a:theme xmlns:a="http://schemas.openxmlformats.org/drawingml/2006/main" name="Io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D192A-84D9-4592-8CD0-04B2096CE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C1B1D1-0368-4ED3-8004-0F946C56E5DB}">
  <ds:schemaRefs>
    <ds:schemaRef ds:uri="http://schemas.microsoft.com/sharepoint/v3"/>
    <ds:schemaRef ds:uri="http://schemas.microsoft.com/office/2006/documentManagement/types"/>
    <ds:schemaRef ds:uri="http://purl.org/dc/terms/"/>
    <ds:schemaRef ds:uri="71af3243-3dd4-4a8d-8c0d-dd76da1f02a5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ACDF21CE-F94D-4E7A-9B41-689023E47C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{177170DC-BEEB-4CF7-B9C2-5883527E27F2}f8dc1640-3439-4295-837e-5fa9f8b9a147-TF9c42d441-9920-40a0-9453-1a93061bec3d9548b722_win32</Template>
  <TotalTime>641</TotalTime>
  <Words>994</Words>
  <Application>Microsoft Office PowerPoint</Application>
  <PresentationFormat>Widescreen</PresentationFormat>
  <Paragraphs>111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-apple-system</vt:lpstr>
      <vt:lpstr>Aptos</vt:lpstr>
      <vt:lpstr>Arial</vt:lpstr>
      <vt:lpstr>Biome Light</vt:lpstr>
      <vt:lpstr>Century Gothic</vt:lpstr>
      <vt:lpstr>Consolas</vt:lpstr>
      <vt:lpstr>Karla</vt:lpstr>
      <vt:lpstr>Univers Condensed Light</vt:lpstr>
      <vt:lpstr>Wingdings 3</vt:lpstr>
      <vt:lpstr>Chalcot</vt:lpstr>
      <vt:lpstr>Ion</vt:lpstr>
      <vt:lpstr>Design, Development and Evaluation of a Specification-Driven, Reusable Alumni Management Platform for Resource-Constrained Institutions</vt:lpstr>
      <vt:lpstr>Where the project stands </vt:lpstr>
      <vt:lpstr>Architecture</vt:lpstr>
      <vt:lpstr>Election lifecycle</vt:lpstr>
      <vt:lpstr>Data model</vt:lpstr>
      <vt:lpstr>Election ERD: roll and nominations</vt:lpstr>
      <vt:lpstr>Election ERD: voting and the count</vt:lpstr>
      <vt:lpstr>How ballot secrecy is kept</vt:lpstr>
      <vt:lpstr>Demo: a full local election</vt:lpstr>
      <vt:lpstr>Verification</vt:lpstr>
      <vt:lpstr>What is left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Habibur Rahman Shalin</dc:creator>
  <cp:lastModifiedBy>Habibur Rahman Shalin</cp:lastModifiedBy>
  <cp:revision>8</cp:revision>
  <dcterms:created xsi:type="dcterms:W3CDTF">2026-09-26T07:23:02Z</dcterms:created>
  <dcterms:modified xsi:type="dcterms:W3CDTF">2026-10-31T07:44:26Z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