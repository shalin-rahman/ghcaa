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788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the problem rather than the technology. The association already had members, payments, events and governance processes. The problem was that these were distributed across paper records, spreadsheets, messaging groups and manually maintained documents.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goal was not simply to build CRUD screens. The system had to work within the association's actual financial, operational and governance constraints.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first converted the organizational problem into specifications. Requirements came from stakeholder needs, existing processes, Association documents and software-engineering principles. Important requirements were then traced from their source through business rules, implementation and testing.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uses a shared ASP.NET Core backend as the system boundary. Angular and Flutter are clients of the same API, so important business rules are not duplicated between applications.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workflows demonstrate the design clearly. Membership moves through explicit states and administrative review. Payment deliberately does not assume a live gateway. Instead, the system records payment evidence, verification, receipts and audit history.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this is an Association platform, governance and privacy are important. The system can support governance processes, but it does not replace the constitution or Election Commission. Similarly, directory information is exposed according to authorization and privacy rules.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major design objective is reuse. Common platform capabilities are separated from organization-specific configuration. This allows branding, payment instructions, membership tiers and content to change without treating every organization as a separate source-code project.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spans web, API and mobile clients, but testing is also multi-layered. Unit, integration, API and end-to-end tests are combined with coverage, static analysis and CI validation.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important distinction is that implementation does not automatically prove quality. The remaining evaluation therefore focuses on measurable evidence: coverage, traceability, security, usability, performance, portability and recovery.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result is therefore not simply an alumni CRUD application. It is a specification-driven attempt to turn fragmented association processes into a controlled system of record, while keeping cost, governance, maintainability and reuse as explicit engineering constraints.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3A4B"/>
          </a:solidFill>
          <a:ln/>
        </p:spPr>
        <p:txBody>
          <a:bodyPr/>
          <a:lstStyle/>
          <a:p>
            <a:endParaRPr lang="en-US"/>
          </a:p>
        </p:txBody>
      </p:sp>
      <p:sp>
        <p:nvSpPr>
          <p:cNvPr id="3" name="Shape 1"/>
          <p:cNvSpPr/>
          <p:nvPr/>
        </p:nvSpPr>
        <p:spPr>
          <a:xfrm>
            <a:off x="0" y="960120"/>
            <a:ext cx="12191695" cy="41148"/>
          </a:xfrm>
          <a:prstGeom prst="rect">
            <a:avLst/>
          </a:prstGeom>
          <a:solidFill>
            <a:srgbClr val="C77D0A"/>
          </a:solidFill>
          <a:ln/>
        </p:spPr>
        <p:txBody>
          <a:bodyPr/>
          <a:lstStyle/>
          <a:p>
            <a:endParaRPr lang="en-US"/>
          </a:p>
        </p:txBody>
      </p:sp>
      <p:sp>
        <p:nvSpPr>
          <p:cNvPr id="4" name="Text 2"/>
          <p:cNvSpPr/>
          <p:nvPr/>
        </p:nvSpPr>
        <p:spPr>
          <a:xfrm>
            <a:off x="502920" y="128016"/>
            <a:ext cx="10058400" cy="256032"/>
          </a:xfrm>
          <a:prstGeom prst="rect">
            <a:avLst/>
          </a:prstGeom>
          <a:noFill/>
          <a:ln/>
        </p:spPr>
        <p:txBody>
          <a:bodyPr wrap="square" rtlCol="0" anchor="ctr"/>
          <a:lstStyle/>
          <a:p>
            <a:pPr marL="0" indent="0">
              <a:buNone/>
            </a:pPr>
            <a:r>
              <a:rPr lang="en-US" sz="1200" b="1" kern="0" spc="200" dirty="0">
                <a:solidFill>
                  <a:srgbClr val="C77D0A"/>
                </a:solidFill>
                <a:latin typeface="Calibri" pitchFamily="34" charset="0"/>
                <a:ea typeface="Calibri" pitchFamily="34" charset="-122"/>
                <a:cs typeface="Calibri" pitchFamily="34" charset="-120"/>
              </a:rPr>
              <a:t>THE PROBLEM</a:t>
            </a:r>
            <a:endParaRPr lang="en-US" sz="1200" dirty="0"/>
          </a:p>
        </p:txBody>
      </p:sp>
      <p:sp>
        <p:nvSpPr>
          <p:cNvPr id="5" name="Text 3"/>
          <p:cNvSpPr/>
          <p:nvPr/>
        </p:nvSpPr>
        <p:spPr>
          <a:xfrm>
            <a:off x="502920" y="384048"/>
            <a:ext cx="11155680" cy="530352"/>
          </a:xfrm>
          <a:prstGeom prst="rect">
            <a:avLst/>
          </a:prstGeom>
          <a:noFill/>
          <a:ln/>
        </p:spPr>
        <p:txBody>
          <a:bodyPr wrap="square"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From Fragmented Records to a Reliable System of Record</a:t>
            </a:r>
            <a:endParaRPr lang="en-US" sz="2700" dirty="0"/>
          </a:p>
        </p:txBody>
      </p:sp>
      <p:sp>
        <p:nvSpPr>
          <p:cNvPr id="6" name="Text 4"/>
          <p:cNvSpPr/>
          <p:nvPr/>
        </p:nvSpPr>
        <p:spPr>
          <a:xfrm>
            <a:off x="10561320" y="365760"/>
            <a:ext cx="1234440" cy="274320"/>
          </a:xfrm>
          <a:prstGeom prst="rect">
            <a:avLst/>
          </a:prstGeom>
          <a:noFill/>
          <a:ln/>
        </p:spPr>
        <p:txBody>
          <a:bodyPr wrap="square"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~1:00</a:t>
            </a:r>
            <a:endParaRPr lang="en-US" sz="1050" dirty="0"/>
          </a:p>
        </p:txBody>
      </p:sp>
      <p:sp>
        <p:nvSpPr>
          <p:cNvPr id="7" name="Shape 5"/>
          <p:cNvSpPr/>
          <p:nvPr/>
        </p:nvSpPr>
        <p:spPr>
          <a:xfrm>
            <a:off x="4937760" y="1170432"/>
            <a:ext cx="2286000" cy="384048"/>
          </a:xfrm>
          <a:prstGeom prst="roundRect">
            <a:avLst>
              <a:gd name="adj" fmla="val 14286"/>
            </a:avLst>
          </a:prstGeom>
          <a:solidFill>
            <a:srgbClr val="1B3A4B"/>
          </a:solidFill>
          <a:ln w="12700">
            <a:solidFill>
              <a:srgbClr val="1B3A4B"/>
            </a:solidFill>
            <a:prstDash val="solid"/>
          </a:ln>
        </p:spPr>
        <p:txBody>
          <a:bodyPr/>
          <a:lstStyle/>
          <a:p>
            <a:endParaRPr lang="en-US"/>
          </a:p>
        </p:txBody>
      </p:sp>
      <p:sp>
        <p:nvSpPr>
          <p:cNvPr id="8" name="Text 6"/>
          <p:cNvSpPr/>
          <p:nvPr/>
        </p:nvSpPr>
        <p:spPr>
          <a:xfrm>
            <a:off x="4937760" y="1170432"/>
            <a:ext cx="228600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Members</a:t>
            </a:r>
            <a:endParaRPr lang="en-US" sz="1300" dirty="0"/>
          </a:p>
        </p:txBody>
      </p:sp>
      <p:sp>
        <p:nvSpPr>
          <p:cNvPr id="9" name="Shape 7"/>
          <p:cNvSpPr/>
          <p:nvPr/>
        </p:nvSpPr>
        <p:spPr>
          <a:xfrm>
            <a:off x="5989320" y="1609344"/>
            <a:ext cx="201168" cy="182880"/>
          </a:xfrm>
          <a:prstGeom prst="downArrow">
            <a:avLst/>
          </a:prstGeom>
          <a:solidFill>
            <a:srgbClr val="5A6B75"/>
          </a:solidFill>
          <a:ln/>
        </p:spPr>
        <p:txBody>
          <a:bodyPr/>
          <a:lstStyle/>
          <a:p>
            <a:endParaRPr lang="en-US"/>
          </a:p>
        </p:txBody>
      </p:sp>
      <p:sp>
        <p:nvSpPr>
          <p:cNvPr id="10" name="Shape 8"/>
          <p:cNvSpPr/>
          <p:nvPr/>
        </p:nvSpPr>
        <p:spPr>
          <a:xfrm>
            <a:off x="502920" y="1847088"/>
            <a:ext cx="2099462" cy="457200"/>
          </a:xfrm>
          <a:prstGeom prst="roundRect">
            <a:avLst>
              <a:gd name="adj" fmla="val 12000"/>
            </a:avLst>
          </a:prstGeom>
          <a:solidFill>
            <a:srgbClr val="DCEEF5"/>
          </a:solidFill>
          <a:ln w="12700">
            <a:solidFill>
              <a:srgbClr val="2E86AB"/>
            </a:solidFill>
            <a:prstDash val="solid"/>
          </a:ln>
        </p:spPr>
        <p:txBody>
          <a:bodyPr/>
          <a:lstStyle/>
          <a:p>
            <a:endParaRPr lang="en-US"/>
          </a:p>
        </p:txBody>
      </p:sp>
      <p:sp>
        <p:nvSpPr>
          <p:cNvPr id="11" name="Text 9"/>
          <p:cNvSpPr/>
          <p:nvPr/>
        </p:nvSpPr>
        <p:spPr>
          <a:xfrm>
            <a:off x="502920" y="1847088"/>
            <a:ext cx="2099462" cy="457200"/>
          </a:xfrm>
          <a:prstGeom prst="rect">
            <a:avLst/>
          </a:prstGeom>
          <a:noFill/>
          <a:ln/>
        </p:spPr>
        <p:txBody>
          <a:bodyPr wrap="square"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Paper Forms</a:t>
            </a:r>
            <a:endParaRPr lang="en-US" sz="1100" dirty="0"/>
          </a:p>
        </p:txBody>
      </p:sp>
      <p:sp>
        <p:nvSpPr>
          <p:cNvPr id="12" name="Shape 10"/>
          <p:cNvSpPr/>
          <p:nvPr/>
        </p:nvSpPr>
        <p:spPr>
          <a:xfrm>
            <a:off x="2766974" y="1847088"/>
            <a:ext cx="2099462" cy="457200"/>
          </a:xfrm>
          <a:prstGeom prst="roundRect">
            <a:avLst>
              <a:gd name="adj" fmla="val 12000"/>
            </a:avLst>
          </a:prstGeom>
          <a:solidFill>
            <a:srgbClr val="DCEEF5"/>
          </a:solidFill>
          <a:ln w="12700">
            <a:solidFill>
              <a:srgbClr val="2E86AB"/>
            </a:solidFill>
            <a:prstDash val="solid"/>
          </a:ln>
        </p:spPr>
        <p:txBody>
          <a:bodyPr/>
          <a:lstStyle/>
          <a:p>
            <a:endParaRPr lang="en-US"/>
          </a:p>
        </p:txBody>
      </p:sp>
      <p:sp>
        <p:nvSpPr>
          <p:cNvPr id="13" name="Text 11"/>
          <p:cNvSpPr/>
          <p:nvPr/>
        </p:nvSpPr>
        <p:spPr>
          <a:xfrm>
            <a:off x="2766974" y="1847088"/>
            <a:ext cx="2099462" cy="457200"/>
          </a:xfrm>
          <a:prstGeom prst="rect">
            <a:avLst/>
          </a:prstGeom>
          <a:noFill/>
          <a:ln/>
        </p:spPr>
        <p:txBody>
          <a:bodyPr wrap="square"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Spreadsheets</a:t>
            </a:r>
            <a:endParaRPr lang="en-US" sz="1100" dirty="0"/>
          </a:p>
        </p:txBody>
      </p:sp>
      <p:sp>
        <p:nvSpPr>
          <p:cNvPr id="14" name="Shape 12"/>
          <p:cNvSpPr/>
          <p:nvPr/>
        </p:nvSpPr>
        <p:spPr>
          <a:xfrm>
            <a:off x="5031029" y="1847088"/>
            <a:ext cx="2099462" cy="457200"/>
          </a:xfrm>
          <a:prstGeom prst="roundRect">
            <a:avLst>
              <a:gd name="adj" fmla="val 12000"/>
            </a:avLst>
          </a:prstGeom>
          <a:solidFill>
            <a:srgbClr val="DCEEF5"/>
          </a:solidFill>
          <a:ln w="12700">
            <a:solidFill>
              <a:srgbClr val="2E86AB"/>
            </a:solidFill>
            <a:prstDash val="solid"/>
          </a:ln>
        </p:spPr>
        <p:txBody>
          <a:bodyPr/>
          <a:lstStyle/>
          <a:p>
            <a:endParaRPr lang="en-US"/>
          </a:p>
        </p:txBody>
      </p:sp>
      <p:sp>
        <p:nvSpPr>
          <p:cNvPr id="15" name="Text 13"/>
          <p:cNvSpPr/>
          <p:nvPr/>
        </p:nvSpPr>
        <p:spPr>
          <a:xfrm>
            <a:off x="5031029" y="1847088"/>
            <a:ext cx="2099462" cy="457200"/>
          </a:xfrm>
          <a:prstGeom prst="rect">
            <a:avLst/>
          </a:prstGeom>
          <a:noFill/>
          <a:ln/>
        </p:spPr>
        <p:txBody>
          <a:bodyPr wrap="square"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Messaging Groups</a:t>
            </a:r>
            <a:endParaRPr lang="en-US" sz="1100" dirty="0"/>
          </a:p>
        </p:txBody>
      </p:sp>
      <p:sp>
        <p:nvSpPr>
          <p:cNvPr id="16" name="Shape 14"/>
          <p:cNvSpPr/>
          <p:nvPr/>
        </p:nvSpPr>
        <p:spPr>
          <a:xfrm>
            <a:off x="7295083" y="1847088"/>
            <a:ext cx="2099462" cy="457200"/>
          </a:xfrm>
          <a:prstGeom prst="roundRect">
            <a:avLst>
              <a:gd name="adj" fmla="val 12000"/>
            </a:avLst>
          </a:prstGeom>
          <a:solidFill>
            <a:srgbClr val="DCEEF5"/>
          </a:solidFill>
          <a:ln w="12700">
            <a:solidFill>
              <a:srgbClr val="2E86AB"/>
            </a:solidFill>
            <a:prstDash val="solid"/>
          </a:ln>
        </p:spPr>
        <p:txBody>
          <a:bodyPr/>
          <a:lstStyle/>
          <a:p>
            <a:endParaRPr lang="en-US"/>
          </a:p>
        </p:txBody>
      </p:sp>
      <p:sp>
        <p:nvSpPr>
          <p:cNvPr id="17" name="Text 15"/>
          <p:cNvSpPr/>
          <p:nvPr/>
        </p:nvSpPr>
        <p:spPr>
          <a:xfrm>
            <a:off x="7295083" y="1847088"/>
            <a:ext cx="2099462" cy="457200"/>
          </a:xfrm>
          <a:prstGeom prst="rect">
            <a:avLst/>
          </a:prstGeom>
          <a:noFill/>
          <a:ln/>
        </p:spPr>
        <p:txBody>
          <a:bodyPr wrap="square"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Payment Records</a:t>
            </a:r>
            <a:endParaRPr lang="en-US" sz="1100" dirty="0"/>
          </a:p>
        </p:txBody>
      </p:sp>
      <p:sp>
        <p:nvSpPr>
          <p:cNvPr id="18" name="Shape 16"/>
          <p:cNvSpPr/>
          <p:nvPr/>
        </p:nvSpPr>
        <p:spPr>
          <a:xfrm>
            <a:off x="9559138" y="1847088"/>
            <a:ext cx="2099462" cy="457200"/>
          </a:xfrm>
          <a:prstGeom prst="roundRect">
            <a:avLst>
              <a:gd name="adj" fmla="val 12000"/>
            </a:avLst>
          </a:prstGeom>
          <a:solidFill>
            <a:srgbClr val="DCEEF5"/>
          </a:solidFill>
          <a:ln w="12700">
            <a:solidFill>
              <a:srgbClr val="2E86AB"/>
            </a:solidFill>
            <a:prstDash val="solid"/>
          </a:ln>
        </p:spPr>
        <p:txBody>
          <a:bodyPr/>
          <a:lstStyle/>
          <a:p>
            <a:endParaRPr lang="en-US"/>
          </a:p>
        </p:txBody>
      </p:sp>
      <p:sp>
        <p:nvSpPr>
          <p:cNvPr id="19" name="Text 17"/>
          <p:cNvSpPr/>
          <p:nvPr/>
        </p:nvSpPr>
        <p:spPr>
          <a:xfrm>
            <a:off x="9559138" y="1847088"/>
            <a:ext cx="2099462" cy="457200"/>
          </a:xfrm>
          <a:prstGeom prst="rect">
            <a:avLst/>
          </a:prstGeom>
          <a:noFill/>
          <a:ln/>
        </p:spPr>
        <p:txBody>
          <a:bodyPr wrap="square"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Documents</a:t>
            </a:r>
            <a:endParaRPr lang="en-US" sz="1100" dirty="0"/>
          </a:p>
        </p:txBody>
      </p:sp>
      <p:sp>
        <p:nvSpPr>
          <p:cNvPr id="20" name="Shape 18"/>
          <p:cNvSpPr/>
          <p:nvPr/>
        </p:nvSpPr>
        <p:spPr>
          <a:xfrm>
            <a:off x="5989320" y="2350008"/>
            <a:ext cx="201168" cy="182880"/>
          </a:xfrm>
          <a:prstGeom prst="downArrow">
            <a:avLst/>
          </a:prstGeom>
          <a:solidFill>
            <a:srgbClr val="5A6B75"/>
          </a:solidFill>
          <a:ln/>
        </p:spPr>
        <p:txBody>
          <a:bodyPr/>
          <a:lstStyle/>
          <a:p>
            <a:endParaRPr lang="en-US"/>
          </a:p>
        </p:txBody>
      </p:sp>
      <p:sp>
        <p:nvSpPr>
          <p:cNvPr id="21" name="Shape 19"/>
          <p:cNvSpPr/>
          <p:nvPr/>
        </p:nvSpPr>
        <p:spPr>
          <a:xfrm>
            <a:off x="4663440" y="2578608"/>
            <a:ext cx="2834640" cy="384048"/>
          </a:xfrm>
          <a:prstGeom prst="roundRect">
            <a:avLst>
              <a:gd name="adj" fmla="val 14286"/>
            </a:avLst>
          </a:prstGeom>
          <a:solidFill>
            <a:srgbClr val="FBEBD3"/>
          </a:solidFill>
          <a:ln w="12700">
            <a:solidFill>
              <a:srgbClr val="C77D0A"/>
            </a:solidFill>
            <a:prstDash val="solid"/>
          </a:ln>
        </p:spPr>
        <p:txBody>
          <a:bodyPr/>
          <a:lstStyle/>
          <a:p>
            <a:endParaRPr lang="en-US"/>
          </a:p>
        </p:txBody>
      </p:sp>
      <p:sp>
        <p:nvSpPr>
          <p:cNvPr id="22" name="Text 20"/>
          <p:cNvSpPr/>
          <p:nvPr/>
        </p:nvSpPr>
        <p:spPr>
          <a:xfrm>
            <a:off x="4663440" y="2578608"/>
            <a:ext cx="2834640" cy="384048"/>
          </a:xfrm>
          <a:prstGeom prst="rect">
            <a:avLst/>
          </a:prstGeom>
          <a:noFill/>
          <a:ln/>
        </p:spPr>
        <p:txBody>
          <a:bodyPr wrap="square" rtlCol="0" anchor="ctr"/>
          <a:lstStyle/>
          <a:p>
            <a:pPr marL="0" indent="0" algn="ctr">
              <a:buNone/>
            </a:pPr>
            <a:r>
              <a:rPr lang="en-US" sz="1250" b="1" dirty="0">
                <a:solidFill>
                  <a:srgbClr val="10262F"/>
                </a:solidFill>
                <a:latin typeface="Calibri" pitchFamily="34" charset="0"/>
                <a:ea typeface="Calibri" pitchFamily="34" charset="-122"/>
                <a:cs typeface="Calibri" pitchFamily="34" charset="-120"/>
              </a:rPr>
              <a:t>Scattered Information</a:t>
            </a:r>
            <a:endParaRPr lang="en-US" sz="1250" dirty="0"/>
          </a:p>
        </p:txBody>
      </p:sp>
      <p:sp>
        <p:nvSpPr>
          <p:cNvPr id="23" name="Shape 21"/>
          <p:cNvSpPr/>
          <p:nvPr/>
        </p:nvSpPr>
        <p:spPr>
          <a:xfrm>
            <a:off x="5989320" y="3017520"/>
            <a:ext cx="201168" cy="182880"/>
          </a:xfrm>
          <a:prstGeom prst="downArrow">
            <a:avLst/>
          </a:prstGeom>
          <a:solidFill>
            <a:srgbClr val="5A6B75"/>
          </a:solidFill>
          <a:ln/>
        </p:spPr>
        <p:txBody>
          <a:bodyPr/>
          <a:lstStyle/>
          <a:p>
            <a:endParaRPr lang="en-US"/>
          </a:p>
        </p:txBody>
      </p:sp>
      <p:sp>
        <p:nvSpPr>
          <p:cNvPr id="24" name="Shape 22"/>
          <p:cNvSpPr/>
          <p:nvPr/>
        </p:nvSpPr>
        <p:spPr>
          <a:xfrm>
            <a:off x="502920" y="3264408"/>
            <a:ext cx="11155680" cy="1965960"/>
          </a:xfrm>
          <a:prstGeom prst="roundRect">
            <a:avLst>
              <a:gd name="adj" fmla="val 2791"/>
            </a:avLst>
          </a:prstGeom>
          <a:solidFill>
            <a:srgbClr val="EEF2F4"/>
          </a:solidFill>
          <a:ln w="12700">
            <a:solidFill>
              <a:srgbClr val="5A6B75"/>
            </a:solidFill>
            <a:prstDash val="solid"/>
          </a:ln>
        </p:spPr>
        <p:txBody>
          <a:bodyPr/>
          <a:lstStyle/>
          <a:p>
            <a:endParaRPr lang="en-US"/>
          </a:p>
        </p:txBody>
      </p:sp>
      <p:sp>
        <p:nvSpPr>
          <p:cNvPr id="25" name="Text 23"/>
          <p:cNvSpPr/>
          <p:nvPr/>
        </p:nvSpPr>
        <p:spPr>
          <a:xfrm>
            <a:off x="704088" y="3392424"/>
            <a:ext cx="10753344" cy="1728216"/>
          </a:xfrm>
          <a:prstGeom prst="rect">
            <a:avLst/>
          </a:prstGeom>
          <a:noFill/>
          <a:ln/>
        </p:spPr>
        <p:txBody>
          <a:bodyPr wrap="square" rtlCol="0" anchor="t"/>
          <a:lstStyle/>
          <a:p>
            <a:pPr marL="0" indent="0">
              <a:lnSpc>
                <a:spcPct val="110000"/>
              </a:lnSpc>
              <a:spcAft>
                <a:spcPts val="400"/>
              </a:spcAft>
              <a:buNone/>
            </a:pPr>
            <a:r>
              <a:rPr lang="en-US" sz="1300" b="1" dirty="0">
                <a:solidFill>
                  <a:srgbClr val="1B3A4B"/>
                </a:solidFill>
                <a:latin typeface="Calibri" pitchFamily="34" charset="0"/>
                <a:ea typeface="Calibri" pitchFamily="34" charset="-122"/>
                <a:cs typeface="Calibri" pitchFamily="34" charset="-120"/>
              </a:rPr>
              <a:t>Consequences</a:t>
            </a:r>
            <a:endParaRPr lang="en-US" sz="1300" dirty="0"/>
          </a:p>
          <a:p>
            <a:pPr marL="342900" indent="-342900">
              <a:lnSpc>
                <a:spcPct val="110000"/>
              </a:lnSpc>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Difficult verification of membership and records</a:t>
            </a:r>
            <a:endParaRPr lang="en-US" sz="1300" dirty="0"/>
          </a:p>
          <a:p>
            <a:pPr marL="342900" indent="-342900">
              <a:lnSpc>
                <a:spcPct val="110000"/>
              </a:lnSpc>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Duplicate and inconsistent records across sources</a:t>
            </a:r>
            <a:endParaRPr lang="en-US" sz="1300" dirty="0"/>
          </a:p>
          <a:p>
            <a:pPr marL="342900" indent="-342900">
              <a:lnSpc>
                <a:spcPct val="110000"/>
              </a:lnSpc>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Manual, error-prone payment tracking</a:t>
            </a:r>
            <a:endParaRPr lang="en-US" sz="1300" dirty="0"/>
          </a:p>
          <a:p>
            <a:pPr marL="342900" indent="-342900">
              <a:lnSpc>
                <a:spcPct val="110000"/>
              </a:lnSpc>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Limited control over who can see private information</a:t>
            </a:r>
            <a:endParaRPr lang="en-US" sz="1300" dirty="0"/>
          </a:p>
          <a:p>
            <a:pPr marL="342900" indent="-342900">
              <a:lnSpc>
                <a:spcPct val="110000"/>
              </a:lnSpc>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Difficult to reconstruct an audit history</a:t>
            </a:r>
            <a:endParaRPr lang="en-US" sz="1300" dirty="0"/>
          </a:p>
          <a:p>
            <a:pPr marL="342900" indent="-342900">
              <a:lnSpc>
                <a:spcPct val="110000"/>
              </a:lnSpc>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Heavy dependency on individual volunteers' memory and availability</a:t>
            </a:r>
            <a:endParaRPr lang="en-US" sz="1300" dirty="0"/>
          </a:p>
        </p:txBody>
      </p:sp>
      <p:sp>
        <p:nvSpPr>
          <p:cNvPr id="26" name="Shape 24"/>
          <p:cNvSpPr/>
          <p:nvPr/>
        </p:nvSpPr>
        <p:spPr>
          <a:xfrm>
            <a:off x="502920" y="5394960"/>
            <a:ext cx="11155680" cy="685800"/>
          </a:xfrm>
          <a:prstGeom prst="roundRect">
            <a:avLst>
              <a:gd name="adj" fmla="val 10667"/>
            </a:avLst>
          </a:prstGeom>
          <a:solidFill>
            <a:srgbClr val="1B3A4B"/>
          </a:solidFill>
          <a:ln/>
        </p:spPr>
        <p:txBody>
          <a:bodyPr/>
          <a:lstStyle/>
          <a:p>
            <a:endParaRPr lang="en-US"/>
          </a:p>
        </p:txBody>
      </p:sp>
      <p:sp>
        <p:nvSpPr>
          <p:cNvPr id="27" name="Text 25"/>
          <p:cNvSpPr/>
          <p:nvPr/>
        </p:nvSpPr>
        <p:spPr>
          <a:xfrm>
            <a:off x="777240" y="5394960"/>
            <a:ext cx="10607040" cy="68580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The association had information and processes, but no unified, controlled system of record.</a:t>
            </a:r>
            <a:endParaRPr lang="en-US" sz="1600" dirty="0"/>
          </a:p>
        </p:txBody>
      </p:sp>
      <p:sp>
        <p:nvSpPr>
          <p:cNvPr id="29" name="Text 26"/>
          <p:cNvSpPr/>
          <p:nvPr/>
        </p:nvSpPr>
        <p:spPr>
          <a:xfrm>
            <a:off x="502920" y="6547104"/>
            <a:ext cx="7315200" cy="256032"/>
          </a:xfrm>
          <a:prstGeom prst="rect">
            <a:avLst/>
          </a:prstGeom>
          <a:noFill/>
          <a:ln/>
        </p:spPr>
        <p:txBody>
          <a:bodyPr wrap="square" rtlCol="0" anchor="ctr"/>
          <a:lstStyle/>
          <a:p>
            <a:pPr marL="0" indent="0">
              <a:buNone/>
            </a:pPr>
            <a:r>
              <a:rPr lang="en-US" sz="1000" i="1" dirty="0">
                <a:solidFill>
                  <a:srgbClr val="5A6B75"/>
                </a:solidFill>
                <a:latin typeface="Calibri" pitchFamily="34" charset="0"/>
                <a:ea typeface="Calibri" pitchFamily="34" charset="-122"/>
                <a:cs typeface="Calibri" pitchFamily="34" charset="-120"/>
              </a:rPr>
              <a:t>GHCAA — Govt. Haraganga College Alumni Association</a:t>
            </a:r>
            <a:endParaRPr lang="en-US" sz="1000" dirty="0"/>
          </a:p>
        </p:txBody>
      </p:sp>
      <p:sp>
        <p:nvSpPr>
          <p:cNvPr id="30" name="Text 27"/>
          <p:cNvSpPr/>
          <p:nvPr/>
        </p:nvSpPr>
        <p:spPr>
          <a:xfrm>
            <a:off x="11521440" y="6547104"/>
            <a:ext cx="457200" cy="256032"/>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3A4B"/>
          </a:solidFill>
          <a:ln/>
        </p:spPr>
        <p:txBody>
          <a:bodyPr/>
          <a:lstStyle/>
          <a:p>
            <a:endParaRPr lang="en-US"/>
          </a:p>
        </p:txBody>
      </p:sp>
      <p:sp>
        <p:nvSpPr>
          <p:cNvPr id="3" name="Shape 1"/>
          <p:cNvSpPr/>
          <p:nvPr/>
        </p:nvSpPr>
        <p:spPr>
          <a:xfrm>
            <a:off x="0" y="960120"/>
            <a:ext cx="12191695" cy="41148"/>
          </a:xfrm>
          <a:prstGeom prst="rect">
            <a:avLst/>
          </a:prstGeom>
          <a:solidFill>
            <a:srgbClr val="C77D0A"/>
          </a:solidFill>
          <a:ln/>
        </p:spPr>
        <p:txBody>
          <a:bodyPr/>
          <a:lstStyle/>
          <a:p>
            <a:endParaRPr lang="en-US"/>
          </a:p>
        </p:txBody>
      </p:sp>
      <p:sp>
        <p:nvSpPr>
          <p:cNvPr id="4" name="Text 2"/>
          <p:cNvSpPr/>
          <p:nvPr/>
        </p:nvSpPr>
        <p:spPr>
          <a:xfrm>
            <a:off x="502920" y="128016"/>
            <a:ext cx="10058400" cy="256032"/>
          </a:xfrm>
          <a:prstGeom prst="rect">
            <a:avLst/>
          </a:prstGeom>
          <a:noFill/>
          <a:ln/>
        </p:spPr>
        <p:txBody>
          <a:bodyPr wrap="square" rtlCol="0" anchor="ctr"/>
          <a:lstStyle/>
          <a:p>
            <a:pPr marL="0" indent="0">
              <a:buNone/>
            </a:pPr>
            <a:r>
              <a:rPr lang="en-US" sz="1200" b="1" kern="0" spc="200" dirty="0">
                <a:solidFill>
                  <a:srgbClr val="C77D0A"/>
                </a:solidFill>
                <a:latin typeface="Calibri" pitchFamily="34" charset="0"/>
                <a:ea typeface="Calibri" pitchFamily="34" charset="-122"/>
                <a:cs typeface="Calibri" pitchFamily="34" charset="-120"/>
              </a:rPr>
              <a:t>THE ENGINEERING QUESTION</a:t>
            </a:r>
            <a:endParaRPr lang="en-US" sz="1200" dirty="0"/>
          </a:p>
        </p:txBody>
      </p:sp>
      <p:sp>
        <p:nvSpPr>
          <p:cNvPr id="5" name="Text 3"/>
          <p:cNvSpPr/>
          <p:nvPr/>
        </p:nvSpPr>
        <p:spPr>
          <a:xfrm>
            <a:off x="502920" y="384048"/>
            <a:ext cx="11155680" cy="530352"/>
          </a:xfrm>
          <a:prstGeom prst="rect">
            <a:avLst/>
          </a:prstGeom>
          <a:noFill/>
          <a:ln/>
        </p:spPr>
        <p:txBody>
          <a:bodyPr wrap="square"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What exactly needed to be solved?</a:t>
            </a:r>
            <a:endParaRPr lang="en-US" sz="2700" dirty="0"/>
          </a:p>
        </p:txBody>
      </p:sp>
      <p:sp>
        <p:nvSpPr>
          <p:cNvPr id="6" name="Text 4"/>
          <p:cNvSpPr/>
          <p:nvPr/>
        </p:nvSpPr>
        <p:spPr>
          <a:xfrm>
            <a:off x="10561320" y="365760"/>
            <a:ext cx="1234440" cy="274320"/>
          </a:xfrm>
          <a:prstGeom prst="rect">
            <a:avLst/>
          </a:prstGeom>
          <a:noFill/>
          <a:ln/>
        </p:spPr>
        <p:txBody>
          <a:bodyPr wrap="square"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~1:00</a:t>
            </a:r>
            <a:endParaRPr lang="en-US" sz="1050" dirty="0"/>
          </a:p>
        </p:txBody>
      </p:sp>
      <p:sp>
        <p:nvSpPr>
          <p:cNvPr id="7" name="Shape 5"/>
          <p:cNvSpPr/>
          <p:nvPr/>
        </p:nvSpPr>
        <p:spPr>
          <a:xfrm>
            <a:off x="4023360" y="1143000"/>
            <a:ext cx="4114800" cy="411480"/>
          </a:xfrm>
          <a:prstGeom prst="roundRect">
            <a:avLst>
              <a:gd name="adj" fmla="val 13333"/>
            </a:avLst>
          </a:prstGeom>
          <a:solidFill>
            <a:srgbClr val="1B3A4B"/>
          </a:solidFill>
          <a:ln w="12700">
            <a:solidFill>
              <a:srgbClr val="1B3A4B"/>
            </a:solidFill>
            <a:prstDash val="solid"/>
          </a:ln>
        </p:spPr>
        <p:txBody>
          <a:bodyPr/>
          <a:lstStyle/>
          <a:p>
            <a:endParaRPr lang="en-US"/>
          </a:p>
        </p:txBody>
      </p:sp>
      <p:sp>
        <p:nvSpPr>
          <p:cNvPr id="8" name="Text 6"/>
          <p:cNvSpPr/>
          <p:nvPr/>
        </p:nvSpPr>
        <p:spPr>
          <a:xfrm>
            <a:off x="4023360" y="1143000"/>
            <a:ext cx="4114800" cy="411480"/>
          </a:xfrm>
          <a:prstGeom prst="rect">
            <a:avLst/>
          </a:prstGeom>
          <a:noFill/>
          <a:ln/>
        </p:spPr>
        <p:txBody>
          <a:bodyPr wrap="square"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Resource-constrained association</a:t>
            </a:r>
            <a:endParaRPr lang="en-US" sz="1350" dirty="0"/>
          </a:p>
        </p:txBody>
      </p:sp>
      <p:sp>
        <p:nvSpPr>
          <p:cNvPr id="9" name="Shape 7"/>
          <p:cNvSpPr/>
          <p:nvPr/>
        </p:nvSpPr>
        <p:spPr>
          <a:xfrm>
            <a:off x="5989320" y="1591056"/>
            <a:ext cx="201168" cy="182880"/>
          </a:xfrm>
          <a:prstGeom prst="downArrow">
            <a:avLst/>
          </a:prstGeom>
          <a:solidFill>
            <a:srgbClr val="5A6B75"/>
          </a:solidFill>
          <a:ln/>
        </p:spPr>
        <p:txBody>
          <a:bodyPr/>
          <a:lstStyle/>
          <a:p>
            <a:endParaRPr lang="en-US"/>
          </a:p>
        </p:txBody>
      </p:sp>
      <p:sp>
        <p:nvSpPr>
          <p:cNvPr id="10" name="Shape 8"/>
          <p:cNvSpPr/>
          <p:nvPr/>
        </p:nvSpPr>
        <p:spPr>
          <a:xfrm>
            <a:off x="502920" y="1847088"/>
            <a:ext cx="2099462" cy="384048"/>
          </a:xfrm>
          <a:prstGeom prst="roundRect">
            <a:avLst>
              <a:gd name="adj" fmla="val 14286"/>
            </a:avLst>
          </a:prstGeom>
          <a:solidFill>
            <a:srgbClr val="DCEEF5"/>
          </a:solidFill>
          <a:ln w="12700">
            <a:solidFill>
              <a:srgbClr val="2E86AB"/>
            </a:solidFill>
            <a:prstDash val="solid"/>
          </a:ln>
        </p:spPr>
        <p:txBody>
          <a:bodyPr/>
          <a:lstStyle/>
          <a:p>
            <a:endParaRPr lang="en-US"/>
          </a:p>
        </p:txBody>
      </p:sp>
      <p:sp>
        <p:nvSpPr>
          <p:cNvPr id="11" name="Text 9"/>
          <p:cNvSpPr/>
          <p:nvPr/>
        </p:nvSpPr>
        <p:spPr>
          <a:xfrm>
            <a:off x="502920" y="1847088"/>
            <a:ext cx="2099462" cy="384048"/>
          </a:xfrm>
          <a:prstGeom prst="rect">
            <a:avLst/>
          </a:prstGeom>
          <a:noFill/>
          <a:ln/>
        </p:spPr>
        <p:txBody>
          <a:bodyPr wrap="square" rtlCol="0" anchor="ctr"/>
          <a:lstStyle/>
          <a:p>
            <a:pPr marL="0" indent="0" algn="ctr">
              <a:buNone/>
            </a:pPr>
            <a:r>
              <a:rPr lang="en-US" sz="1200" b="1" dirty="0">
                <a:solidFill>
                  <a:srgbClr val="1F2933"/>
                </a:solidFill>
                <a:latin typeface="Calibri" pitchFamily="34" charset="0"/>
                <a:ea typeface="Calibri" pitchFamily="34" charset="-122"/>
                <a:cs typeface="Calibri" pitchFamily="34" charset="-120"/>
              </a:rPr>
              <a:t>Low cost</a:t>
            </a:r>
            <a:endParaRPr lang="en-US" sz="1200" dirty="0"/>
          </a:p>
        </p:txBody>
      </p:sp>
      <p:sp>
        <p:nvSpPr>
          <p:cNvPr id="12" name="Shape 10"/>
          <p:cNvSpPr/>
          <p:nvPr/>
        </p:nvSpPr>
        <p:spPr>
          <a:xfrm>
            <a:off x="502920" y="2286000"/>
            <a:ext cx="2099462" cy="868680"/>
          </a:xfrm>
          <a:prstGeom prst="roundRect">
            <a:avLst>
              <a:gd name="adj" fmla="val 6316"/>
            </a:avLst>
          </a:prstGeom>
          <a:solidFill>
            <a:srgbClr val="EEF2F4"/>
          </a:solidFill>
          <a:ln w="9525">
            <a:solidFill>
              <a:srgbClr val="5A6B75"/>
            </a:solidFill>
            <a:prstDash val="solid"/>
          </a:ln>
        </p:spPr>
        <p:txBody>
          <a:bodyPr/>
          <a:lstStyle/>
          <a:p>
            <a:endParaRPr lang="en-US"/>
          </a:p>
        </p:txBody>
      </p:sp>
      <p:sp>
        <p:nvSpPr>
          <p:cNvPr id="13" name="Text 11"/>
          <p:cNvSpPr/>
          <p:nvPr/>
        </p:nvSpPr>
        <p:spPr>
          <a:xfrm>
            <a:off x="502920" y="2286000"/>
            <a:ext cx="2099462" cy="868680"/>
          </a:xfrm>
          <a:prstGeom prst="rect">
            <a:avLst/>
          </a:prstGeom>
          <a:noFill/>
          <a:ln/>
        </p:spPr>
        <p:txBody>
          <a:bodyPr wrap="square"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No enterprise-level infrastructure</a:t>
            </a:r>
            <a:endParaRPr lang="en-US" sz="1050" dirty="0"/>
          </a:p>
        </p:txBody>
      </p:sp>
      <p:sp>
        <p:nvSpPr>
          <p:cNvPr id="14" name="Shape 12"/>
          <p:cNvSpPr/>
          <p:nvPr/>
        </p:nvSpPr>
        <p:spPr>
          <a:xfrm>
            <a:off x="2766974" y="1847088"/>
            <a:ext cx="2099462" cy="384048"/>
          </a:xfrm>
          <a:prstGeom prst="roundRect">
            <a:avLst>
              <a:gd name="adj" fmla="val 14286"/>
            </a:avLst>
          </a:prstGeom>
          <a:solidFill>
            <a:srgbClr val="DCEEF5"/>
          </a:solidFill>
          <a:ln w="12700">
            <a:solidFill>
              <a:srgbClr val="2E86AB"/>
            </a:solidFill>
            <a:prstDash val="solid"/>
          </a:ln>
        </p:spPr>
        <p:txBody>
          <a:bodyPr/>
          <a:lstStyle/>
          <a:p>
            <a:endParaRPr lang="en-US"/>
          </a:p>
        </p:txBody>
      </p:sp>
      <p:sp>
        <p:nvSpPr>
          <p:cNvPr id="15" name="Text 13"/>
          <p:cNvSpPr/>
          <p:nvPr/>
        </p:nvSpPr>
        <p:spPr>
          <a:xfrm>
            <a:off x="2766974" y="1847088"/>
            <a:ext cx="2099462" cy="384048"/>
          </a:xfrm>
          <a:prstGeom prst="rect">
            <a:avLst/>
          </a:prstGeom>
          <a:noFill/>
          <a:ln/>
        </p:spPr>
        <p:txBody>
          <a:bodyPr wrap="square" rtlCol="0" anchor="ctr"/>
          <a:lstStyle/>
          <a:p>
            <a:pPr marL="0" indent="0" algn="ctr">
              <a:buNone/>
            </a:pPr>
            <a:r>
              <a:rPr lang="en-US" sz="1200" b="1" dirty="0">
                <a:solidFill>
                  <a:srgbClr val="1F2933"/>
                </a:solidFill>
                <a:latin typeface="Calibri" pitchFamily="34" charset="0"/>
                <a:ea typeface="Calibri" pitchFamily="34" charset="-122"/>
                <a:cs typeface="Calibri" pitchFamily="34" charset="-120"/>
              </a:rPr>
              <a:t>Low maintenance</a:t>
            </a:r>
            <a:endParaRPr lang="en-US" sz="1200" dirty="0"/>
          </a:p>
        </p:txBody>
      </p:sp>
      <p:sp>
        <p:nvSpPr>
          <p:cNvPr id="16" name="Shape 14"/>
          <p:cNvSpPr/>
          <p:nvPr/>
        </p:nvSpPr>
        <p:spPr>
          <a:xfrm>
            <a:off x="2766974" y="2286000"/>
            <a:ext cx="2099462" cy="868680"/>
          </a:xfrm>
          <a:prstGeom prst="roundRect">
            <a:avLst>
              <a:gd name="adj" fmla="val 6316"/>
            </a:avLst>
          </a:prstGeom>
          <a:solidFill>
            <a:srgbClr val="EEF2F4"/>
          </a:solidFill>
          <a:ln w="9525">
            <a:solidFill>
              <a:srgbClr val="5A6B75"/>
            </a:solidFill>
            <a:prstDash val="solid"/>
          </a:ln>
        </p:spPr>
        <p:txBody>
          <a:bodyPr/>
          <a:lstStyle/>
          <a:p>
            <a:endParaRPr lang="en-US"/>
          </a:p>
        </p:txBody>
      </p:sp>
      <p:sp>
        <p:nvSpPr>
          <p:cNvPr id="17" name="Text 15"/>
          <p:cNvSpPr/>
          <p:nvPr/>
        </p:nvSpPr>
        <p:spPr>
          <a:xfrm>
            <a:off x="2766974" y="2286000"/>
            <a:ext cx="2099462" cy="868680"/>
          </a:xfrm>
          <a:prstGeom prst="rect">
            <a:avLst/>
          </a:prstGeom>
          <a:noFill/>
          <a:ln/>
        </p:spPr>
        <p:txBody>
          <a:bodyPr wrap="square"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Potentially operated by one maintainer</a:t>
            </a:r>
            <a:endParaRPr lang="en-US" sz="1050" dirty="0"/>
          </a:p>
        </p:txBody>
      </p:sp>
      <p:sp>
        <p:nvSpPr>
          <p:cNvPr id="18" name="Shape 16"/>
          <p:cNvSpPr/>
          <p:nvPr/>
        </p:nvSpPr>
        <p:spPr>
          <a:xfrm>
            <a:off x="5031029" y="1847088"/>
            <a:ext cx="2099462" cy="384048"/>
          </a:xfrm>
          <a:prstGeom prst="roundRect">
            <a:avLst>
              <a:gd name="adj" fmla="val 14286"/>
            </a:avLst>
          </a:prstGeom>
          <a:solidFill>
            <a:srgbClr val="DCEEF5"/>
          </a:solidFill>
          <a:ln w="12700">
            <a:solidFill>
              <a:srgbClr val="2E86AB"/>
            </a:solidFill>
            <a:prstDash val="solid"/>
          </a:ln>
        </p:spPr>
        <p:txBody>
          <a:bodyPr/>
          <a:lstStyle/>
          <a:p>
            <a:endParaRPr lang="en-US"/>
          </a:p>
        </p:txBody>
      </p:sp>
      <p:sp>
        <p:nvSpPr>
          <p:cNvPr id="19" name="Text 17"/>
          <p:cNvSpPr/>
          <p:nvPr/>
        </p:nvSpPr>
        <p:spPr>
          <a:xfrm>
            <a:off x="5031029" y="1847088"/>
            <a:ext cx="2099462" cy="384048"/>
          </a:xfrm>
          <a:prstGeom prst="rect">
            <a:avLst/>
          </a:prstGeom>
          <a:noFill/>
          <a:ln/>
        </p:spPr>
        <p:txBody>
          <a:bodyPr wrap="square" rtlCol="0" anchor="ctr"/>
          <a:lstStyle/>
          <a:p>
            <a:pPr marL="0" indent="0" algn="ctr">
              <a:buNone/>
            </a:pPr>
            <a:r>
              <a:rPr lang="en-US" sz="1200" b="1" dirty="0">
                <a:solidFill>
                  <a:srgbClr val="1F2933"/>
                </a:solidFill>
                <a:latin typeface="Calibri" pitchFamily="34" charset="0"/>
                <a:ea typeface="Calibri" pitchFamily="34" charset="-122"/>
                <a:cs typeface="Calibri" pitchFamily="34" charset="-120"/>
              </a:rPr>
              <a:t>Governance</a:t>
            </a:r>
            <a:endParaRPr lang="en-US" sz="1200" dirty="0"/>
          </a:p>
        </p:txBody>
      </p:sp>
      <p:sp>
        <p:nvSpPr>
          <p:cNvPr id="20" name="Shape 18"/>
          <p:cNvSpPr/>
          <p:nvPr/>
        </p:nvSpPr>
        <p:spPr>
          <a:xfrm>
            <a:off x="5031029" y="2286000"/>
            <a:ext cx="2099462" cy="868680"/>
          </a:xfrm>
          <a:prstGeom prst="roundRect">
            <a:avLst>
              <a:gd name="adj" fmla="val 6316"/>
            </a:avLst>
          </a:prstGeom>
          <a:solidFill>
            <a:srgbClr val="EEF2F4"/>
          </a:solidFill>
          <a:ln w="9525">
            <a:solidFill>
              <a:srgbClr val="5A6B75"/>
            </a:solidFill>
            <a:prstDash val="solid"/>
          </a:ln>
        </p:spPr>
        <p:txBody>
          <a:bodyPr/>
          <a:lstStyle/>
          <a:p>
            <a:endParaRPr lang="en-US"/>
          </a:p>
        </p:txBody>
      </p:sp>
      <p:sp>
        <p:nvSpPr>
          <p:cNvPr id="21" name="Text 19"/>
          <p:cNvSpPr/>
          <p:nvPr/>
        </p:nvSpPr>
        <p:spPr>
          <a:xfrm>
            <a:off x="5031029" y="2286000"/>
            <a:ext cx="2099462" cy="868680"/>
          </a:xfrm>
          <a:prstGeom prst="rect">
            <a:avLst/>
          </a:prstGeom>
          <a:noFill/>
          <a:ln/>
        </p:spPr>
        <p:txBody>
          <a:bodyPr wrap="square"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Software must follow, not replace, Association rules</a:t>
            </a:r>
            <a:endParaRPr lang="en-US" sz="1050" dirty="0"/>
          </a:p>
        </p:txBody>
      </p:sp>
      <p:sp>
        <p:nvSpPr>
          <p:cNvPr id="22" name="Shape 20"/>
          <p:cNvSpPr/>
          <p:nvPr/>
        </p:nvSpPr>
        <p:spPr>
          <a:xfrm>
            <a:off x="7295083" y="1847088"/>
            <a:ext cx="2099462" cy="384048"/>
          </a:xfrm>
          <a:prstGeom prst="roundRect">
            <a:avLst>
              <a:gd name="adj" fmla="val 14286"/>
            </a:avLst>
          </a:prstGeom>
          <a:solidFill>
            <a:srgbClr val="DCEEF5"/>
          </a:solidFill>
          <a:ln w="12700">
            <a:solidFill>
              <a:srgbClr val="2E86AB"/>
            </a:solidFill>
            <a:prstDash val="solid"/>
          </a:ln>
        </p:spPr>
        <p:txBody>
          <a:bodyPr/>
          <a:lstStyle/>
          <a:p>
            <a:endParaRPr lang="en-US"/>
          </a:p>
        </p:txBody>
      </p:sp>
      <p:sp>
        <p:nvSpPr>
          <p:cNvPr id="23" name="Text 21"/>
          <p:cNvSpPr/>
          <p:nvPr/>
        </p:nvSpPr>
        <p:spPr>
          <a:xfrm>
            <a:off x="7295083" y="1847088"/>
            <a:ext cx="2099462" cy="384048"/>
          </a:xfrm>
          <a:prstGeom prst="rect">
            <a:avLst/>
          </a:prstGeom>
          <a:noFill/>
          <a:ln/>
        </p:spPr>
        <p:txBody>
          <a:bodyPr wrap="square" rtlCol="0" anchor="ctr"/>
          <a:lstStyle/>
          <a:p>
            <a:pPr marL="0" indent="0" algn="ctr">
              <a:buNone/>
            </a:pPr>
            <a:r>
              <a:rPr lang="en-US" sz="1200" b="1" dirty="0">
                <a:solidFill>
                  <a:srgbClr val="1F2933"/>
                </a:solidFill>
                <a:latin typeface="Calibri" pitchFamily="34" charset="0"/>
                <a:ea typeface="Calibri" pitchFamily="34" charset="-122"/>
                <a:cs typeface="Calibri" pitchFamily="34" charset="-120"/>
              </a:rPr>
              <a:t>Financial reality</a:t>
            </a:r>
            <a:endParaRPr lang="en-US" sz="1200" dirty="0"/>
          </a:p>
        </p:txBody>
      </p:sp>
      <p:sp>
        <p:nvSpPr>
          <p:cNvPr id="24" name="Shape 22"/>
          <p:cNvSpPr/>
          <p:nvPr/>
        </p:nvSpPr>
        <p:spPr>
          <a:xfrm>
            <a:off x="7295083" y="2286000"/>
            <a:ext cx="2099462" cy="868680"/>
          </a:xfrm>
          <a:prstGeom prst="roundRect">
            <a:avLst>
              <a:gd name="adj" fmla="val 6316"/>
            </a:avLst>
          </a:prstGeom>
          <a:solidFill>
            <a:srgbClr val="EEF2F4"/>
          </a:solidFill>
          <a:ln w="9525">
            <a:solidFill>
              <a:srgbClr val="5A6B75"/>
            </a:solidFill>
            <a:prstDash val="solid"/>
          </a:ln>
        </p:spPr>
        <p:txBody>
          <a:bodyPr/>
          <a:lstStyle/>
          <a:p>
            <a:endParaRPr lang="en-US"/>
          </a:p>
        </p:txBody>
      </p:sp>
      <p:sp>
        <p:nvSpPr>
          <p:cNvPr id="25" name="Text 23"/>
          <p:cNvSpPr/>
          <p:nvPr/>
        </p:nvSpPr>
        <p:spPr>
          <a:xfrm>
            <a:off x="7295083" y="2286000"/>
            <a:ext cx="2099462" cy="868680"/>
          </a:xfrm>
          <a:prstGeom prst="rect">
            <a:avLst/>
          </a:prstGeom>
          <a:noFill/>
          <a:ln/>
        </p:spPr>
        <p:txBody>
          <a:bodyPr wrap="square"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No mandatory live payment gateway</a:t>
            </a:r>
            <a:endParaRPr lang="en-US" sz="1050" dirty="0"/>
          </a:p>
        </p:txBody>
      </p:sp>
      <p:sp>
        <p:nvSpPr>
          <p:cNvPr id="26" name="Shape 24"/>
          <p:cNvSpPr/>
          <p:nvPr/>
        </p:nvSpPr>
        <p:spPr>
          <a:xfrm>
            <a:off x="9559138" y="1847088"/>
            <a:ext cx="2099462" cy="384048"/>
          </a:xfrm>
          <a:prstGeom prst="roundRect">
            <a:avLst>
              <a:gd name="adj" fmla="val 14286"/>
            </a:avLst>
          </a:prstGeom>
          <a:solidFill>
            <a:srgbClr val="DCEEF5"/>
          </a:solidFill>
          <a:ln w="12700">
            <a:solidFill>
              <a:srgbClr val="2E86AB"/>
            </a:solidFill>
            <a:prstDash val="solid"/>
          </a:ln>
        </p:spPr>
        <p:txBody>
          <a:bodyPr/>
          <a:lstStyle/>
          <a:p>
            <a:endParaRPr lang="en-US"/>
          </a:p>
        </p:txBody>
      </p:sp>
      <p:sp>
        <p:nvSpPr>
          <p:cNvPr id="27" name="Text 25"/>
          <p:cNvSpPr/>
          <p:nvPr/>
        </p:nvSpPr>
        <p:spPr>
          <a:xfrm>
            <a:off x="9559138" y="1847088"/>
            <a:ext cx="2099462" cy="384048"/>
          </a:xfrm>
          <a:prstGeom prst="rect">
            <a:avLst/>
          </a:prstGeom>
          <a:noFill/>
          <a:ln/>
        </p:spPr>
        <p:txBody>
          <a:bodyPr wrap="square" rtlCol="0" anchor="ctr"/>
          <a:lstStyle/>
          <a:p>
            <a:pPr marL="0" indent="0" algn="ctr">
              <a:buNone/>
            </a:pPr>
            <a:r>
              <a:rPr lang="en-US" sz="1200" b="1" dirty="0">
                <a:solidFill>
                  <a:srgbClr val="1F2933"/>
                </a:solidFill>
                <a:latin typeface="Calibri" pitchFamily="34" charset="0"/>
                <a:ea typeface="Calibri" pitchFamily="34" charset="-122"/>
                <a:cs typeface="Calibri" pitchFamily="34" charset="-120"/>
              </a:rPr>
              <a:t>Data continuity</a:t>
            </a:r>
            <a:endParaRPr lang="en-US" sz="1200" dirty="0"/>
          </a:p>
        </p:txBody>
      </p:sp>
      <p:sp>
        <p:nvSpPr>
          <p:cNvPr id="28" name="Shape 26"/>
          <p:cNvSpPr/>
          <p:nvPr/>
        </p:nvSpPr>
        <p:spPr>
          <a:xfrm>
            <a:off x="9559138" y="2286000"/>
            <a:ext cx="2099462" cy="868680"/>
          </a:xfrm>
          <a:prstGeom prst="roundRect">
            <a:avLst>
              <a:gd name="adj" fmla="val 6316"/>
            </a:avLst>
          </a:prstGeom>
          <a:solidFill>
            <a:srgbClr val="EEF2F4"/>
          </a:solidFill>
          <a:ln w="9525">
            <a:solidFill>
              <a:srgbClr val="5A6B75"/>
            </a:solidFill>
            <a:prstDash val="solid"/>
          </a:ln>
        </p:spPr>
        <p:txBody>
          <a:bodyPr/>
          <a:lstStyle/>
          <a:p>
            <a:endParaRPr lang="en-US"/>
          </a:p>
        </p:txBody>
      </p:sp>
      <p:sp>
        <p:nvSpPr>
          <p:cNvPr id="29" name="Text 27"/>
          <p:cNvSpPr/>
          <p:nvPr/>
        </p:nvSpPr>
        <p:spPr>
          <a:xfrm>
            <a:off x="9559138" y="2286000"/>
            <a:ext cx="2099462" cy="868680"/>
          </a:xfrm>
          <a:prstGeom prst="rect">
            <a:avLst/>
          </a:prstGeom>
          <a:noFill/>
          <a:ln/>
        </p:spPr>
        <p:txBody>
          <a:bodyPr wrap="square"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Legacy records must remain usable and auditable</a:t>
            </a:r>
            <a:endParaRPr lang="en-US" sz="1050" dirty="0"/>
          </a:p>
        </p:txBody>
      </p:sp>
      <p:sp>
        <p:nvSpPr>
          <p:cNvPr id="30" name="Shape 28"/>
          <p:cNvSpPr/>
          <p:nvPr/>
        </p:nvSpPr>
        <p:spPr>
          <a:xfrm>
            <a:off x="5989320" y="3264408"/>
            <a:ext cx="201168" cy="182880"/>
          </a:xfrm>
          <a:prstGeom prst="downArrow">
            <a:avLst/>
          </a:prstGeom>
          <a:solidFill>
            <a:srgbClr val="5A6B75"/>
          </a:solidFill>
          <a:ln/>
        </p:spPr>
        <p:txBody>
          <a:bodyPr/>
          <a:lstStyle/>
          <a:p>
            <a:endParaRPr lang="en-US"/>
          </a:p>
        </p:txBody>
      </p:sp>
      <p:sp>
        <p:nvSpPr>
          <p:cNvPr id="31" name="Shape 29"/>
          <p:cNvSpPr/>
          <p:nvPr/>
        </p:nvSpPr>
        <p:spPr>
          <a:xfrm>
            <a:off x="1280160" y="3538728"/>
            <a:ext cx="9601200" cy="1051560"/>
          </a:xfrm>
          <a:prstGeom prst="roundRect">
            <a:avLst>
              <a:gd name="adj" fmla="val 5217"/>
            </a:avLst>
          </a:prstGeom>
          <a:solidFill>
            <a:srgbClr val="FBEBD3"/>
          </a:solidFill>
          <a:ln w="19050">
            <a:solidFill>
              <a:srgbClr val="C77D0A"/>
            </a:solidFill>
            <a:prstDash val="solid"/>
          </a:ln>
        </p:spPr>
        <p:txBody>
          <a:bodyPr/>
          <a:lstStyle/>
          <a:p>
            <a:endParaRPr lang="en-US"/>
          </a:p>
        </p:txBody>
      </p:sp>
      <p:sp>
        <p:nvSpPr>
          <p:cNvPr id="32" name="Text 30"/>
          <p:cNvSpPr/>
          <p:nvPr/>
        </p:nvSpPr>
        <p:spPr>
          <a:xfrm>
            <a:off x="1280160" y="3538728"/>
            <a:ext cx="9601200" cy="1051560"/>
          </a:xfrm>
          <a:prstGeom prst="rect">
            <a:avLst/>
          </a:prstGeom>
          <a:noFill/>
          <a:ln/>
        </p:spPr>
        <p:txBody>
          <a:bodyPr wrap="square" rtlCol="0" anchor="ctr"/>
          <a:lstStyle/>
          <a:p>
            <a:pPr marL="0" indent="0" algn="ctr">
              <a:buNone/>
            </a:pPr>
            <a:r>
              <a:rPr lang="en-US" sz="1500" b="1" dirty="0">
                <a:solidFill>
                  <a:srgbClr val="10262F"/>
                </a:solidFill>
                <a:latin typeface="Calibri" pitchFamily="34" charset="0"/>
                <a:ea typeface="Calibri" pitchFamily="34" charset="-122"/>
                <a:cs typeface="Calibri" pitchFamily="34" charset="-120"/>
              </a:rPr>
              <a:t>How can a small association obtain a reliable, maintainable and privacy-aware digital platform without enterprise-level cost and operational complexity?</a:t>
            </a:r>
            <a:endParaRPr lang="en-US" sz="1500" dirty="0"/>
          </a:p>
        </p:txBody>
      </p:sp>
      <p:sp>
        <p:nvSpPr>
          <p:cNvPr id="33" name="Text 31"/>
          <p:cNvSpPr/>
          <p:nvPr/>
        </p:nvSpPr>
        <p:spPr>
          <a:xfrm>
            <a:off x="502920" y="4727448"/>
            <a:ext cx="11155680" cy="365760"/>
          </a:xfrm>
          <a:prstGeom prst="rect">
            <a:avLst/>
          </a:prstGeom>
          <a:noFill/>
          <a:ln/>
        </p:spPr>
        <p:txBody>
          <a:bodyPr wrap="square" rtlCol="0" anchor="ctr"/>
          <a:lstStyle/>
          <a:p>
            <a:pPr marL="0" indent="0" algn="ctr">
              <a:buNone/>
            </a:pPr>
            <a:r>
              <a:rPr lang="en-US" sz="1500" b="1" i="1" dirty="0">
                <a:solidFill>
                  <a:srgbClr val="1B3A4B"/>
                </a:solidFill>
                <a:latin typeface="Georgia" pitchFamily="34" charset="0"/>
                <a:ea typeface="Georgia" pitchFamily="34" charset="-122"/>
                <a:cs typeface="Georgia" pitchFamily="34" charset="-120"/>
              </a:rPr>
              <a:t>This became the design problem.</a:t>
            </a:r>
            <a:endParaRPr lang="en-US" sz="1500" dirty="0"/>
          </a:p>
        </p:txBody>
      </p:sp>
      <p:sp>
        <p:nvSpPr>
          <p:cNvPr id="35" name="Text 32"/>
          <p:cNvSpPr/>
          <p:nvPr/>
        </p:nvSpPr>
        <p:spPr>
          <a:xfrm>
            <a:off x="502920" y="6547104"/>
            <a:ext cx="7315200" cy="256032"/>
          </a:xfrm>
          <a:prstGeom prst="rect">
            <a:avLst/>
          </a:prstGeom>
          <a:noFill/>
          <a:ln/>
        </p:spPr>
        <p:txBody>
          <a:bodyPr wrap="square" rtlCol="0" anchor="ctr"/>
          <a:lstStyle/>
          <a:p>
            <a:pPr marL="0" indent="0">
              <a:buNone/>
            </a:pPr>
            <a:r>
              <a:rPr lang="en-US" sz="1000" i="1" dirty="0">
                <a:solidFill>
                  <a:srgbClr val="5A6B75"/>
                </a:solidFill>
                <a:latin typeface="Calibri" pitchFamily="34" charset="0"/>
                <a:ea typeface="Calibri" pitchFamily="34" charset="-122"/>
                <a:cs typeface="Calibri" pitchFamily="34" charset="-120"/>
              </a:rPr>
              <a:t>GHCAA — Govt. Haraganga College Alumni Association</a:t>
            </a:r>
            <a:endParaRPr lang="en-US" sz="1000" dirty="0"/>
          </a:p>
        </p:txBody>
      </p:sp>
      <p:sp>
        <p:nvSpPr>
          <p:cNvPr id="36" name="Text 33"/>
          <p:cNvSpPr/>
          <p:nvPr/>
        </p:nvSpPr>
        <p:spPr>
          <a:xfrm>
            <a:off x="11521440" y="6547104"/>
            <a:ext cx="457200" cy="256032"/>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3A4B"/>
          </a:solidFill>
          <a:ln/>
        </p:spPr>
        <p:txBody>
          <a:bodyPr/>
          <a:lstStyle/>
          <a:p>
            <a:endParaRPr lang="en-US"/>
          </a:p>
        </p:txBody>
      </p:sp>
      <p:sp>
        <p:nvSpPr>
          <p:cNvPr id="3" name="Shape 1"/>
          <p:cNvSpPr/>
          <p:nvPr/>
        </p:nvSpPr>
        <p:spPr>
          <a:xfrm>
            <a:off x="0" y="960120"/>
            <a:ext cx="12191695" cy="41148"/>
          </a:xfrm>
          <a:prstGeom prst="rect">
            <a:avLst/>
          </a:prstGeom>
          <a:solidFill>
            <a:srgbClr val="C77D0A"/>
          </a:solidFill>
          <a:ln/>
        </p:spPr>
        <p:txBody>
          <a:bodyPr/>
          <a:lstStyle/>
          <a:p>
            <a:endParaRPr lang="en-US"/>
          </a:p>
        </p:txBody>
      </p:sp>
      <p:sp>
        <p:nvSpPr>
          <p:cNvPr id="4" name="Text 2"/>
          <p:cNvSpPr/>
          <p:nvPr/>
        </p:nvSpPr>
        <p:spPr>
          <a:xfrm>
            <a:off x="502920" y="128016"/>
            <a:ext cx="10058400" cy="256032"/>
          </a:xfrm>
          <a:prstGeom prst="rect">
            <a:avLst/>
          </a:prstGeom>
          <a:noFill/>
          <a:ln/>
        </p:spPr>
        <p:txBody>
          <a:bodyPr wrap="square" rtlCol="0" anchor="ctr"/>
          <a:lstStyle/>
          <a:p>
            <a:pPr marL="0" indent="0">
              <a:buNone/>
            </a:pPr>
            <a:r>
              <a:rPr lang="en-US" sz="1200" b="1" kern="0" spc="200" dirty="0">
                <a:solidFill>
                  <a:srgbClr val="C77D0A"/>
                </a:solidFill>
                <a:latin typeface="Calibri" pitchFamily="34" charset="0"/>
                <a:ea typeface="Calibri" pitchFamily="34" charset="-122"/>
                <a:cs typeface="Calibri" pitchFamily="34" charset="-120"/>
              </a:rPr>
              <a:t>REQUIREMENTS</a:t>
            </a:r>
            <a:endParaRPr lang="en-US" sz="1200" dirty="0"/>
          </a:p>
        </p:txBody>
      </p:sp>
      <p:sp>
        <p:nvSpPr>
          <p:cNvPr id="5" name="Text 3"/>
          <p:cNvSpPr/>
          <p:nvPr/>
        </p:nvSpPr>
        <p:spPr>
          <a:xfrm>
            <a:off x="502920" y="384048"/>
            <a:ext cx="11155680" cy="530352"/>
          </a:xfrm>
          <a:prstGeom prst="rect">
            <a:avLst/>
          </a:prstGeom>
          <a:noFill/>
          <a:ln/>
        </p:spPr>
        <p:txBody>
          <a:bodyPr wrap="square"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The solution started with requirements, not code</a:t>
            </a:r>
            <a:endParaRPr lang="en-US" sz="2700" dirty="0"/>
          </a:p>
        </p:txBody>
      </p:sp>
      <p:sp>
        <p:nvSpPr>
          <p:cNvPr id="6" name="Text 4"/>
          <p:cNvSpPr/>
          <p:nvPr/>
        </p:nvSpPr>
        <p:spPr>
          <a:xfrm>
            <a:off x="10561320" y="365760"/>
            <a:ext cx="1234440" cy="274320"/>
          </a:xfrm>
          <a:prstGeom prst="rect">
            <a:avLst/>
          </a:prstGeom>
          <a:noFill/>
          <a:ln/>
        </p:spPr>
        <p:txBody>
          <a:bodyPr wrap="square"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~1:00</a:t>
            </a:r>
            <a:endParaRPr lang="en-US" sz="1050" dirty="0"/>
          </a:p>
        </p:txBody>
      </p:sp>
      <p:sp>
        <p:nvSpPr>
          <p:cNvPr id="7" name="Shape 5"/>
          <p:cNvSpPr/>
          <p:nvPr/>
        </p:nvSpPr>
        <p:spPr>
          <a:xfrm>
            <a:off x="502920" y="1143000"/>
            <a:ext cx="5120640" cy="384048"/>
          </a:xfrm>
          <a:prstGeom prst="roundRect">
            <a:avLst>
              <a:gd name="adj" fmla="val 14286"/>
            </a:avLst>
          </a:prstGeom>
          <a:solidFill>
            <a:srgbClr val="DCEEF5"/>
          </a:solidFill>
          <a:ln w="12700">
            <a:solidFill>
              <a:srgbClr val="2E86AB"/>
            </a:solidFill>
            <a:prstDash val="solid"/>
          </a:ln>
        </p:spPr>
        <p:txBody>
          <a:bodyPr/>
          <a:lstStyle/>
          <a:p>
            <a:endParaRPr lang="en-US"/>
          </a:p>
        </p:txBody>
      </p:sp>
      <p:sp>
        <p:nvSpPr>
          <p:cNvPr id="8" name="Text 6"/>
          <p:cNvSpPr/>
          <p:nvPr/>
        </p:nvSpPr>
        <p:spPr>
          <a:xfrm>
            <a:off x="502920" y="1143000"/>
            <a:ext cx="5120640" cy="384048"/>
          </a:xfrm>
          <a:prstGeom prst="rect">
            <a:avLst/>
          </a:prstGeom>
          <a:noFill/>
          <a:ln/>
        </p:spPr>
        <p:txBody>
          <a:bodyPr wrap="square" rtlCol="0" anchor="ctr"/>
          <a:lstStyle/>
          <a:p>
            <a:pPr marL="0" indent="0" algn="ctr">
              <a:buNone/>
            </a:pPr>
            <a:r>
              <a:rPr lang="en-US" sz="1100" dirty="0">
                <a:solidFill>
                  <a:srgbClr val="1F2933"/>
                </a:solidFill>
                <a:latin typeface="Calibri" pitchFamily="34" charset="0"/>
                <a:ea typeface="Calibri" pitchFamily="34" charset="-122"/>
                <a:cs typeface="Calibri" pitchFamily="34" charset="-120"/>
              </a:rPr>
              <a:t>Stakeholders</a:t>
            </a:r>
            <a:endParaRPr lang="en-US" sz="1100" dirty="0"/>
          </a:p>
        </p:txBody>
      </p:sp>
      <p:sp>
        <p:nvSpPr>
          <p:cNvPr id="9" name="Shape 7"/>
          <p:cNvSpPr/>
          <p:nvPr/>
        </p:nvSpPr>
        <p:spPr>
          <a:xfrm>
            <a:off x="2980944" y="1534363"/>
            <a:ext cx="164592" cy="109728"/>
          </a:xfrm>
          <a:prstGeom prst="downArrow">
            <a:avLst/>
          </a:prstGeom>
          <a:solidFill>
            <a:srgbClr val="5A6B75"/>
          </a:solidFill>
          <a:ln/>
        </p:spPr>
        <p:txBody>
          <a:bodyPr/>
          <a:lstStyle/>
          <a:p>
            <a:endParaRPr lang="en-US"/>
          </a:p>
        </p:txBody>
      </p:sp>
      <p:sp>
        <p:nvSpPr>
          <p:cNvPr id="10" name="Shape 8"/>
          <p:cNvSpPr/>
          <p:nvPr/>
        </p:nvSpPr>
        <p:spPr>
          <a:xfrm>
            <a:off x="502920" y="1673352"/>
            <a:ext cx="5120640" cy="384048"/>
          </a:xfrm>
          <a:prstGeom prst="roundRect">
            <a:avLst>
              <a:gd name="adj" fmla="val 14286"/>
            </a:avLst>
          </a:prstGeom>
          <a:solidFill>
            <a:srgbClr val="DCEEF5"/>
          </a:solidFill>
          <a:ln w="12700">
            <a:solidFill>
              <a:srgbClr val="2E86AB"/>
            </a:solidFill>
            <a:prstDash val="solid"/>
          </a:ln>
        </p:spPr>
        <p:txBody>
          <a:bodyPr/>
          <a:lstStyle/>
          <a:p>
            <a:endParaRPr lang="en-US"/>
          </a:p>
        </p:txBody>
      </p:sp>
      <p:sp>
        <p:nvSpPr>
          <p:cNvPr id="11" name="Text 9"/>
          <p:cNvSpPr/>
          <p:nvPr/>
        </p:nvSpPr>
        <p:spPr>
          <a:xfrm>
            <a:off x="502920" y="1673352"/>
            <a:ext cx="5120640" cy="384048"/>
          </a:xfrm>
          <a:prstGeom prst="rect">
            <a:avLst/>
          </a:prstGeom>
          <a:noFill/>
          <a:ln/>
        </p:spPr>
        <p:txBody>
          <a:bodyPr wrap="square" rtlCol="0" anchor="ctr"/>
          <a:lstStyle/>
          <a:p>
            <a:pPr marL="0" indent="0" algn="ctr">
              <a:buNone/>
            </a:pPr>
            <a:r>
              <a:rPr lang="en-US" sz="1100" dirty="0">
                <a:solidFill>
                  <a:srgbClr val="1F2933"/>
                </a:solidFill>
                <a:latin typeface="Calibri" pitchFamily="34" charset="0"/>
                <a:ea typeface="Calibri" pitchFamily="34" charset="-122"/>
                <a:cs typeface="Calibri" pitchFamily="34" charset="-120"/>
              </a:rPr>
              <a:t>Manual Processes</a:t>
            </a:r>
            <a:endParaRPr lang="en-US" sz="1100" dirty="0"/>
          </a:p>
        </p:txBody>
      </p:sp>
      <p:sp>
        <p:nvSpPr>
          <p:cNvPr id="12" name="Shape 10"/>
          <p:cNvSpPr/>
          <p:nvPr/>
        </p:nvSpPr>
        <p:spPr>
          <a:xfrm>
            <a:off x="2980944" y="2064715"/>
            <a:ext cx="164592" cy="109728"/>
          </a:xfrm>
          <a:prstGeom prst="downArrow">
            <a:avLst/>
          </a:prstGeom>
          <a:solidFill>
            <a:srgbClr val="5A6B75"/>
          </a:solidFill>
          <a:ln/>
        </p:spPr>
        <p:txBody>
          <a:bodyPr/>
          <a:lstStyle/>
          <a:p>
            <a:endParaRPr lang="en-US"/>
          </a:p>
        </p:txBody>
      </p:sp>
      <p:sp>
        <p:nvSpPr>
          <p:cNvPr id="13" name="Shape 11"/>
          <p:cNvSpPr/>
          <p:nvPr/>
        </p:nvSpPr>
        <p:spPr>
          <a:xfrm>
            <a:off x="502920" y="2203704"/>
            <a:ext cx="5120640" cy="384048"/>
          </a:xfrm>
          <a:prstGeom prst="roundRect">
            <a:avLst>
              <a:gd name="adj" fmla="val 14286"/>
            </a:avLst>
          </a:prstGeom>
          <a:solidFill>
            <a:srgbClr val="DCEEF5"/>
          </a:solidFill>
          <a:ln w="12700">
            <a:solidFill>
              <a:srgbClr val="2E86AB"/>
            </a:solidFill>
            <a:prstDash val="solid"/>
          </a:ln>
        </p:spPr>
        <p:txBody>
          <a:bodyPr/>
          <a:lstStyle/>
          <a:p>
            <a:endParaRPr lang="en-US"/>
          </a:p>
        </p:txBody>
      </p:sp>
      <p:sp>
        <p:nvSpPr>
          <p:cNvPr id="14" name="Text 12"/>
          <p:cNvSpPr/>
          <p:nvPr/>
        </p:nvSpPr>
        <p:spPr>
          <a:xfrm>
            <a:off x="502920" y="2203704"/>
            <a:ext cx="5120640" cy="384048"/>
          </a:xfrm>
          <a:prstGeom prst="rect">
            <a:avLst/>
          </a:prstGeom>
          <a:noFill/>
          <a:ln/>
        </p:spPr>
        <p:txBody>
          <a:bodyPr wrap="square" rtlCol="0" anchor="ctr"/>
          <a:lstStyle/>
          <a:p>
            <a:pPr marL="0" indent="0" algn="ctr">
              <a:buNone/>
            </a:pPr>
            <a:r>
              <a:rPr lang="en-US" sz="1100" dirty="0">
                <a:solidFill>
                  <a:srgbClr val="1F2933"/>
                </a:solidFill>
                <a:latin typeface="Calibri" pitchFamily="34" charset="0"/>
                <a:ea typeface="Calibri" pitchFamily="34" charset="-122"/>
                <a:cs typeface="Calibri" pitchFamily="34" charset="-120"/>
              </a:rPr>
              <a:t>Constitution &amp; Association Documents</a:t>
            </a:r>
            <a:endParaRPr lang="en-US" sz="1100" dirty="0"/>
          </a:p>
        </p:txBody>
      </p:sp>
      <p:sp>
        <p:nvSpPr>
          <p:cNvPr id="15" name="Shape 13"/>
          <p:cNvSpPr/>
          <p:nvPr/>
        </p:nvSpPr>
        <p:spPr>
          <a:xfrm>
            <a:off x="2980944" y="2595067"/>
            <a:ext cx="164592" cy="109728"/>
          </a:xfrm>
          <a:prstGeom prst="downArrow">
            <a:avLst/>
          </a:prstGeom>
          <a:solidFill>
            <a:srgbClr val="5A6B75"/>
          </a:solidFill>
          <a:ln/>
        </p:spPr>
        <p:txBody>
          <a:bodyPr/>
          <a:lstStyle/>
          <a:p>
            <a:endParaRPr lang="en-US"/>
          </a:p>
        </p:txBody>
      </p:sp>
      <p:sp>
        <p:nvSpPr>
          <p:cNvPr id="16" name="Shape 14"/>
          <p:cNvSpPr/>
          <p:nvPr/>
        </p:nvSpPr>
        <p:spPr>
          <a:xfrm>
            <a:off x="502920" y="2734056"/>
            <a:ext cx="5120640" cy="384048"/>
          </a:xfrm>
          <a:prstGeom prst="roundRect">
            <a:avLst>
              <a:gd name="adj" fmla="val 14286"/>
            </a:avLst>
          </a:prstGeom>
          <a:solidFill>
            <a:srgbClr val="DCEEF5"/>
          </a:solidFill>
          <a:ln w="12700">
            <a:solidFill>
              <a:srgbClr val="2E86AB"/>
            </a:solidFill>
            <a:prstDash val="solid"/>
          </a:ln>
        </p:spPr>
        <p:txBody>
          <a:bodyPr/>
          <a:lstStyle/>
          <a:p>
            <a:endParaRPr lang="en-US"/>
          </a:p>
        </p:txBody>
      </p:sp>
      <p:sp>
        <p:nvSpPr>
          <p:cNvPr id="17" name="Text 15"/>
          <p:cNvSpPr/>
          <p:nvPr/>
        </p:nvSpPr>
        <p:spPr>
          <a:xfrm>
            <a:off x="502920" y="2734056"/>
            <a:ext cx="5120640" cy="384048"/>
          </a:xfrm>
          <a:prstGeom prst="rect">
            <a:avLst/>
          </a:prstGeom>
          <a:noFill/>
          <a:ln/>
        </p:spPr>
        <p:txBody>
          <a:bodyPr wrap="square" rtlCol="0" anchor="ctr"/>
          <a:lstStyle/>
          <a:p>
            <a:pPr marL="0" indent="0" algn="ctr">
              <a:buNone/>
            </a:pPr>
            <a:r>
              <a:rPr lang="en-US" sz="1100" dirty="0">
                <a:solidFill>
                  <a:srgbClr val="1F2933"/>
                </a:solidFill>
                <a:latin typeface="Calibri" pitchFamily="34" charset="0"/>
                <a:ea typeface="Calibri" pitchFamily="34" charset="-122"/>
                <a:cs typeface="Calibri" pitchFamily="34" charset="-120"/>
              </a:rPr>
              <a:t>Existing Forms / Records</a:t>
            </a:r>
            <a:endParaRPr lang="en-US" sz="1100" dirty="0"/>
          </a:p>
        </p:txBody>
      </p:sp>
      <p:sp>
        <p:nvSpPr>
          <p:cNvPr id="18" name="Shape 16"/>
          <p:cNvSpPr/>
          <p:nvPr/>
        </p:nvSpPr>
        <p:spPr>
          <a:xfrm>
            <a:off x="2980944" y="3125419"/>
            <a:ext cx="164592" cy="109728"/>
          </a:xfrm>
          <a:prstGeom prst="downArrow">
            <a:avLst/>
          </a:prstGeom>
          <a:solidFill>
            <a:srgbClr val="5A6B75"/>
          </a:solidFill>
          <a:ln/>
        </p:spPr>
        <p:txBody>
          <a:bodyPr/>
          <a:lstStyle/>
          <a:p>
            <a:endParaRPr lang="en-US"/>
          </a:p>
        </p:txBody>
      </p:sp>
      <p:sp>
        <p:nvSpPr>
          <p:cNvPr id="19" name="Shape 17"/>
          <p:cNvSpPr/>
          <p:nvPr/>
        </p:nvSpPr>
        <p:spPr>
          <a:xfrm>
            <a:off x="502920" y="3264408"/>
            <a:ext cx="5120640" cy="384048"/>
          </a:xfrm>
          <a:prstGeom prst="roundRect">
            <a:avLst>
              <a:gd name="adj" fmla="val 14286"/>
            </a:avLst>
          </a:prstGeom>
          <a:solidFill>
            <a:srgbClr val="DCEEF5"/>
          </a:solidFill>
          <a:ln w="12700">
            <a:solidFill>
              <a:srgbClr val="2E86AB"/>
            </a:solidFill>
            <a:prstDash val="solid"/>
          </a:ln>
        </p:spPr>
        <p:txBody>
          <a:bodyPr/>
          <a:lstStyle/>
          <a:p>
            <a:endParaRPr lang="en-US"/>
          </a:p>
        </p:txBody>
      </p:sp>
      <p:sp>
        <p:nvSpPr>
          <p:cNvPr id="20" name="Text 18"/>
          <p:cNvSpPr/>
          <p:nvPr/>
        </p:nvSpPr>
        <p:spPr>
          <a:xfrm>
            <a:off x="502920" y="3264408"/>
            <a:ext cx="5120640" cy="384048"/>
          </a:xfrm>
          <a:prstGeom prst="rect">
            <a:avLst/>
          </a:prstGeom>
          <a:noFill/>
          <a:ln/>
        </p:spPr>
        <p:txBody>
          <a:bodyPr wrap="square" rtlCol="0" anchor="ctr"/>
          <a:lstStyle/>
          <a:p>
            <a:pPr marL="0" indent="0" algn="ctr">
              <a:buNone/>
            </a:pPr>
            <a:r>
              <a:rPr lang="en-US" sz="1100" dirty="0">
                <a:solidFill>
                  <a:srgbClr val="1F2933"/>
                </a:solidFill>
                <a:latin typeface="Calibri" pitchFamily="34" charset="0"/>
                <a:ea typeface="Calibri" pitchFamily="34" charset="-122"/>
                <a:cs typeface="Calibri" pitchFamily="34" charset="-120"/>
              </a:rPr>
              <a:t>Software Engineering Principles</a:t>
            </a:r>
            <a:endParaRPr lang="en-US" sz="1100" dirty="0"/>
          </a:p>
        </p:txBody>
      </p:sp>
      <p:sp>
        <p:nvSpPr>
          <p:cNvPr id="21" name="Shape 19"/>
          <p:cNvSpPr/>
          <p:nvPr/>
        </p:nvSpPr>
        <p:spPr>
          <a:xfrm>
            <a:off x="2980944" y="3655771"/>
            <a:ext cx="164592" cy="109728"/>
          </a:xfrm>
          <a:prstGeom prst="downArrow">
            <a:avLst/>
          </a:prstGeom>
          <a:solidFill>
            <a:srgbClr val="5A6B75"/>
          </a:solidFill>
          <a:ln/>
        </p:spPr>
        <p:txBody>
          <a:bodyPr/>
          <a:lstStyle/>
          <a:p>
            <a:endParaRPr lang="en-US"/>
          </a:p>
        </p:txBody>
      </p:sp>
      <p:sp>
        <p:nvSpPr>
          <p:cNvPr id="22" name="Shape 20"/>
          <p:cNvSpPr/>
          <p:nvPr/>
        </p:nvSpPr>
        <p:spPr>
          <a:xfrm>
            <a:off x="502920" y="3794760"/>
            <a:ext cx="5120640" cy="384048"/>
          </a:xfrm>
          <a:prstGeom prst="roundRect">
            <a:avLst>
              <a:gd name="adj" fmla="val 14286"/>
            </a:avLst>
          </a:prstGeom>
          <a:solidFill>
            <a:srgbClr val="DCEEF5"/>
          </a:solidFill>
          <a:ln w="12700">
            <a:solidFill>
              <a:srgbClr val="2E86AB"/>
            </a:solidFill>
            <a:prstDash val="solid"/>
          </a:ln>
        </p:spPr>
        <p:txBody>
          <a:bodyPr/>
          <a:lstStyle/>
          <a:p>
            <a:endParaRPr lang="en-US"/>
          </a:p>
        </p:txBody>
      </p:sp>
      <p:sp>
        <p:nvSpPr>
          <p:cNvPr id="23" name="Text 21"/>
          <p:cNvSpPr/>
          <p:nvPr/>
        </p:nvSpPr>
        <p:spPr>
          <a:xfrm>
            <a:off x="502920" y="3794760"/>
            <a:ext cx="5120640" cy="384048"/>
          </a:xfrm>
          <a:prstGeom prst="rect">
            <a:avLst/>
          </a:prstGeom>
          <a:noFill/>
          <a:ln/>
        </p:spPr>
        <p:txBody>
          <a:bodyPr wrap="square" rtlCol="0" anchor="ctr"/>
          <a:lstStyle/>
          <a:p>
            <a:pPr marL="0" indent="0" algn="ctr">
              <a:buNone/>
            </a:pPr>
            <a:r>
              <a:rPr lang="en-US" sz="1100" dirty="0">
                <a:solidFill>
                  <a:srgbClr val="1F2933"/>
                </a:solidFill>
                <a:latin typeface="Calibri" pitchFamily="34" charset="0"/>
                <a:ea typeface="Calibri" pitchFamily="34" charset="-122"/>
                <a:cs typeface="Calibri" pitchFamily="34" charset="-120"/>
              </a:rPr>
              <a:t>Functional + Quality Requirements</a:t>
            </a:r>
            <a:endParaRPr lang="en-US" sz="1100" dirty="0"/>
          </a:p>
        </p:txBody>
      </p:sp>
      <p:sp>
        <p:nvSpPr>
          <p:cNvPr id="24" name="Shape 22"/>
          <p:cNvSpPr/>
          <p:nvPr/>
        </p:nvSpPr>
        <p:spPr>
          <a:xfrm>
            <a:off x="2980944" y="4186123"/>
            <a:ext cx="164592" cy="109728"/>
          </a:xfrm>
          <a:prstGeom prst="downArrow">
            <a:avLst/>
          </a:prstGeom>
          <a:solidFill>
            <a:srgbClr val="5A6B75"/>
          </a:solidFill>
          <a:ln/>
        </p:spPr>
        <p:txBody>
          <a:bodyPr/>
          <a:lstStyle/>
          <a:p>
            <a:endParaRPr lang="en-US"/>
          </a:p>
        </p:txBody>
      </p:sp>
      <p:sp>
        <p:nvSpPr>
          <p:cNvPr id="25" name="Shape 23"/>
          <p:cNvSpPr/>
          <p:nvPr/>
        </p:nvSpPr>
        <p:spPr>
          <a:xfrm>
            <a:off x="502920" y="4325112"/>
            <a:ext cx="5120640" cy="384048"/>
          </a:xfrm>
          <a:prstGeom prst="roundRect">
            <a:avLst>
              <a:gd name="adj" fmla="val 14286"/>
            </a:avLst>
          </a:prstGeom>
          <a:solidFill>
            <a:srgbClr val="DCEEF5"/>
          </a:solidFill>
          <a:ln w="12700">
            <a:solidFill>
              <a:srgbClr val="2E86AB"/>
            </a:solidFill>
            <a:prstDash val="solid"/>
          </a:ln>
        </p:spPr>
        <p:txBody>
          <a:bodyPr/>
          <a:lstStyle/>
          <a:p>
            <a:endParaRPr lang="en-US"/>
          </a:p>
        </p:txBody>
      </p:sp>
      <p:sp>
        <p:nvSpPr>
          <p:cNvPr id="26" name="Text 24"/>
          <p:cNvSpPr/>
          <p:nvPr/>
        </p:nvSpPr>
        <p:spPr>
          <a:xfrm>
            <a:off x="502920" y="4325112"/>
            <a:ext cx="5120640" cy="384048"/>
          </a:xfrm>
          <a:prstGeom prst="rect">
            <a:avLst/>
          </a:prstGeom>
          <a:noFill/>
          <a:ln/>
        </p:spPr>
        <p:txBody>
          <a:bodyPr wrap="square" rtlCol="0" anchor="ctr"/>
          <a:lstStyle/>
          <a:p>
            <a:pPr marL="0" indent="0" algn="ctr">
              <a:buNone/>
            </a:pPr>
            <a:r>
              <a:rPr lang="en-US" sz="1100" dirty="0">
                <a:solidFill>
                  <a:srgbClr val="1F2933"/>
                </a:solidFill>
                <a:latin typeface="Calibri" pitchFamily="34" charset="0"/>
                <a:ea typeface="Calibri" pitchFamily="34" charset="-122"/>
                <a:cs typeface="Calibri" pitchFamily="34" charset="-120"/>
              </a:rPr>
              <a:t>Business Rules + Acceptance Criteria</a:t>
            </a:r>
            <a:endParaRPr lang="en-US" sz="1100" dirty="0"/>
          </a:p>
        </p:txBody>
      </p:sp>
      <p:sp>
        <p:nvSpPr>
          <p:cNvPr id="27" name="Shape 25"/>
          <p:cNvSpPr/>
          <p:nvPr/>
        </p:nvSpPr>
        <p:spPr>
          <a:xfrm>
            <a:off x="2980944" y="4716475"/>
            <a:ext cx="164592" cy="109728"/>
          </a:xfrm>
          <a:prstGeom prst="downArrow">
            <a:avLst/>
          </a:prstGeom>
          <a:solidFill>
            <a:srgbClr val="5A6B75"/>
          </a:solidFill>
          <a:ln/>
        </p:spPr>
        <p:txBody>
          <a:bodyPr/>
          <a:lstStyle/>
          <a:p>
            <a:endParaRPr lang="en-US"/>
          </a:p>
        </p:txBody>
      </p:sp>
      <p:sp>
        <p:nvSpPr>
          <p:cNvPr id="28" name="Shape 26"/>
          <p:cNvSpPr/>
          <p:nvPr/>
        </p:nvSpPr>
        <p:spPr>
          <a:xfrm>
            <a:off x="502920" y="4855464"/>
            <a:ext cx="5120640" cy="384048"/>
          </a:xfrm>
          <a:prstGeom prst="roundRect">
            <a:avLst>
              <a:gd name="adj" fmla="val 14286"/>
            </a:avLst>
          </a:prstGeom>
          <a:solidFill>
            <a:srgbClr val="DCEEF5"/>
          </a:solidFill>
          <a:ln w="12700">
            <a:solidFill>
              <a:srgbClr val="2E86AB"/>
            </a:solidFill>
            <a:prstDash val="solid"/>
          </a:ln>
        </p:spPr>
        <p:txBody>
          <a:bodyPr/>
          <a:lstStyle/>
          <a:p>
            <a:endParaRPr lang="en-US"/>
          </a:p>
        </p:txBody>
      </p:sp>
      <p:sp>
        <p:nvSpPr>
          <p:cNvPr id="29" name="Text 27"/>
          <p:cNvSpPr/>
          <p:nvPr/>
        </p:nvSpPr>
        <p:spPr>
          <a:xfrm>
            <a:off x="502920" y="4855464"/>
            <a:ext cx="5120640" cy="384048"/>
          </a:xfrm>
          <a:prstGeom prst="rect">
            <a:avLst/>
          </a:prstGeom>
          <a:noFill/>
          <a:ln/>
        </p:spPr>
        <p:txBody>
          <a:bodyPr wrap="square" rtlCol="0" anchor="ctr"/>
          <a:lstStyle/>
          <a:p>
            <a:pPr marL="0" indent="0" algn="ctr">
              <a:buNone/>
            </a:pPr>
            <a:r>
              <a:rPr lang="en-US" sz="1100" dirty="0">
                <a:solidFill>
                  <a:srgbClr val="1F2933"/>
                </a:solidFill>
                <a:latin typeface="Calibri" pitchFamily="34" charset="0"/>
                <a:ea typeface="Calibri" pitchFamily="34" charset="-122"/>
                <a:cs typeface="Calibri" pitchFamily="34" charset="-120"/>
              </a:rPr>
              <a:t>Implementation + Tests</a:t>
            </a:r>
            <a:endParaRPr lang="en-US" sz="1100" dirty="0"/>
          </a:p>
        </p:txBody>
      </p:sp>
      <p:sp>
        <p:nvSpPr>
          <p:cNvPr id="30" name="Shape 28"/>
          <p:cNvSpPr/>
          <p:nvPr/>
        </p:nvSpPr>
        <p:spPr>
          <a:xfrm>
            <a:off x="5943600" y="1143000"/>
            <a:ext cx="5760720" cy="1417320"/>
          </a:xfrm>
          <a:prstGeom prst="roundRect">
            <a:avLst>
              <a:gd name="adj" fmla="val 3871"/>
            </a:avLst>
          </a:prstGeom>
          <a:solidFill>
            <a:srgbClr val="DCEEF5"/>
          </a:solidFill>
          <a:ln w="12700">
            <a:solidFill>
              <a:srgbClr val="5A6B75"/>
            </a:solidFill>
            <a:prstDash val="solid"/>
          </a:ln>
        </p:spPr>
        <p:txBody>
          <a:bodyPr/>
          <a:lstStyle/>
          <a:p>
            <a:endParaRPr lang="en-US"/>
          </a:p>
        </p:txBody>
      </p:sp>
      <p:sp>
        <p:nvSpPr>
          <p:cNvPr id="31" name="Text 29"/>
          <p:cNvSpPr/>
          <p:nvPr/>
        </p:nvSpPr>
        <p:spPr>
          <a:xfrm>
            <a:off x="6144768" y="1271016"/>
            <a:ext cx="5358384" cy="1179576"/>
          </a:xfrm>
          <a:prstGeom prst="rect">
            <a:avLst/>
          </a:prstGeom>
          <a:noFill/>
          <a:ln/>
        </p:spPr>
        <p:txBody>
          <a:bodyPr wrap="square" rtlCol="0" anchor="t"/>
          <a:lstStyle/>
          <a:p>
            <a:pPr marL="0" indent="0">
              <a:lnSpc>
                <a:spcPct val="110000"/>
              </a:lnSpc>
              <a:spcAft>
                <a:spcPts val="400"/>
              </a:spcAft>
              <a:buNone/>
            </a:pPr>
            <a:r>
              <a:rPr lang="en-US" sz="1400" b="1" dirty="0">
                <a:solidFill>
                  <a:srgbClr val="1B3A4B"/>
                </a:solidFill>
                <a:latin typeface="Calibri" pitchFamily="34" charset="0"/>
                <a:ea typeface="Calibri" pitchFamily="34" charset="-122"/>
                <a:cs typeface="Calibri" pitchFamily="34" charset="-120"/>
              </a:rPr>
              <a:t>Requirement Traceability</a:t>
            </a:r>
            <a:endParaRPr lang="en-US" sz="1400" dirty="0"/>
          </a:p>
          <a:p>
            <a:pPr marL="0" indent="0">
              <a:lnSpc>
                <a:spcPct val="110000"/>
              </a:lnSpc>
              <a:spcAft>
                <a:spcPts val="300"/>
              </a:spcAft>
              <a:buNone/>
            </a:pPr>
            <a:r>
              <a:rPr lang="en-US" sz="1250" dirty="0">
                <a:solidFill>
                  <a:srgbClr val="10262F"/>
                </a:solidFill>
                <a:latin typeface="Calibri" pitchFamily="34" charset="0"/>
                <a:ea typeface="Calibri" pitchFamily="34" charset="-122"/>
                <a:cs typeface="Calibri" pitchFamily="34" charset="-120"/>
              </a:rPr>
              <a:t>Source → Requirement → Rule → Component → Test → Evidence</a:t>
            </a:r>
            <a:endParaRPr lang="en-US" sz="1400" dirty="0"/>
          </a:p>
        </p:txBody>
      </p:sp>
      <p:sp>
        <p:nvSpPr>
          <p:cNvPr id="32" name="Shape 30"/>
          <p:cNvSpPr/>
          <p:nvPr/>
        </p:nvSpPr>
        <p:spPr>
          <a:xfrm>
            <a:off x="5943600" y="2743200"/>
            <a:ext cx="5760720" cy="2331720"/>
          </a:xfrm>
          <a:prstGeom prst="roundRect">
            <a:avLst>
              <a:gd name="adj" fmla="val 2353"/>
            </a:avLst>
          </a:prstGeom>
          <a:solidFill>
            <a:srgbClr val="EEF2F4"/>
          </a:solidFill>
          <a:ln w="12700">
            <a:solidFill>
              <a:srgbClr val="5A6B75"/>
            </a:solidFill>
            <a:prstDash val="solid"/>
          </a:ln>
        </p:spPr>
        <p:txBody>
          <a:bodyPr/>
          <a:lstStyle/>
          <a:p>
            <a:endParaRPr lang="en-US"/>
          </a:p>
        </p:txBody>
      </p:sp>
      <p:sp>
        <p:nvSpPr>
          <p:cNvPr id="33" name="Text 31"/>
          <p:cNvSpPr/>
          <p:nvPr/>
        </p:nvSpPr>
        <p:spPr>
          <a:xfrm>
            <a:off x="6144768" y="2871216"/>
            <a:ext cx="5358384" cy="2093976"/>
          </a:xfrm>
          <a:prstGeom prst="rect">
            <a:avLst/>
          </a:prstGeom>
          <a:noFill/>
          <a:ln/>
        </p:spPr>
        <p:txBody>
          <a:bodyPr wrap="square" rtlCol="0" anchor="t"/>
          <a:lstStyle/>
          <a:p>
            <a:pPr marL="0" indent="0">
              <a:lnSpc>
                <a:spcPct val="110000"/>
              </a:lnSpc>
              <a:spcAft>
                <a:spcPts val="400"/>
              </a:spcAft>
              <a:buNone/>
            </a:pPr>
            <a:r>
              <a:rPr lang="en-US" sz="1300" b="1" dirty="0">
                <a:solidFill>
                  <a:srgbClr val="1B3A4B"/>
                </a:solidFill>
                <a:latin typeface="Calibri" pitchFamily="34" charset="0"/>
                <a:ea typeface="Calibri" pitchFamily="34" charset="-122"/>
                <a:cs typeface="Calibri" pitchFamily="34" charset="-120"/>
              </a:rPr>
              <a:t>Worked example — Membership requirement</a:t>
            </a:r>
            <a:endParaRPr lang="en-US" sz="1300" dirty="0"/>
          </a:p>
          <a:p>
            <a:pPr marL="342900" indent="-342900">
              <a:lnSpc>
                <a:spcPct val="110000"/>
              </a:lnSpc>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Membership requirement</a:t>
            </a:r>
            <a:endParaRPr lang="en-US" sz="1300" dirty="0"/>
          </a:p>
          <a:p>
            <a:pPr marL="342900" indent="-342900">
              <a:lnSpc>
                <a:spcPct val="110000"/>
              </a:lnSpc>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 eligibility rule</a:t>
            </a:r>
            <a:endParaRPr lang="en-US" sz="1300" dirty="0"/>
          </a:p>
          <a:p>
            <a:pPr marL="342900" indent="-342900">
              <a:lnSpc>
                <a:spcPct val="110000"/>
              </a:lnSpc>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 membership workflow</a:t>
            </a:r>
            <a:endParaRPr lang="en-US" sz="1300" dirty="0"/>
          </a:p>
          <a:p>
            <a:pPr marL="342900" indent="-342900">
              <a:lnSpc>
                <a:spcPct val="110000"/>
              </a:lnSpc>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 API / service</a:t>
            </a:r>
            <a:endParaRPr lang="en-US" sz="1300" dirty="0"/>
          </a:p>
          <a:p>
            <a:pPr marL="342900" indent="-342900">
              <a:lnSpc>
                <a:spcPct val="110000"/>
              </a:lnSpc>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 automated test</a:t>
            </a:r>
            <a:endParaRPr lang="en-US" sz="1300" dirty="0"/>
          </a:p>
          <a:p>
            <a:pPr marL="342900" indent="-342900">
              <a:lnSpc>
                <a:spcPct val="110000"/>
              </a:lnSpc>
              <a:spcAft>
                <a:spcPts val="300"/>
              </a:spcAft>
              <a:buSzPct val="100000"/>
              <a:buChar char="▪"/>
            </a:pPr>
            <a:r>
              <a:rPr lang="en-US" sz="1200" dirty="0">
                <a:solidFill>
                  <a:srgbClr val="1F2933"/>
                </a:solidFill>
                <a:latin typeface="Calibri" pitchFamily="34" charset="0"/>
                <a:ea typeface="Calibri" pitchFamily="34" charset="-122"/>
                <a:cs typeface="Calibri" pitchFamily="34" charset="-120"/>
              </a:rPr>
              <a:t>→ evaluation result</a:t>
            </a:r>
            <a:endParaRPr lang="en-US" sz="1300" dirty="0"/>
          </a:p>
        </p:txBody>
      </p:sp>
      <p:sp>
        <p:nvSpPr>
          <p:cNvPr id="34" name="Shape 32"/>
          <p:cNvSpPr/>
          <p:nvPr/>
        </p:nvSpPr>
        <p:spPr>
          <a:xfrm>
            <a:off x="5943600" y="5257800"/>
            <a:ext cx="5760720" cy="658368"/>
          </a:xfrm>
          <a:prstGeom prst="roundRect">
            <a:avLst>
              <a:gd name="adj" fmla="val 11111"/>
            </a:avLst>
          </a:prstGeom>
          <a:solidFill>
            <a:srgbClr val="1B3A4B"/>
          </a:solidFill>
          <a:ln/>
        </p:spPr>
        <p:txBody>
          <a:bodyPr/>
          <a:lstStyle/>
          <a:p>
            <a:endParaRPr lang="en-US"/>
          </a:p>
        </p:txBody>
      </p:sp>
      <p:sp>
        <p:nvSpPr>
          <p:cNvPr id="35" name="Text 33"/>
          <p:cNvSpPr/>
          <p:nvPr/>
        </p:nvSpPr>
        <p:spPr>
          <a:xfrm>
            <a:off x="6217920" y="5257800"/>
            <a:ext cx="5212080" cy="658368"/>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Every important requirement stays traceable end-to-end.</a:t>
            </a:r>
            <a:endParaRPr lang="en-US" sz="1400" dirty="0"/>
          </a:p>
        </p:txBody>
      </p:sp>
      <p:sp>
        <p:nvSpPr>
          <p:cNvPr id="37" name="Text 34"/>
          <p:cNvSpPr/>
          <p:nvPr/>
        </p:nvSpPr>
        <p:spPr>
          <a:xfrm>
            <a:off x="502920" y="6547104"/>
            <a:ext cx="7315200" cy="256032"/>
          </a:xfrm>
          <a:prstGeom prst="rect">
            <a:avLst/>
          </a:prstGeom>
          <a:noFill/>
          <a:ln/>
        </p:spPr>
        <p:txBody>
          <a:bodyPr wrap="square" rtlCol="0" anchor="ctr"/>
          <a:lstStyle/>
          <a:p>
            <a:pPr marL="0" indent="0">
              <a:buNone/>
            </a:pPr>
            <a:r>
              <a:rPr lang="en-US" sz="1000" i="1" dirty="0">
                <a:solidFill>
                  <a:srgbClr val="5A6B75"/>
                </a:solidFill>
                <a:latin typeface="Calibri" pitchFamily="34" charset="0"/>
                <a:ea typeface="Calibri" pitchFamily="34" charset="-122"/>
                <a:cs typeface="Calibri" pitchFamily="34" charset="-120"/>
              </a:rPr>
              <a:t>GHCAA — Govt. Haraganga College Alumni Association</a:t>
            </a:r>
            <a:endParaRPr lang="en-US" sz="1000" dirty="0"/>
          </a:p>
        </p:txBody>
      </p:sp>
      <p:sp>
        <p:nvSpPr>
          <p:cNvPr id="38" name="Text 35"/>
          <p:cNvSpPr/>
          <p:nvPr/>
        </p:nvSpPr>
        <p:spPr>
          <a:xfrm>
            <a:off x="11521440" y="6547104"/>
            <a:ext cx="457200" cy="256032"/>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3A4B"/>
          </a:solidFill>
          <a:ln/>
        </p:spPr>
        <p:txBody>
          <a:bodyPr/>
          <a:lstStyle/>
          <a:p>
            <a:endParaRPr lang="en-US"/>
          </a:p>
        </p:txBody>
      </p:sp>
      <p:sp>
        <p:nvSpPr>
          <p:cNvPr id="3" name="Shape 1"/>
          <p:cNvSpPr/>
          <p:nvPr/>
        </p:nvSpPr>
        <p:spPr>
          <a:xfrm>
            <a:off x="0" y="960120"/>
            <a:ext cx="12191695" cy="41148"/>
          </a:xfrm>
          <a:prstGeom prst="rect">
            <a:avLst/>
          </a:prstGeom>
          <a:solidFill>
            <a:srgbClr val="C77D0A"/>
          </a:solidFill>
          <a:ln/>
        </p:spPr>
        <p:txBody>
          <a:bodyPr/>
          <a:lstStyle/>
          <a:p>
            <a:endParaRPr lang="en-US"/>
          </a:p>
        </p:txBody>
      </p:sp>
      <p:sp>
        <p:nvSpPr>
          <p:cNvPr id="4" name="Text 2"/>
          <p:cNvSpPr/>
          <p:nvPr/>
        </p:nvSpPr>
        <p:spPr>
          <a:xfrm>
            <a:off x="502920" y="128016"/>
            <a:ext cx="10058400" cy="256032"/>
          </a:xfrm>
          <a:prstGeom prst="rect">
            <a:avLst/>
          </a:prstGeom>
          <a:noFill/>
          <a:ln/>
        </p:spPr>
        <p:txBody>
          <a:bodyPr wrap="square" rtlCol="0" anchor="ctr"/>
          <a:lstStyle/>
          <a:p>
            <a:pPr marL="0" indent="0">
              <a:buNone/>
            </a:pPr>
            <a:r>
              <a:rPr lang="en-US" sz="1200" b="1" kern="0" spc="200" dirty="0">
                <a:solidFill>
                  <a:srgbClr val="C77D0A"/>
                </a:solidFill>
                <a:latin typeface="Calibri" pitchFamily="34" charset="0"/>
                <a:ea typeface="Calibri" pitchFamily="34" charset="-122"/>
                <a:cs typeface="Calibri" pitchFamily="34" charset="-120"/>
              </a:rPr>
              <a:t>SOLUTION ARCHITECTURE</a:t>
            </a:r>
            <a:endParaRPr lang="en-US" sz="1200" dirty="0"/>
          </a:p>
        </p:txBody>
      </p:sp>
      <p:sp>
        <p:nvSpPr>
          <p:cNvPr id="5" name="Text 3"/>
          <p:cNvSpPr/>
          <p:nvPr/>
        </p:nvSpPr>
        <p:spPr>
          <a:xfrm>
            <a:off x="502920" y="384048"/>
            <a:ext cx="11155680" cy="530352"/>
          </a:xfrm>
          <a:prstGeom prst="rect">
            <a:avLst/>
          </a:prstGeom>
          <a:noFill/>
          <a:ln/>
        </p:spPr>
        <p:txBody>
          <a:bodyPr wrap="square"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One platform, multiple clients</a:t>
            </a:r>
            <a:endParaRPr lang="en-US" sz="2700" dirty="0"/>
          </a:p>
        </p:txBody>
      </p:sp>
      <p:sp>
        <p:nvSpPr>
          <p:cNvPr id="6" name="Text 4"/>
          <p:cNvSpPr/>
          <p:nvPr/>
        </p:nvSpPr>
        <p:spPr>
          <a:xfrm>
            <a:off x="10561320" y="365760"/>
            <a:ext cx="1234440" cy="274320"/>
          </a:xfrm>
          <a:prstGeom prst="rect">
            <a:avLst/>
          </a:prstGeom>
          <a:noFill/>
          <a:ln/>
        </p:spPr>
        <p:txBody>
          <a:bodyPr wrap="square"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~1:00</a:t>
            </a:r>
            <a:endParaRPr lang="en-US" sz="1050" dirty="0"/>
          </a:p>
        </p:txBody>
      </p:sp>
      <p:sp>
        <p:nvSpPr>
          <p:cNvPr id="7" name="Shape 5"/>
          <p:cNvSpPr/>
          <p:nvPr/>
        </p:nvSpPr>
        <p:spPr>
          <a:xfrm>
            <a:off x="502920" y="1143000"/>
            <a:ext cx="3383280" cy="502920"/>
          </a:xfrm>
          <a:prstGeom prst="roundRect">
            <a:avLst>
              <a:gd name="adj" fmla="val 10909"/>
            </a:avLst>
          </a:prstGeom>
          <a:solidFill>
            <a:srgbClr val="DCEEF5"/>
          </a:solidFill>
          <a:ln w="12700">
            <a:solidFill>
              <a:srgbClr val="2E86AB"/>
            </a:solidFill>
            <a:prstDash val="solid"/>
          </a:ln>
        </p:spPr>
        <p:txBody>
          <a:bodyPr/>
          <a:lstStyle/>
          <a:p>
            <a:endParaRPr lang="en-US"/>
          </a:p>
        </p:txBody>
      </p:sp>
      <p:sp>
        <p:nvSpPr>
          <p:cNvPr id="8" name="Text 6"/>
          <p:cNvSpPr/>
          <p:nvPr/>
        </p:nvSpPr>
        <p:spPr>
          <a:xfrm>
            <a:off x="502920" y="1143000"/>
            <a:ext cx="3383280" cy="502920"/>
          </a:xfrm>
          <a:prstGeom prst="rect">
            <a:avLst/>
          </a:prstGeom>
          <a:noFill/>
          <a:ln/>
        </p:spPr>
        <p:txBody>
          <a:bodyPr wrap="square" rtlCol="0" anchor="ctr"/>
          <a:lstStyle/>
          <a:p>
            <a:pPr marL="0" indent="0" algn="ctr">
              <a:buNone/>
            </a:pPr>
            <a:r>
              <a:rPr lang="en-US" sz="1200" b="1" dirty="0">
                <a:solidFill>
                  <a:srgbClr val="1F2933"/>
                </a:solidFill>
                <a:latin typeface="Calibri" pitchFamily="34" charset="0"/>
                <a:ea typeface="Calibri" pitchFamily="34" charset="-122"/>
                <a:cs typeface="Calibri" pitchFamily="34" charset="-120"/>
              </a:rPr>
              <a:t>Angular Web</a:t>
            </a:r>
            <a:endParaRPr lang="en-US" sz="1200" dirty="0"/>
          </a:p>
          <a:p>
            <a:pPr marL="0" indent="0" algn="ctr">
              <a:buNone/>
            </a:pPr>
            <a:r>
              <a:rPr lang="en-US" sz="1200" b="1" dirty="0">
                <a:solidFill>
                  <a:srgbClr val="1F2933"/>
                </a:solidFill>
                <a:latin typeface="Calibri" pitchFamily="34" charset="0"/>
                <a:ea typeface="Calibri" pitchFamily="34" charset="-122"/>
                <a:cs typeface="Calibri" pitchFamily="34" charset="-120"/>
              </a:rPr>
              <a:t>Member + Admin UI</a:t>
            </a:r>
            <a:endParaRPr lang="en-US" sz="1200" dirty="0"/>
          </a:p>
        </p:txBody>
      </p:sp>
      <p:sp>
        <p:nvSpPr>
          <p:cNvPr id="9" name="Shape 7"/>
          <p:cNvSpPr/>
          <p:nvPr/>
        </p:nvSpPr>
        <p:spPr>
          <a:xfrm>
            <a:off x="2194560" y="1645920"/>
            <a:ext cx="0" cy="502920"/>
          </a:xfrm>
          <a:prstGeom prst="line">
            <a:avLst/>
          </a:prstGeom>
          <a:noFill/>
          <a:ln w="19050">
            <a:solidFill>
              <a:srgbClr val="5A6B75"/>
            </a:solidFill>
            <a:prstDash val="solid"/>
            <a:tailEnd type="triangle"/>
          </a:ln>
        </p:spPr>
        <p:txBody>
          <a:bodyPr/>
          <a:lstStyle/>
          <a:p>
            <a:endParaRPr lang="en-US"/>
          </a:p>
        </p:txBody>
      </p:sp>
      <p:sp>
        <p:nvSpPr>
          <p:cNvPr id="10" name="Text 8"/>
          <p:cNvSpPr/>
          <p:nvPr/>
        </p:nvSpPr>
        <p:spPr>
          <a:xfrm>
            <a:off x="2240280" y="1664208"/>
            <a:ext cx="1463040" cy="219456"/>
          </a:xfrm>
          <a:prstGeom prst="rect">
            <a:avLst/>
          </a:prstGeom>
          <a:noFill/>
          <a:ln/>
        </p:spPr>
        <p:txBody>
          <a:bodyPr wrap="square" rtlCol="0" anchor="ctr"/>
          <a:lstStyle/>
          <a:p>
            <a:pPr marL="0" indent="0">
              <a:buNone/>
            </a:pPr>
            <a:r>
              <a:rPr lang="en-US" sz="850" i="1" dirty="0">
                <a:solidFill>
                  <a:srgbClr val="5A6B75"/>
                </a:solidFill>
                <a:latin typeface="Calibri" pitchFamily="34" charset="0"/>
                <a:ea typeface="Calibri" pitchFamily="34" charset="-122"/>
                <a:cs typeface="Calibri" pitchFamily="34" charset="-120"/>
              </a:rPr>
              <a:t>REST / HTTPS</a:t>
            </a:r>
            <a:endParaRPr lang="en-US" sz="850" dirty="0"/>
          </a:p>
        </p:txBody>
      </p:sp>
      <p:sp>
        <p:nvSpPr>
          <p:cNvPr id="11" name="Shape 9"/>
          <p:cNvSpPr/>
          <p:nvPr/>
        </p:nvSpPr>
        <p:spPr>
          <a:xfrm>
            <a:off x="8321040" y="4892040"/>
            <a:ext cx="3337560" cy="502920"/>
          </a:xfrm>
          <a:prstGeom prst="roundRect">
            <a:avLst>
              <a:gd name="adj" fmla="val 10909"/>
            </a:avLst>
          </a:prstGeom>
          <a:solidFill>
            <a:srgbClr val="DCEEF5"/>
          </a:solidFill>
          <a:ln w="12700">
            <a:solidFill>
              <a:srgbClr val="2E86AB"/>
            </a:solidFill>
            <a:prstDash val="solid"/>
          </a:ln>
        </p:spPr>
        <p:txBody>
          <a:bodyPr/>
          <a:lstStyle/>
          <a:p>
            <a:endParaRPr lang="en-US"/>
          </a:p>
        </p:txBody>
      </p:sp>
      <p:sp>
        <p:nvSpPr>
          <p:cNvPr id="12" name="Text 10"/>
          <p:cNvSpPr/>
          <p:nvPr/>
        </p:nvSpPr>
        <p:spPr>
          <a:xfrm>
            <a:off x="8321040" y="4892040"/>
            <a:ext cx="3337560" cy="502920"/>
          </a:xfrm>
          <a:prstGeom prst="rect">
            <a:avLst/>
          </a:prstGeom>
          <a:noFill/>
          <a:ln/>
        </p:spPr>
        <p:txBody>
          <a:bodyPr wrap="square" rtlCol="0" anchor="ctr"/>
          <a:lstStyle/>
          <a:p>
            <a:pPr marL="0" indent="0" algn="ctr">
              <a:buNone/>
            </a:pPr>
            <a:r>
              <a:rPr lang="en-US" sz="1200" b="1" dirty="0">
                <a:solidFill>
                  <a:srgbClr val="1F2933"/>
                </a:solidFill>
                <a:latin typeface="Calibri" pitchFamily="34" charset="0"/>
                <a:ea typeface="Calibri" pitchFamily="34" charset="-122"/>
                <a:cs typeface="Calibri" pitchFamily="34" charset="-120"/>
              </a:rPr>
              <a:t>Flutter Mobile</a:t>
            </a:r>
            <a:endParaRPr lang="en-US" sz="1200" dirty="0"/>
          </a:p>
          <a:p>
            <a:pPr marL="0" indent="0" algn="ctr">
              <a:buNone/>
            </a:pPr>
            <a:r>
              <a:rPr lang="en-US" sz="1200" b="1" dirty="0">
                <a:solidFill>
                  <a:srgbClr val="1F2933"/>
                </a:solidFill>
                <a:latin typeface="Calibri" pitchFamily="34" charset="0"/>
                <a:ea typeface="Calibri" pitchFamily="34" charset="-122"/>
                <a:cs typeface="Calibri" pitchFamily="34" charset="-120"/>
              </a:rPr>
              <a:t>Member App</a:t>
            </a:r>
            <a:endParaRPr lang="en-US" sz="1200" dirty="0"/>
          </a:p>
        </p:txBody>
      </p:sp>
      <p:sp>
        <p:nvSpPr>
          <p:cNvPr id="13" name="Shape 11"/>
          <p:cNvSpPr/>
          <p:nvPr/>
        </p:nvSpPr>
        <p:spPr>
          <a:xfrm flipV="1">
            <a:off x="9966960" y="4160520"/>
            <a:ext cx="0" cy="731520"/>
          </a:xfrm>
          <a:prstGeom prst="line">
            <a:avLst/>
          </a:prstGeom>
          <a:noFill/>
          <a:ln w="19050">
            <a:solidFill>
              <a:srgbClr val="5A6B75"/>
            </a:solidFill>
            <a:prstDash val="solid"/>
            <a:headEnd type="none"/>
            <a:tailEnd type="triangle"/>
          </a:ln>
        </p:spPr>
        <p:txBody>
          <a:bodyPr/>
          <a:lstStyle/>
          <a:p>
            <a:endParaRPr lang="en-US"/>
          </a:p>
        </p:txBody>
      </p:sp>
      <p:sp>
        <p:nvSpPr>
          <p:cNvPr id="14" name="Text 12"/>
          <p:cNvSpPr/>
          <p:nvPr/>
        </p:nvSpPr>
        <p:spPr>
          <a:xfrm>
            <a:off x="10012680" y="4434840"/>
            <a:ext cx="1463040" cy="219456"/>
          </a:xfrm>
          <a:prstGeom prst="rect">
            <a:avLst/>
          </a:prstGeom>
          <a:noFill/>
          <a:ln/>
        </p:spPr>
        <p:txBody>
          <a:bodyPr wrap="square" rtlCol="0" anchor="ctr"/>
          <a:lstStyle/>
          <a:p>
            <a:pPr marL="0" indent="0">
              <a:buNone/>
            </a:pPr>
            <a:r>
              <a:rPr lang="en-US" sz="850" i="1" dirty="0">
                <a:solidFill>
                  <a:srgbClr val="5A6B75"/>
                </a:solidFill>
                <a:latin typeface="Calibri" pitchFamily="34" charset="0"/>
                <a:ea typeface="Calibri" pitchFamily="34" charset="-122"/>
                <a:cs typeface="Calibri" pitchFamily="34" charset="-120"/>
              </a:rPr>
              <a:t>REST / HTTPS</a:t>
            </a:r>
            <a:endParaRPr lang="en-US" sz="850" dirty="0"/>
          </a:p>
        </p:txBody>
      </p:sp>
      <p:sp>
        <p:nvSpPr>
          <p:cNvPr id="15" name="Shape 13"/>
          <p:cNvSpPr/>
          <p:nvPr/>
        </p:nvSpPr>
        <p:spPr>
          <a:xfrm>
            <a:off x="2194560" y="2148840"/>
            <a:ext cx="7772400" cy="1965960"/>
          </a:xfrm>
          <a:prstGeom prst="roundRect">
            <a:avLst>
              <a:gd name="adj" fmla="val 2791"/>
            </a:avLst>
          </a:prstGeom>
          <a:solidFill>
            <a:srgbClr val="1B3A4B"/>
          </a:solidFill>
          <a:ln w="12700">
            <a:solidFill>
              <a:srgbClr val="1B3A4B"/>
            </a:solidFill>
            <a:prstDash val="solid"/>
          </a:ln>
        </p:spPr>
        <p:txBody>
          <a:bodyPr/>
          <a:lstStyle/>
          <a:p>
            <a:endParaRPr lang="en-US"/>
          </a:p>
        </p:txBody>
      </p:sp>
      <p:sp>
        <p:nvSpPr>
          <p:cNvPr id="16" name="Text 14"/>
          <p:cNvSpPr/>
          <p:nvPr/>
        </p:nvSpPr>
        <p:spPr>
          <a:xfrm>
            <a:off x="2377440" y="2240280"/>
            <a:ext cx="7406640" cy="347472"/>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ASP.NET Core API</a:t>
            </a:r>
            <a:endParaRPr lang="en-US" sz="1500" dirty="0"/>
          </a:p>
        </p:txBody>
      </p:sp>
      <p:sp>
        <p:nvSpPr>
          <p:cNvPr id="17" name="Shape 15"/>
          <p:cNvSpPr/>
          <p:nvPr/>
        </p:nvSpPr>
        <p:spPr>
          <a:xfrm>
            <a:off x="2377440" y="2651760"/>
            <a:ext cx="2331720" cy="365760"/>
          </a:xfrm>
          <a:prstGeom prst="roundRect">
            <a:avLst>
              <a:gd name="adj" fmla="val 15000"/>
            </a:avLst>
          </a:prstGeom>
          <a:solidFill>
            <a:srgbClr val="234C5F"/>
          </a:solidFill>
          <a:ln w="12700">
            <a:solidFill>
              <a:srgbClr val="2E6B85"/>
            </a:solidFill>
            <a:prstDash val="solid"/>
          </a:ln>
        </p:spPr>
        <p:txBody>
          <a:bodyPr/>
          <a:lstStyle/>
          <a:p>
            <a:endParaRPr lang="en-US"/>
          </a:p>
        </p:txBody>
      </p:sp>
      <p:sp>
        <p:nvSpPr>
          <p:cNvPr id="18" name="Text 16"/>
          <p:cNvSpPr/>
          <p:nvPr/>
        </p:nvSpPr>
        <p:spPr>
          <a:xfrm>
            <a:off x="2377440" y="2651760"/>
            <a:ext cx="2331720" cy="36576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Authentication</a:t>
            </a:r>
            <a:endParaRPr lang="en-US" sz="1050" dirty="0"/>
          </a:p>
        </p:txBody>
      </p:sp>
      <p:sp>
        <p:nvSpPr>
          <p:cNvPr id="19" name="Shape 17"/>
          <p:cNvSpPr/>
          <p:nvPr/>
        </p:nvSpPr>
        <p:spPr>
          <a:xfrm>
            <a:off x="4846320" y="2651760"/>
            <a:ext cx="2331720" cy="365760"/>
          </a:xfrm>
          <a:prstGeom prst="roundRect">
            <a:avLst>
              <a:gd name="adj" fmla="val 15000"/>
            </a:avLst>
          </a:prstGeom>
          <a:solidFill>
            <a:srgbClr val="234C5F"/>
          </a:solidFill>
          <a:ln w="12700">
            <a:solidFill>
              <a:srgbClr val="2E6B85"/>
            </a:solidFill>
            <a:prstDash val="solid"/>
          </a:ln>
        </p:spPr>
        <p:txBody>
          <a:bodyPr/>
          <a:lstStyle/>
          <a:p>
            <a:endParaRPr lang="en-US"/>
          </a:p>
        </p:txBody>
      </p:sp>
      <p:sp>
        <p:nvSpPr>
          <p:cNvPr id="20" name="Text 18"/>
          <p:cNvSpPr/>
          <p:nvPr/>
        </p:nvSpPr>
        <p:spPr>
          <a:xfrm>
            <a:off x="4846320" y="2651760"/>
            <a:ext cx="2331720" cy="36576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Authorization</a:t>
            </a:r>
            <a:endParaRPr lang="en-US" sz="1050" dirty="0"/>
          </a:p>
        </p:txBody>
      </p:sp>
      <p:sp>
        <p:nvSpPr>
          <p:cNvPr id="21" name="Shape 19"/>
          <p:cNvSpPr/>
          <p:nvPr/>
        </p:nvSpPr>
        <p:spPr>
          <a:xfrm>
            <a:off x="7315200" y="2651760"/>
            <a:ext cx="2331720" cy="365760"/>
          </a:xfrm>
          <a:prstGeom prst="roundRect">
            <a:avLst>
              <a:gd name="adj" fmla="val 15000"/>
            </a:avLst>
          </a:prstGeom>
          <a:solidFill>
            <a:srgbClr val="234C5F"/>
          </a:solidFill>
          <a:ln w="12700">
            <a:solidFill>
              <a:srgbClr val="2E6B85"/>
            </a:solidFill>
            <a:prstDash val="solid"/>
          </a:ln>
        </p:spPr>
        <p:txBody>
          <a:bodyPr/>
          <a:lstStyle/>
          <a:p>
            <a:endParaRPr lang="en-US"/>
          </a:p>
        </p:txBody>
      </p:sp>
      <p:sp>
        <p:nvSpPr>
          <p:cNvPr id="22" name="Text 20"/>
          <p:cNvSpPr/>
          <p:nvPr/>
        </p:nvSpPr>
        <p:spPr>
          <a:xfrm>
            <a:off x="7315200" y="2651760"/>
            <a:ext cx="2331720" cy="36576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Business Rules</a:t>
            </a:r>
            <a:endParaRPr lang="en-US" sz="1050" dirty="0"/>
          </a:p>
        </p:txBody>
      </p:sp>
      <p:sp>
        <p:nvSpPr>
          <p:cNvPr id="23" name="Shape 21"/>
          <p:cNvSpPr/>
          <p:nvPr/>
        </p:nvSpPr>
        <p:spPr>
          <a:xfrm>
            <a:off x="2377440" y="3108960"/>
            <a:ext cx="2331720" cy="365760"/>
          </a:xfrm>
          <a:prstGeom prst="roundRect">
            <a:avLst>
              <a:gd name="adj" fmla="val 15000"/>
            </a:avLst>
          </a:prstGeom>
          <a:solidFill>
            <a:srgbClr val="234C5F"/>
          </a:solidFill>
          <a:ln w="12700">
            <a:solidFill>
              <a:srgbClr val="2E6B85"/>
            </a:solidFill>
            <a:prstDash val="solid"/>
          </a:ln>
        </p:spPr>
        <p:txBody>
          <a:bodyPr/>
          <a:lstStyle/>
          <a:p>
            <a:endParaRPr lang="en-US"/>
          </a:p>
        </p:txBody>
      </p:sp>
      <p:sp>
        <p:nvSpPr>
          <p:cNvPr id="24" name="Text 22"/>
          <p:cNvSpPr/>
          <p:nvPr/>
        </p:nvSpPr>
        <p:spPr>
          <a:xfrm>
            <a:off x="2377440" y="3108960"/>
            <a:ext cx="2331720" cy="36576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Membership</a:t>
            </a:r>
            <a:endParaRPr lang="en-US" sz="1050" dirty="0"/>
          </a:p>
        </p:txBody>
      </p:sp>
      <p:sp>
        <p:nvSpPr>
          <p:cNvPr id="25" name="Shape 23"/>
          <p:cNvSpPr/>
          <p:nvPr/>
        </p:nvSpPr>
        <p:spPr>
          <a:xfrm>
            <a:off x="4846320" y="3108960"/>
            <a:ext cx="2331720" cy="365760"/>
          </a:xfrm>
          <a:prstGeom prst="roundRect">
            <a:avLst>
              <a:gd name="adj" fmla="val 15000"/>
            </a:avLst>
          </a:prstGeom>
          <a:solidFill>
            <a:srgbClr val="234C5F"/>
          </a:solidFill>
          <a:ln w="12700">
            <a:solidFill>
              <a:srgbClr val="2E6B85"/>
            </a:solidFill>
            <a:prstDash val="solid"/>
          </a:ln>
        </p:spPr>
        <p:txBody>
          <a:bodyPr/>
          <a:lstStyle/>
          <a:p>
            <a:endParaRPr lang="en-US"/>
          </a:p>
        </p:txBody>
      </p:sp>
      <p:sp>
        <p:nvSpPr>
          <p:cNvPr id="26" name="Text 24"/>
          <p:cNvSpPr/>
          <p:nvPr/>
        </p:nvSpPr>
        <p:spPr>
          <a:xfrm>
            <a:off x="4846320" y="3108960"/>
            <a:ext cx="2331720" cy="36576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Accounting</a:t>
            </a:r>
            <a:endParaRPr lang="en-US" sz="1050" dirty="0"/>
          </a:p>
        </p:txBody>
      </p:sp>
      <p:sp>
        <p:nvSpPr>
          <p:cNvPr id="27" name="Shape 25"/>
          <p:cNvSpPr/>
          <p:nvPr/>
        </p:nvSpPr>
        <p:spPr>
          <a:xfrm>
            <a:off x="7315200" y="3108960"/>
            <a:ext cx="2331720" cy="365760"/>
          </a:xfrm>
          <a:prstGeom prst="roundRect">
            <a:avLst>
              <a:gd name="adj" fmla="val 15000"/>
            </a:avLst>
          </a:prstGeom>
          <a:solidFill>
            <a:srgbClr val="234C5F"/>
          </a:solidFill>
          <a:ln w="12700">
            <a:solidFill>
              <a:srgbClr val="2E6B85"/>
            </a:solidFill>
            <a:prstDash val="solid"/>
          </a:ln>
        </p:spPr>
        <p:txBody>
          <a:bodyPr/>
          <a:lstStyle/>
          <a:p>
            <a:endParaRPr lang="en-US"/>
          </a:p>
        </p:txBody>
      </p:sp>
      <p:sp>
        <p:nvSpPr>
          <p:cNvPr id="28" name="Text 26"/>
          <p:cNvSpPr/>
          <p:nvPr/>
        </p:nvSpPr>
        <p:spPr>
          <a:xfrm>
            <a:off x="7315200" y="3108960"/>
            <a:ext cx="2331720" cy="36576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Events</a:t>
            </a:r>
            <a:endParaRPr lang="en-US" sz="1050" dirty="0"/>
          </a:p>
        </p:txBody>
      </p:sp>
      <p:sp>
        <p:nvSpPr>
          <p:cNvPr id="29" name="Shape 27"/>
          <p:cNvSpPr/>
          <p:nvPr/>
        </p:nvSpPr>
        <p:spPr>
          <a:xfrm>
            <a:off x="2377440" y="3566160"/>
            <a:ext cx="2331720" cy="365760"/>
          </a:xfrm>
          <a:prstGeom prst="roundRect">
            <a:avLst>
              <a:gd name="adj" fmla="val 15000"/>
            </a:avLst>
          </a:prstGeom>
          <a:solidFill>
            <a:srgbClr val="234C5F"/>
          </a:solidFill>
          <a:ln w="12700">
            <a:solidFill>
              <a:srgbClr val="2E6B85"/>
            </a:solidFill>
            <a:prstDash val="solid"/>
          </a:ln>
        </p:spPr>
        <p:txBody>
          <a:bodyPr/>
          <a:lstStyle/>
          <a:p>
            <a:endParaRPr lang="en-US"/>
          </a:p>
        </p:txBody>
      </p:sp>
      <p:sp>
        <p:nvSpPr>
          <p:cNvPr id="30" name="Text 28"/>
          <p:cNvSpPr/>
          <p:nvPr/>
        </p:nvSpPr>
        <p:spPr>
          <a:xfrm>
            <a:off x="2377440" y="3566160"/>
            <a:ext cx="2331720" cy="36576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Governance</a:t>
            </a:r>
            <a:endParaRPr lang="en-US" sz="1050" dirty="0"/>
          </a:p>
        </p:txBody>
      </p:sp>
      <p:sp>
        <p:nvSpPr>
          <p:cNvPr id="31" name="Shape 29"/>
          <p:cNvSpPr/>
          <p:nvPr/>
        </p:nvSpPr>
        <p:spPr>
          <a:xfrm>
            <a:off x="4846320" y="3566160"/>
            <a:ext cx="2331720" cy="365760"/>
          </a:xfrm>
          <a:prstGeom prst="roundRect">
            <a:avLst>
              <a:gd name="adj" fmla="val 15000"/>
            </a:avLst>
          </a:prstGeom>
          <a:solidFill>
            <a:srgbClr val="234C5F"/>
          </a:solidFill>
          <a:ln w="12700">
            <a:solidFill>
              <a:srgbClr val="2E6B85"/>
            </a:solidFill>
            <a:prstDash val="solid"/>
          </a:ln>
        </p:spPr>
        <p:txBody>
          <a:bodyPr/>
          <a:lstStyle/>
          <a:p>
            <a:endParaRPr lang="en-US"/>
          </a:p>
        </p:txBody>
      </p:sp>
      <p:sp>
        <p:nvSpPr>
          <p:cNvPr id="32" name="Text 30"/>
          <p:cNvSpPr/>
          <p:nvPr/>
        </p:nvSpPr>
        <p:spPr>
          <a:xfrm>
            <a:off x="4846320" y="3566160"/>
            <a:ext cx="2331720" cy="36576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Audit / Files / Config</a:t>
            </a:r>
            <a:endParaRPr lang="en-US" sz="1050" dirty="0"/>
          </a:p>
        </p:txBody>
      </p:sp>
      <p:sp>
        <p:nvSpPr>
          <p:cNvPr id="33" name="Shape 31"/>
          <p:cNvSpPr/>
          <p:nvPr/>
        </p:nvSpPr>
        <p:spPr>
          <a:xfrm>
            <a:off x="7315200" y="3566160"/>
            <a:ext cx="2331720" cy="365760"/>
          </a:xfrm>
          <a:prstGeom prst="roundRect">
            <a:avLst>
              <a:gd name="adj" fmla="val 15000"/>
            </a:avLst>
          </a:prstGeom>
          <a:solidFill>
            <a:srgbClr val="234C5F"/>
          </a:solidFill>
          <a:ln w="12700">
            <a:solidFill>
              <a:srgbClr val="2E6B85"/>
            </a:solidFill>
            <a:prstDash val="solid"/>
          </a:ln>
        </p:spPr>
        <p:txBody>
          <a:bodyPr/>
          <a:lstStyle/>
          <a:p>
            <a:endParaRPr lang="en-US"/>
          </a:p>
        </p:txBody>
      </p:sp>
      <p:sp>
        <p:nvSpPr>
          <p:cNvPr id="34" name="Text 32"/>
          <p:cNvSpPr/>
          <p:nvPr/>
        </p:nvSpPr>
        <p:spPr>
          <a:xfrm>
            <a:off x="7315200" y="3566160"/>
            <a:ext cx="2331720" cy="36576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SignalR</a:t>
            </a:r>
            <a:endParaRPr lang="en-US" sz="1050" dirty="0"/>
          </a:p>
        </p:txBody>
      </p:sp>
      <p:sp>
        <p:nvSpPr>
          <p:cNvPr id="35" name="Shape 33"/>
          <p:cNvSpPr/>
          <p:nvPr/>
        </p:nvSpPr>
        <p:spPr>
          <a:xfrm>
            <a:off x="5989320" y="4114800"/>
            <a:ext cx="201168" cy="201168"/>
          </a:xfrm>
          <a:prstGeom prst="downArrow">
            <a:avLst/>
          </a:prstGeom>
          <a:solidFill>
            <a:srgbClr val="5A6B75"/>
          </a:solidFill>
          <a:ln/>
        </p:spPr>
        <p:txBody>
          <a:bodyPr/>
          <a:lstStyle/>
          <a:p>
            <a:endParaRPr lang="en-US"/>
          </a:p>
        </p:txBody>
      </p:sp>
      <p:sp>
        <p:nvSpPr>
          <p:cNvPr id="36" name="Shape 34"/>
          <p:cNvSpPr/>
          <p:nvPr/>
        </p:nvSpPr>
        <p:spPr>
          <a:xfrm>
            <a:off x="3749040" y="4370832"/>
            <a:ext cx="2743200" cy="502920"/>
          </a:xfrm>
          <a:prstGeom prst="roundRect">
            <a:avLst>
              <a:gd name="adj" fmla="val 10909"/>
            </a:avLst>
          </a:prstGeom>
          <a:solidFill>
            <a:srgbClr val="EEF2F4"/>
          </a:solidFill>
          <a:ln w="12700">
            <a:solidFill>
              <a:srgbClr val="5A6B75"/>
            </a:solidFill>
            <a:prstDash val="solid"/>
          </a:ln>
        </p:spPr>
        <p:txBody>
          <a:bodyPr/>
          <a:lstStyle/>
          <a:p>
            <a:endParaRPr lang="en-US"/>
          </a:p>
        </p:txBody>
      </p:sp>
      <p:sp>
        <p:nvSpPr>
          <p:cNvPr id="37" name="Text 35"/>
          <p:cNvSpPr/>
          <p:nvPr/>
        </p:nvSpPr>
        <p:spPr>
          <a:xfrm>
            <a:off x="3749040" y="4370832"/>
            <a:ext cx="2743200" cy="502920"/>
          </a:xfrm>
          <a:prstGeom prst="rect">
            <a:avLst/>
          </a:prstGeom>
          <a:noFill/>
          <a:ln/>
        </p:spPr>
        <p:txBody>
          <a:bodyPr wrap="square"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PostgreSQL</a:t>
            </a:r>
            <a:endParaRPr lang="en-US" sz="1100" dirty="0"/>
          </a:p>
          <a:p>
            <a:pPr marL="0" indent="0" algn="ctr">
              <a:buNone/>
            </a:pPr>
            <a:r>
              <a:rPr lang="en-US" sz="1100" b="1" dirty="0">
                <a:solidFill>
                  <a:srgbClr val="1F2933"/>
                </a:solidFill>
                <a:latin typeface="Calibri" pitchFamily="34" charset="0"/>
                <a:ea typeface="Calibri" pitchFamily="34" charset="-122"/>
                <a:cs typeface="Calibri" pitchFamily="34" charset="-120"/>
              </a:rPr>
              <a:t>Deployment</a:t>
            </a:r>
            <a:endParaRPr lang="en-US" sz="1100" dirty="0"/>
          </a:p>
        </p:txBody>
      </p:sp>
      <p:sp>
        <p:nvSpPr>
          <p:cNvPr id="38" name="Shape 36"/>
          <p:cNvSpPr/>
          <p:nvPr/>
        </p:nvSpPr>
        <p:spPr>
          <a:xfrm>
            <a:off x="6766560" y="4370832"/>
            <a:ext cx="2743200" cy="502920"/>
          </a:xfrm>
          <a:prstGeom prst="roundRect">
            <a:avLst>
              <a:gd name="adj" fmla="val 10909"/>
            </a:avLst>
          </a:prstGeom>
          <a:solidFill>
            <a:srgbClr val="EEF2F4"/>
          </a:solidFill>
          <a:ln w="12700">
            <a:solidFill>
              <a:srgbClr val="5A6B75"/>
            </a:solidFill>
            <a:prstDash val="solid"/>
          </a:ln>
        </p:spPr>
        <p:txBody>
          <a:bodyPr/>
          <a:lstStyle/>
          <a:p>
            <a:endParaRPr lang="en-US"/>
          </a:p>
        </p:txBody>
      </p:sp>
      <p:sp>
        <p:nvSpPr>
          <p:cNvPr id="39" name="Text 37"/>
          <p:cNvSpPr/>
          <p:nvPr/>
        </p:nvSpPr>
        <p:spPr>
          <a:xfrm>
            <a:off x="6766560" y="4370832"/>
            <a:ext cx="2743200" cy="502920"/>
          </a:xfrm>
          <a:prstGeom prst="rect">
            <a:avLst/>
          </a:prstGeom>
          <a:noFill/>
          <a:ln/>
        </p:spPr>
        <p:txBody>
          <a:bodyPr wrap="square" rtlCol="0" anchor="ctr"/>
          <a:lstStyle/>
          <a:p>
            <a:pPr marL="0" indent="0" algn="ctr">
              <a:buNone/>
            </a:pPr>
            <a:r>
              <a:rPr lang="en-US" sz="1100" b="1" dirty="0">
                <a:solidFill>
                  <a:srgbClr val="1F2933"/>
                </a:solidFill>
                <a:latin typeface="Calibri" pitchFamily="34" charset="0"/>
                <a:ea typeface="Calibri" pitchFamily="34" charset="-122"/>
                <a:cs typeface="Calibri" pitchFamily="34" charset="-120"/>
              </a:rPr>
              <a:t>SQLite</a:t>
            </a:r>
            <a:endParaRPr lang="en-US" sz="1100" dirty="0"/>
          </a:p>
          <a:p>
            <a:pPr marL="0" indent="0" algn="ctr">
              <a:buNone/>
            </a:pPr>
            <a:r>
              <a:rPr lang="en-US" sz="1100" b="1" dirty="0">
                <a:solidFill>
                  <a:srgbClr val="1F2933"/>
                </a:solidFill>
                <a:latin typeface="Calibri" pitchFamily="34" charset="0"/>
                <a:ea typeface="Calibri" pitchFamily="34" charset="-122"/>
                <a:cs typeface="Calibri" pitchFamily="34" charset="-120"/>
              </a:rPr>
              <a:t>Local / Test</a:t>
            </a:r>
            <a:endParaRPr lang="en-US" sz="1100" dirty="0"/>
          </a:p>
        </p:txBody>
      </p:sp>
      <p:sp>
        <p:nvSpPr>
          <p:cNvPr id="40" name="Shape 38"/>
          <p:cNvSpPr/>
          <p:nvPr/>
        </p:nvSpPr>
        <p:spPr>
          <a:xfrm>
            <a:off x="502920" y="4160520"/>
            <a:ext cx="3063240" cy="2148840"/>
          </a:xfrm>
          <a:prstGeom prst="roundRect">
            <a:avLst>
              <a:gd name="adj" fmla="val 2553"/>
            </a:avLst>
          </a:prstGeom>
          <a:solidFill>
            <a:srgbClr val="FBEBD3"/>
          </a:solidFill>
          <a:ln w="12700">
            <a:solidFill>
              <a:srgbClr val="5A6B75"/>
            </a:solidFill>
            <a:prstDash val="solid"/>
          </a:ln>
        </p:spPr>
        <p:txBody>
          <a:bodyPr/>
          <a:lstStyle/>
          <a:p>
            <a:endParaRPr lang="en-US"/>
          </a:p>
        </p:txBody>
      </p:sp>
      <p:sp>
        <p:nvSpPr>
          <p:cNvPr id="41" name="Text 39"/>
          <p:cNvSpPr/>
          <p:nvPr/>
        </p:nvSpPr>
        <p:spPr>
          <a:xfrm>
            <a:off x="704088" y="4288536"/>
            <a:ext cx="2660904" cy="1911096"/>
          </a:xfrm>
          <a:prstGeom prst="rect">
            <a:avLst/>
          </a:prstGeom>
          <a:noFill/>
          <a:ln/>
        </p:spPr>
        <p:txBody>
          <a:bodyPr wrap="square" rtlCol="0" anchor="t"/>
          <a:lstStyle/>
          <a:p>
            <a:pPr marL="0" indent="0">
              <a:lnSpc>
                <a:spcPct val="110000"/>
              </a:lnSpc>
              <a:spcAft>
                <a:spcPts val="400"/>
              </a:spcAft>
              <a:buNone/>
            </a:pPr>
            <a:r>
              <a:rPr lang="en-US" sz="1250" b="1" dirty="0">
                <a:solidFill>
                  <a:srgbClr val="10262F"/>
                </a:solidFill>
                <a:latin typeface="Calibri" pitchFamily="34" charset="0"/>
                <a:ea typeface="Calibri" pitchFamily="34" charset="-122"/>
                <a:cs typeface="Calibri" pitchFamily="34" charset="-120"/>
              </a:rPr>
              <a:t>Architectural principles</a:t>
            </a:r>
            <a:endParaRPr lang="en-US" sz="1250" dirty="0"/>
          </a:p>
          <a:p>
            <a:pPr marL="342900" indent="-342900">
              <a:lnSpc>
                <a:spcPct val="110000"/>
              </a:lnSpc>
              <a:spcAft>
                <a:spcPts val="300"/>
              </a:spcAft>
              <a:buSzPct val="100000"/>
              <a:buChar char="▪"/>
            </a:pPr>
            <a:r>
              <a:rPr lang="en-US" sz="1250" dirty="0">
                <a:solidFill>
                  <a:srgbClr val="1F2933"/>
                </a:solidFill>
                <a:latin typeface="Calibri" pitchFamily="34" charset="0"/>
                <a:ea typeface="Calibri" pitchFamily="34" charset="-122"/>
                <a:cs typeface="Calibri" pitchFamily="34" charset="-120"/>
              </a:rPr>
              <a:t>Centralized business rules</a:t>
            </a:r>
            <a:endParaRPr lang="en-US" sz="1250" dirty="0"/>
          </a:p>
          <a:p>
            <a:pPr marL="342900" indent="-342900">
              <a:lnSpc>
                <a:spcPct val="110000"/>
              </a:lnSpc>
              <a:spcAft>
                <a:spcPts val="300"/>
              </a:spcAft>
              <a:buSzPct val="100000"/>
              <a:buChar char="▪"/>
            </a:pPr>
            <a:r>
              <a:rPr lang="en-US" sz="1250" dirty="0">
                <a:solidFill>
                  <a:srgbClr val="1F2933"/>
                </a:solidFill>
                <a:latin typeface="Calibri" pitchFamily="34" charset="0"/>
                <a:ea typeface="Calibri" pitchFamily="34" charset="-122"/>
                <a:cs typeface="Calibri" pitchFamily="34" charset="-120"/>
              </a:rPr>
              <a:t>Multiple clients, one backend</a:t>
            </a:r>
            <a:endParaRPr lang="en-US" sz="1250" dirty="0"/>
          </a:p>
          <a:p>
            <a:pPr marL="342900" indent="-342900">
              <a:lnSpc>
                <a:spcPct val="110000"/>
              </a:lnSpc>
              <a:spcAft>
                <a:spcPts val="300"/>
              </a:spcAft>
              <a:buSzPct val="100000"/>
              <a:buChar char="▪"/>
            </a:pPr>
            <a:r>
              <a:rPr lang="en-US" sz="1250" dirty="0">
                <a:solidFill>
                  <a:srgbClr val="1F2933"/>
                </a:solidFill>
                <a:latin typeface="Calibri" pitchFamily="34" charset="0"/>
                <a:ea typeface="Calibri" pitchFamily="34" charset="-122"/>
                <a:cs typeface="Calibri" pitchFamily="34" charset="-120"/>
              </a:rPr>
              <a:t>Provider-aware persistence</a:t>
            </a:r>
            <a:endParaRPr lang="en-US" sz="1250" dirty="0"/>
          </a:p>
        </p:txBody>
      </p:sp>
      <p:sp>
        <p:nvSpPr>
          <p:cNvPr id="43" name="Text 40"/>
          <p:cNvSpPr/>
          <p:nvPr/>
        </p:nvSpPr>
        <p:spPr>
          <a:xfrm>
            <a:off x="502920" y="6547104"/>
            <a:ext cx="7315200" cy="256032"/>
          </a:xfrm>
          <a:prstGeom prst="rect">
            <a:avLst/>
          </a:prstGeom>
          <a:noFill/>
          <a:ln/>
        </p:spPr>
        <p:txBody>
          <a:bodyPr wrap="square" rtlCol="0" anchor="ctr"/>
          <a:lstStyle/>
          <a:p>
            <a:pPr marL="0" indent="0">
              <a:buNone/>
            </a:pPr>
            <a:r>
              <a:rPr lang="en-US" sz="1000" i="1" dirty="0">
                <a:solidFill>
                  <a:srgbClr val="5A6B75"/>
                </a:solidFill>
                <a:latin typeface="Calibri" pitchFamily="34" charset="0"/>
                <a:ea typeface="Calibri" pitchFamily="34" charset="-122"/>
                <a:cs typeface="Calibri" pitchFamily="34" charset="-120"/>
              </a:rPr>
              <a:t>GHCAA — Govt. Haraganga College Alumni Association</a:t>
            </a:r>
            <a:endParaRPr lang="en-US" sz="1000" dirty="0"/>
          </a:p>
        </p:txBody>
      </p:sp>
      <p:sp>
        <p:nvSpPr>
          <p:cNvPr id="44" name="Text 41"/>
          <p:cNvSpPr/>
          <p:nvPr/>
        </p:nvSpPr>
        <p:spPr>
          <a:xfrm>
            <a:off x="11521440" y="6547104"/>
            <a:ext cx="457200" cy="256032"/>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3A4B"/>
          </a:solidFill>
          <a:ln/>
        </p:spPr>
        <p:txBody>
          <a:bodyPr/>
          <a:lstStyle/>
          <a:p>
            <a:endParaRPr lang="en-US"/>
          </a:p>
        </p:txBody>
      </p:sp>
      <p:sp>
        <p:nvSpPr>
          <p:cNvPr id="3" name="Shape 1"/>
          <p:cNvSpPr/>
          <p:nvPr/>
        </p:nvSpPr>
        <p:spPr>
          <a:xfrm>
            <a:off x="0" y="960120"/>
            <a:ext cx="12191695" cy="41148"/>
          </a:xfrm>
          <a:prstGeom prst="rect">
            <a:avLst/>
          </a:prstGeom>
          <a:solidFill>
            <a:srgbClr val="C77D0A"/>
          </a:solidFill>
          <a:ln/>
        </p:spPr>
        <p:txBody>
          <a:bodyPr/>
          <a:lstStyle/>
          <a:p>
            <a:endParaRPr lang="en-US"/>
          </a:p>
        </p:txBody>
      </p:sp>
      <p:sp>
        <p:nvSpPr>
          <p:cNvPr id="4" name="Text 2"/>
          <p:cNvSpPr/>
          <p:nvPr/>
        </p:nvSpPr>
        <p:spPr>
          <a:xfrm>
            <a:off x="502920" y="128016"/>
            <a:ext cx="10058400" cy="256032"/>
          </a:xfrm>
          <a:prstGeom prst="rect">
            <a:avLst/>
          </a:prstGeom>
          <a:noFill/>
          <a:ln/>
        </p:spPr>
        <p:txBody>
          <a:bodyPr wrap="square" rtlCol="0" anchor="ctr"/>
          <a:lstStyle/>
          <a:p>
            <a:pPr marL="0" indent="0">
              <a:buNone/>
            </a:pPr>
            <a:r>
              <a:rPr lang="en-US" sz="1200" b="1" kern="0" spc="200" dirty="0">
                <a:solidFill>
                  <a:srgbClr val="C77D0A"/>
                </a:solidFill>
                <a:latin typeface="Calibri" pitchFamily="34" charset="0"/>
                <a:ea typeface="Calibri" pitchFamily="34" charset="-122"/>
                <a:cs typeface="Calibri" pitchFamily="34" charset="-120"/>
              </a:rPr>
              <a:t>KEY WORKFLOWS</a:t>
            </a:r>
            <a:endParaRPr lang="en-US" sz="1200" dirty="0"/>
          </a:p>
        </p:txBody>
      </p:sp>
      <p:sp>
        <p:nvSpPr>
          <p:cNvPr id="5" name="Text 3"/>
          <p:cNvSpPr/>
          <p:nvPr/>
        </p:nvSpPr>
        <p:spPr>
          <a:xfrm>
            <a:off x="502920" y="384048"/>
            <a:ext cx="11155680" cy="530352"/>
          </a:xfrm>
          <a:prstGeom prst="rect">
            <a:avLst/>
          </a:prstGeom>
          <a:noFill/>
          <a:ln/>
        </p:spPr>
        <p:txBody>
          <a:bodyPr wrap="square"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The platform digitizes controlled workflows — not just records</a:t>
            </a:r>
            <a:endParaRPr lang="en-US" sz="2700" dirty="0"/>
          </a:p>
        </p:txBody>
      </p:sp>
      <p:sp>
        <p:nvSpPr>
          <p:cNvPr id="6" name="Text 4"/>
          <p:cNvSpPr/>
          <p:nvPr/>
        </p:nvSpPr>
        <p:spPr>
          <a:xfrm>
            <a:off x="10561320" y="365760"/>
            <a:ext cx="1234440" cy="274320"/>
          </a:xfrm>
          <a:prstGeom prst="rect">
            <a:avLst/>
          </a:prstGeom>
          <a:noFill/>
          <a:ln/>
        </p:spPr>
        <p:txBody>
          <a:bodyPr wrap="square"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~1:15</a:t>
            </a:r>
            <a:endParaRPr lang="en-US" sz="1050" dirty="0"/>
          </a:p>
        </p:txBody>
      </p:sp>
      <p:sp>
        <p:nvSpPr>
          <p:cNvPr id="7" name="Text 5"/>
          <p:cNvSpPr/>
          <p:nvPr/>
        </p:nvSpPr>
        <p:spPr>
          <a:xfrm>
            <a:off x="502920" y="1078992"/>
            <a:ext cx="5303520" cy="292608"/>
          </a:xfrm>
          <a:prstGeom prst="rect">
            <a:avLst/>
          </a:prstGeom>
          <a:noFill/>
          <a:ln/>
        </p:spPr>
        <p:txBody>
          <a:bodyPr wrap="square" rtlCol="0" anchor="ctr"/>
          <a:lstStyle/>
          <a:p>
            <a:pPr marL="0" indent="0">
              <a:buNone/>
            </a:pPr>
            <a:r>
              <a:rPr lang="en-US" sz="1300" b="1" dirty="0">
                <a:solidFill>
                  <a:srgbClr val="1B3A4B"/>
                </a:solidFill>
                <a:latin typeface="Calibri" pitchFamily="34" charset="0"/>
                <a:ea typeface="Calibri" pitchFamily="34" charset="-122"/>
                <a:cs typeface="Calibri" pitchFamily="34" charset="-120"/>
              </a:rPr>
              <a:t>A. Membership</a:t>
            </a:r>
            <a:endParaRPr lang="en-US" sz="1300" dirty="0"/>
          </a:p>
        </p:txBody>
      </p:sp>
      <p:sp>
        <p:nvSpPr>
          <p:cNvPr id="8" name="Shape 6"/>
          <p:cNvSpPr/>
          <p:nvPr/>
        </p:nvSpPr>
        <p:spPr>
          <a:xfrm>
            <a:off x="502920" y="1417320"/>
            <a:ext cx="5303520" cy="347472"/>
          </a:xfrm>
          <a:prstGeom prst="roundRect">
            <a:avLst>
              <a:gd name="adj" fmla="val 15789"/>
            </a:avLst>
          </a:prstGeom>
          <a:solidFill>
            <a:srgbClr val="DCEEF5"/>
          </a:solidFill>
          <a:ln w="12700">
            <a:solidFill>
              <a:srgbClr val="2E86AB"/>
            </a:solidFill>
            <a:prstDash val="solid"/>
          </a:ln>
        </p:spPr>
        <p:txBody>
          <a:bodyPr/>
          <a:lstStyle/>
          <a:p>
            <a:endParaRPr lang="en-US"/>
          </a:p>
        </p:txBody>
      </p:sp>
      <p:sp>
        <p:nvSpPr>
          <p:cNvPr id="9" name="Text 7"/>
          <p:cNvSpPr/>
          <p:nvPr/>
        </p:nvSpPr>
        <p:spPr>
          <a:xfrm>
            <a:off x="502920" y="1417320"/>
            <a:ext cx="5303520" cy="347472"/>
          </a:xfrm>
          <a:prstGeom prst="rect">
            <a:avLst/>
          </a:prstGeom>
          <a:noFill/>
          <a:ln/>
        </p:spPr>
        <p:txBody>
          <a:bodyPr wrap="square"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Registration</a:t>
            </a:r>
            <a:endParaRPr lang="en-US" sz="1050" dirty="0"/>
          </a:p>
        </p:txBody>
      </p:sp>
      <p:sp>
        <p:nvSpPr>
          <p:cNvPr id="10" name="Shape 8"/>
          <p:cNvSpPr/>
          <p:nvPr/>
        </p:nvSpPr>
        <p:spPr>
          <a:xfrm>
            <a:off x="3072384" y="1770278"/>
            <a:ext cx="164592" cy="91440"/>
          </a:xfrm>
          <a:prstGeom prst="downArrow">
            <a:avLst/>
          </a:prstGeom>
          <a:solidFill>
            <a:srgbClr val="5A6B75"/>
          </a:solidFill>
          <a:ln/>
        </p:spPr>
        <p:txBody>
          <a:bodyPr/>
          <a:lstStyle/>
          <a:p>
            <a:endParaRPr lang="en-US"/>
          </a:p>
        </p:txBody>
      </p:sp>
      <p:sp>
        <p:nvSpPr>
          <p:cNvPr id="11" name="Shape 9"/>
          <p:cNvSpPr/>
          <p:nvPr/>
        </p:nvSpPr>
        <p:spPr>
          <a:xfrm>
            <a:off x="502920" y="1883664"/>
            <a:ext cx="5303520" cy="347472"/>
          </a:xfrm>
          <a:prstGeom prst="roundRect">
            <a:avLst>
              <a:gd name="adj" fmla="val 15789"/>
            </a:avLst>
          </a:prstGeom>
          <a:solidFill>
            <a:srgbClr val="DCEEF5"/>
          </a:solidFill>
          <a:ln w="12700">
            <a:solidFill>
              <a:srgbClr val="2E86AB"/>
            </a:solidFill>
            <a:prstDash val="solid"/>
          </a:ln>
        </p:spPr>
        <p:txBody>
          <a:bodyPr/>
          <a:lstStyle/>
          <a:p>
            <a:endParaRPr lang="en-US"/>
          </a:p>
        </p:txBody>
      </p:sp>
      <p:sp>
        <p:nvSpPr>
          <p:cNvPr id="12" name="Text 10"/>
          <p:cNvSpPr/>
          <p:nvPr/>
        </p:nvSpPr>
        <p:spPr>
          <a:xfrm>
            <a:off x="502920" y="1883664"/>
            <a:ext cx="5303520" cy="347472"/>
          </a:xfrm>
          <a:prstGeom prst="rect">
            <a:avLst/>
          </a:prstGeom>
          <a:noFill/>
          <a:ln/>
        </p:spPr>
        <p:txBody>
          <a:bodyPr wrap="square"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Validation</a:t>
            </a:r>
            <a:endParaRPr lang="en-US" sz="1050" dirty="0"/>
          </a:p>
        </p:txBody>
      </p:sp>
      <p:sp>
        <p:nvSpPr>
          <p:cNvPr id="13" name="Shape 11"/>
          <p:cNvSpPr/>
          <p:nvPr/>
        </p:nvSpPr>
        <p:spPr>
          <a:xfrm>
            <a:off x="3072384" y="2236622"/>
            <a:ext cx="164592" cy="91440"/>
          </a:xfrm>
          <a:prstGeom prst="downArrow">
            <a:avLst/>
          </a:prstGeom>
          <a:solidFill>
            <a:srgbClr val="5A6B75"/>
          </a:solidFill>
          <a:ln/>
        </p:spPr>
        <p:txBody>
          <a:bodyPr/>
          <a:lstStyle/>
          <a:p>
            <a:endParaRPr lang="en-US"/>
          </a:p>
        </p:txBody>
      </p:sp>
      <p:sp>
        <p:nvSpPr>
          <p:cNvPr id="14" name="Shape 12"/>
          <p:cNvSpPr/>
          <p:nvPr/>
        </p:nvSpPr>
        <p:spPr>
          <a:xfrm>
            <a:off x="502920" y="2350008"/>
            <a:ext cx="5303520" cy="347472"/>
          </a:xfrm>
          <a:prstGeom prst="roundRect">
            <a:avLst>
              <a:gd name="adj" fmla="val 15789"/>
            </a:avLst>
          </a:prstGeom>
          <a:solidFill>
            <a:srgbClr val="DCEEF5"/>
          </a:solidFill>
          <a:ln w="12700">
            <a:solidFill>
              <a:srgbClr val="2E86AB"/>
            </a:solidFill>
            <a:prstDash val="solid"/>
          </a:ln>
        </p:spPr>
        <p:txBody>
          <a:bodyPr/>
          <a:lstStyle/>
          <a:p>
            <a:endParaRPr lang="en-US"/>
          </a:p>
        </p:txBody>
      </p:sp>
      <p:sp>
        <p:nvSpPr>
          <p:cNvPr id="15" name="Text 13"/>
          <p:cNvSpPr/>
          <p:nvPr/>
        </p:nvSpPr>
        <p:spPr>
          <a:xfrm>
            <a:off x="502920" y="2350008"/>
            <a:ext cx="5303520" cy="347472"/>
          </a:xfrm>
          <a:prstGeom prst="rect">
            <a:avLst/>
          </a:prstGeom>
          <a:noFill/>
          <a:ln/>
        </p:spPr>
        <p:txBody>
          <a:bodyPr wrap="square"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Application</a:t>
            </a:r>
            <a:endParaRPr lang="en-US" sz="1050" dirty="0"/>
          </a:p>
        </p:txBody>
      </p:sp>
      <p:sp>
        <p:nvSpPr>
          <p:cNvPr id="16" name="Shape 14"/>
          <p:cNvSpPr/>
          <p:nvPr/>
        </p:nvSpPr>
        <p:spPr>
          <a:xfrm>
            <a:off x="3072384" y="2702966"/>
            <a:ext cx="164592" cy="91440"/>
          </a:xfrm>
          <a:prstGeom prst="downArrow">
            <a:avLst/>
          </a:prstGeom>
          <a:solidFill>
            <a:srgbClr val="5A6B75"/>
          </a:solidFill>
          <a:ln/>
        </p:spPr>
        <p:txBody>
          <a:bodyPr/>
          <a:lstStyle/>
          <a:p>
            <a:endParaRPr lang="en-US"/>
          </a:p>
        </p:txBody>
      </p:sp>
      <p:sp>
        <p:nvSpPr>
          <p:cNvPr id="17" name="Shape 15"/>
          <p:cNvSpPr/>
          <p:nvPr/>
        </p:nvSpPr>
        <p:spPr>
          <a:xfrm>
            <a:off x="502920" y="2816352"/>
            <a:ext cx="5303520" cy="347472"/>
          </a:xfrm>
          <a:prstGeom prst="roundRect">
            <a:avLst>
              <a:gd name="adj" fmla="val 15789"/>
            </a:avLst>
          </a:prstGeom>
          <a:solidFill>
            <a:srgbClr val="DCEEF5"/>
          </a:solidFill>
          <a:ln w="12700">
            <a:solidFill>
              <a:srgbClr val="2E86AB"/>
            </a:solidFill>
            <a:prstDash val="solid"/>
          </a:ln>
        </p:spPr>
        <p:txBody>
          <a:bodyPr/>
          <a:lstStyle/>
          <a:p>
            <a:endParaRPr lang="en-US"/>
          </a:p>
        </p:txBody>
      </p:sp>
      <p:sp>
        <p:nvSpPr>
          <p:cNvPr id="18" name="Text 16"/>
          <p:cNvSpPr/>
          <p:nvPr/>
        </p:nvSpPr>
        <p:spPr>
          <a:xfrm>
            <a:off x="502920" y="2816352"/>
            <a:ext cx="5303520" cy="347472"/>
          </a:xfrm>
          <a:prstGeom prst="rect">
            <a:avLst/>
          </a:prstGeom>
          <a:noFill/>
          <a:ln/>
        </p:spPr>
        <p:txBody>
          <a:bodyPr wrap="square"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Administrative Review</a:t>
            </a:r>
            <a:endParaRPr lang="en-US" sz="1050" dirty="0"/>
          </a:p>
        </p:txBody>
      </p:sp>
      <p:sp>
        <p:nvSpPr>
          <p:cNvPr id="19" name="Shape 17"/>
          <p:cNvSpPr/>
          <p:nvPr/>
        </p:nvSpPr>
        <p:spPr>
          <a:xfrm>
            <a:off x="3072384" y="3169310"/>
            <a:ext cx="164592" cy="91440"/>
          </a:xfrm>
          <a:prstGeom prst="downArrow">
            <a:avLst/>
          </a:prstGeom>
          <a:solidFill>
            <a:srgbClr val="5A6B75"/>
          </a:solidFill>
          <a:ln/>
        </p:spPr>
        <p:txBody>
          <a:bodyPr/>
          <a:lstStyle/>
          <a:p>
            <a:endParaRPr lang="en-US"/>
          </a:p>
        </p:txBody>
      </p:sp>
      <p:sp>
        <p:nvSpPr>
          <p:cNvPr id="20" name="Shape 18"/>
          <p:cNvSpPr/>
          <p:nvPr/>
        </p:nvSpPr>
        <p:spPr>
          <a:xfrm>
            <a:off x="502920" y="3282696"/>
            <a:ext cx="5303520" cy="347472"/>
          </a:xfrm>
          <a:prstGeom prst="roundRect">
            <a:avLst>
              <a:gd name="adj" fmla="val 15789"/>
            </a:avLst>
          </a:prstGeom>
          <a:solidFill>
            <a:srgbClr val="DCEEF5"/>
          </a:solidFill>
          <a:ln w="12700">
            <a:solidFill>
              <a:srgbClr val="2E86AB"/>
            </a:solidFill>
            <a:prstDash val="solid"/>
          </a:ln>
        </p:spPr>
        <p:txBody>
          <a:bodyPr/>
          <a:lstStyle/>
          <a:p>
            <a:endParaRPr lang="en-US"/>
          </a:p>
        </p:txBody>
      </p:sp>
      <p:sp>
        <p:nvSpPr>
          <p:cNvPr id="21" name="Text 19"/>
          <p:cNvSpPr/>
          <p:nvPr/>
        </p:nvSpPr>
        <p:spPr>
          <a:xfrm>
            <a:off x="502920" y="3282696"/>
            <a:ext cx="5303520" cy="347472"/>
          </a:xfrm>
          <a:prstGeom prst="rect">
            <a:avLst/>
          </a:prstGeom>
          <a:noFill/>
          <a:ln/>
        </p:spPr>
        <p:txBody>
          <a:bodyPr wrap="square"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Approved / Returned / Rejected</a:t>
            </a:r>
            <a:endParaRPr lang="en-US" sz="1050" dirty="0"/>
          </a:p>
        </p:txBody>
      </p:sp>
      <p:sp>
        <p:nvSpPr>
          <p:cNvPr id="22" name="Shape 20"/>
          <p:cNvSpPr/>
          <p:nvPr/>
        </p:nvSpPr>
        <p:spPr>
          <a:xfrm>
            <a:off x="3072384" y="3635654"/>
            <a:ext cx="164592" cy="91440"/>
          </a:xfrm>
          <a:prstGeom prst="downArrow">
            <a:avLst/>
          </a:prstGeom>
          <a:solidFill>
            <a:srgbClr val="5A6B75"/>
          </a:solidFill>
          <a:ln/>
        </p:spPr>
        <p:txBody>
          <a:bodyPr/>
          <a:lstStyle/>
          <a:p>
            <a:endParaRPr lang="en-US"/>
          </a:p>
        </p:txBody>
      </p:sp>
      <p:sp>
        <p:nvSpPr>
          <p:cNvPr id="23" name="Shape 21"/>
          <p:cNvSpPr/>
          <p:nvPr/>
        </p:nvSpPr>
        <p:spPr>
          <a:xfrm>
            <a:off x="502920" y="3749040"/>
            <a:ext cx="5303520" cy="347472"/>
          </a:xfrm>
          <a:prstGeom prst="roundRect">
            <a:avLst>
              <a:gd name="adj" fmla="val 15789"/>
            </a:avLst>
          </a:prstGeom>
          <a:solidFill>
            <a:srgbClr val="DCEEF5"/>
          </a:solidFill>
          <a:ln w="12700">
            <a:solidFill>
              <a:srgbClr val="2E86AB"/>
            </a:solidFill>
            <a:prstDash val="solid"/>
          </a:ln>
        </p:spPr>
        <p:txBody>
          <a:bodyPr/>
          <a:lstStyle/>
          <a:p>
            <a:endParaRPr lang="en-US"/>
          </a:p>
        </p:txBody>
      </p:sp>
      <p:sp>
        <p:nvSpPr>
          <p:cNvPr id="24" name="Text 22"/>
          <p:cNvSpPr/>
          <p:nvPr/>
        </p:nvSpPr>
        <p:spPr>
          <a:xfrm>
            <a:off x="502920" y="3749040"/>
            <a:ext cx="5303520" cy="347472"/>
          </a:xfrm>
          <a:prstGeom prst="rect">
            <a:avLst/>
          </a:prstGeom>
          <a:noFill/>
          <a:ln/>
        </p:spPr>
        <p:txBody>
          <a:bodyPr wrap="square"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Membership Status</a:t>
            </a:r>
            <a:endParaRPr lang="en-US" sz="1050" dirty="0"/>
          </a:p>
        </p:txBody>
      </p:sp>
      <p:sp>
        <p:nvSpPr>
          <p:cNvPr id="25" name="Shape 23"/>
          <p:cNvSpPr/>
          <p:nvPr/>
        </p:nvSpPr>
        <p:spPr>
          <a:xfrm>
            <a:off x="3072384" y="4101998"/>
            <a:ext cx="164592" cy="91440"/>
          </a:xfrm>
          <a:prstGeom prst="downArrow">
            <a:avLst/>
          </a:prstGeom>
          <a:solidFill>
            <a:srgbClr val="5A6B75"/>
          </a:solidFill>
          <a:ln/>
        </p:spPr>
        <p:txBody>
          <a:bodyPr/>
          <a:lstStyle/>
          <a:p>
            <a:endParaRPr lang="en-US"/>
          </a:p>
        </p:txBody>
      </p:sp>
      <p:sp>
        <p:nvSpPr>
          <p:cNvPr id="26" name="Shape 24"/>
          <p:cNvSpPr/>
          <p:nvPr/>
        </p:nvSpPr>
        <p:spPr>
          <a:xfrm>
            <a:off x="502920" y="4215384"/>
            <a:ext cx="5303520" cy="347472"/>
          </a:xfrm>
          <a:prstGeom prst="roundRect">
            <a:avLst>
              <a:gd name="adj" fmla="val 15789"/>
            </a:avLst>
          </a:prstGeom>
          <a:solidFill>
            <a:srgbClr val="DCEEF5"/>
          </a:solidFill>
          <a:ln w="12700">
            <a:solidFill>
              <a:srgbClr val="2E86AB"/>
            </a:solidFill>
            <a:prstDash val="solid"/>
          </a:ln>
        </p:spPr>
        <p:txBody>
          <a:bodyPr/>
          <a:lstStyle/>
          <a:p>
            <a:endParaRPr lang="en-US"/>
          </a:p>
        </p:txBody>
      </p:sp>
      <p:sp>
        <p:nvSpPr>
          <p:cNvPr id="27" name="Text 25"/>
          <p:cNvSpPr/>
          <p:nvPr/>
        </p:nvSpPr>
        <p:spPr>
          <a:xfrm>
            <a:off x="502920" y="4215384"/>
            <a:ext cx="5303520" cy="347472"/>
          </a:xfrm>
          <a:prstGeom prst="rect">
            <a:avLst/>
          </a:prstGeom>
          <a:noFill/>
          <a:ln/>
        </p:spPr>
        <p:txBody>
          <a:bodyPr wrap="square" rtlCol="0" anchor="ctr"/>
          <a:lstStyle/>
          <a:p>
            <a:pPr marL="0" indent="0" algn="ctr">
              <a:buNone/>
            </a:pPr>
            <a:r>
              <a:rPr lang="en-US" sz="1050" dirty="0">
                <a:solidFill>
                  <a:srgbClr val="1F2933"/>
                </a:solidFill>
                <a:latin typeface="Calibri" pitchFamily="34" charset="0"/>
                <a:ea typeface="Calibri" pitchFamily="34" charset="-122"/>
                <a:cs typeface="Calibri" pitchFamily="34" charset="-120"/>
              </a:rPr>
              <a:t>Digital ID / Directory</a:t>
            </a:r>
            <a:endParaRPr lang="en-US" sz="1050" dirty="0"/>
          </a:p>
        </p:txBody>
      </p:sp>
      <p:sp>
        <p:nvSpPr>
          <p:cNvPr id="28" name="Text 26"/>
          <p:cNvSpPr/>
          <p:nvPr/>
        </p:nvSpPr>
        <p:spPr>
          <a:xfrm>
            <a:off x="6355080" y="1078992"/>
            <a:ext cx="5303520" cy="292608"/>
          </a:xfrm>
          <a:prstGeom prst="rect">
            <a:avLst/>
          </a:prstGeom>
          <a:noFill/>
          <a:ln/>
        </p:spPr>
        <p:txBody>
          <a:bodyPr wrap="square" rtlCol="0" anchor="ctr"/>
          <a:lstStyle/>
          <a:p>
            <a:pPr marL="0" indent="0">
              <a:buNone/>
            </a:pPr>
            <a:r>
              <a:rPr lang="en-US" sz="1300" b="1" dirty="0">
                <a:solidFill>
                  <a:srgbClr val="1B3A4B"/>
                </a:solidFill>
                <a:latin typeface="Calibri" pitchFamily="34" charset="0"/>
                <a:ea typeface="Calibri" pitchFamily="34" charset="-122"/>
                <a:cs typeface="Calibri" pitchFamily="34" charset="-120"/>
              </a:rPr>
              <a:t>B. Payment</a:t>
            </a:r>
            <a:endParaRPr lang="en-US" sz="1300" dirty="0"/>
          </a:p>
        </p:txBody>
      </p:sp>
      <p:sp>
        <p:nvSpPr>
          <p:cNvPr id="29" name="Shape 27"/>
          <p:cNvSpPr/>
          <p:nvPr/>
        </p:nvSpPr>
        <p:spPr>
          <a:xfrm>
            <a:off x="6355080" y="1417320"/>
            <a:ext cx="5303520" cy="292608"/>
          </a:xfrm>
          <a:prstGeom prst="roundRect">
            <a:avLst>
              <a:gd name="adj" fmla="val 18750"/>
            </a:avLst>
          </a:prstGeom>
          <a:solidFill>
            <a:srgbClr val="FBEBD3"/>
          </a:solidFill>
          <a:ln w="12700">
            <a:solidFill>
              <a:srgbClr val="C77D0A"/>
            </a:solidFill>
            <a:prstDash val="solid"/>
          </a:ln>
        </p:spPr>
        <p:txBody>
          <a:bodyPr/>
          <a:lstStyle/>
          <a:p>
            <a:endParaRPr lang="en-US"/>
          </a:p>
        </p:txBody>
      </p:sp>
      <p:sp>
        <p:nvSpPr>
          <p:cNvPr id="30" name="Text 28"/>
          <p:cNvSpPr/>
          <p:nvPr/>
        </p:nvSpPr>
        <p:spPr>
          <a:xfrm>
            <a:off x="6355080" y="1417320"/>
            <a:ext cx="5303520" cy="292608"/>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Payment Instructions</a:t>
            </a:r>
            <a:endParaRPr lang="en-US" sz="1000" dirty="0"/>
          </a:p>
        </p:txBody>
      </p:sp>
      <p:sp>
        <p:nvSpPr>
          <p:cNvPr id="31" name="Shape 29"/>
          <p:cNvSpPr/>
          <p:nvPr/>
        </p:nvSpPr>
        <p:spPr>
          <a:xfrm>
            <a:off x="8924544" y="1714500"/>
            <a:ext cx="164592" cy="73152"/>
          </a:xfrm>
          <a:prstGeom prst="downArrow">
            <a:avLst/>
          </a:prstGeom>
          <a:solidFill>
            <a:srgbClr val="5A6B75"/>
          </a:solidFill>
          <a:ln/>
        </p:spPr>
        <p:txBody>
          <a:bodyPr/>
          <a:lstStyle/>
          <a:p>
            <a:endParaRPr lang="en-US"/>
          </a:p>
        </p:txBody>
      </p:sp>
      <p:sp>
        <p:nvSpPr>
          <p:cNvPr id="32" name="Shape 30"/>
          <p:cNvSpPr/>
          <p:nvPr/>
        </p:nvSpPr>
        <p:spPr>
          <a:xfrm>
            <a:off x="6355080" y="1805940"/>
            <a:ext cx="5303520" cy="292608"/>
          </a:xfrm>
          <a:prstGeom prst="roundRect">
            <a:avLst>
              <a:gd name="adj" fmla="val 18750"/>
            </a:avLst>
          </a:prstGeom>
          <a:solidFill>
            <a:srgbClr val="FBEBD3"/>
          </a:solidFill>
          <a:ln w="12700">
            <a:solidFill>
              <a:srgbClr val="C77D0A"/>
            </a:solidFill>
            <a:prstDash val="solid"/>
          </a:ln>
        </p:spPr>
        <p:txBody>
          <a:bodyPr/>
          <a:lstStyle/>
          <a:p>
            <a:endParaRPr lang="en-US"/>
          </a:p>
        </p:txBody>
      </p:sp>
      <p:sp>
        <p:nvSpPr>
          <p:cNvPr id="33" name="Text 31"/>
          <p:cNvSpPr/>
          <p:nvPr/>
        </p:nvSpPr>
        <p:spPr>
          <a:xfrm>
            <a:off x="6355080" y="1805940"/>
            <a:ext cx="5303520" cy="292608"/>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External Payment</a:t>
            </a:r>
            <a:endParaRPr lang="en-US" sz="1000" dirty="0"/>
          </a:p>
        </p:txBody>
      </p:sp>
      <p:sp>
        <p:nvSpPr>
          <p:cNvPr id="34" name="Shape 32"/>
          <p:cNvSpPr/>
          <p:nvPr/>
        </p:nvSpPr>
        <p:spPr>
          <a:xfrm>
            <a:off x="8924544" y="2103120"/>
            <a:ext cx="164592" cy="73152"/>
          </a:xfrm>
          <a:prstGeom prst="downArrow">
            <a:avLst/>
          </a:prstGeom>
          <a:solidFill>
            <a:srgbClr val="5A6B75"/>
          </a:solidFill>
          <a:ln/>
        </p:spPr>
        <p:txBody>
          <a:bodyPr/>
          <a:lstStyle/>
          <a:p>
            <a:endParaRPr lang="en-US"/>
          </a:p>
        </p:txBody>
      </p:sp>
      <p:sp>
        <p:nvSpPr>
          <p:cNvPr id="35" name="Shape 33"/>
          <p:cNvSpPr/>
          <p:nvPr/>
        </p:nvSpPr>
        <p:spPr>
          <a:xfrm>
            <a:off x="6355080" y="2194560"/>
            <a:ext cx="5303520" cy="292608"/>
          </a:xfrm>
          <a:prstGeom prst="roundRect">
            <a:avLst>
              <a:gd name="adj" fmla="val 18750"/>
            </a:avLst>
          </a:prstGeom>
          <a:solidFill>
            <a:srgbClr val="FBEBD3"/>
          </a:solidFill>
          <a:ln w="12700">
            <a:solidFill>
              <a:srgbClr val="C77D0A"/>
            </a:solidFill>
            <a:prstDash val="solid"/>
          </a:ln>
        </p:spPr>
        <p:txBody>
          <a:bodyPr/>
          <a:lstStyle/>
          <a:p>
            <a:endParaRPr lang="en-US"/>
          </a:p>
        </p:txBody>
      </p:sp>
      <p:sp>
        <p:nvSpPr>
          <p:cNvPr id="36" name="Text 34"/>
          <p:cNvSpPr/>
          <p:nvPr/>
        </p:nvSpPr>
        <p:spPr>
          <a:xfrm>
            <a:off x="6355080" y="2194560"/>
            <a:ext cx="5303520" cy="292608"/>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Payment Evidence</a:t>
            </a:r>
            <a:endParaRPr lang="en-US" sz="1000" dirty="0"/>
          </a:p>
        </p:txBody>
      </p:sp>
      <p:sp>
        <p:nvSpPr>
          <p:cNvPr id="37" name="Shape 35"/>
          <p:cNvSpPr/>
          <p:nvPr/>
        </p:nvSpPr>
        <p:spPr>
          <a:xfrm>
            <a:off x="8924544" y="2491740"/>
            <a:ext cx="164592" cy="73152"/>
          </a:xfrm>
          <a:prstGeom prst="downArrow">
            <a:avLst/>
          </a:prstGeom>
          <a:solidFill>
            <a:srgbClr val="5A6B75"/>
          </a:solidFill>
          <a:ln/>
        </p:spPr>
        <p:txBody>
          <a:bodyPr/>
          <a:lstStyle/>
          <a:p>
            <a:endParaRPr lang="en-US"/>
          </a:p>
        </p:txBody>
      </p:sp>
      <p:sp>
        <p:nvSpPr>
          <p:cNvPr id="38" name="Shape 36"/>
          <p:cNvSpPr/>
          <p:nvPr/>
        </p:nvSpPr>
        <p:spPr>
          <a:xfrm>
            <a:off x="6355080" y="2583180"/>
            <a:ext cx="5303520" cy="292608"/>
          </a:xfrm>
          <a:prstGeom prst="roundRect">
            <a:avLst>
              <a:gd name="adj" fmla="val 18750"/>
            </a:avLst>
          </a:prstGeom>
          <a:solidFill>
            <a:srgbClr val="FBEBD3"/>
          </a:solidFill>
          <a:ln w="12700">
            <a:solidFill>
              <a:srgbClr val="C77D0A"/>
            </a:solidFill>
            <a:prstDash val="solid"/>
          </a:ln>
        </p:spPr>
        <p:txBody>
          <a:bodyPr/>
          <a:lstStyle/>
          <a:p>
            <a:endParaRPr lang="en-US"/>
          </a:p>
        </p:txBody>
      </p:sp>
      <p:sp>
        <p:nvSpPr>
          <p:cNvPr id="39" name="Text 37"/>
          <p:cNvSpPr/>
          <p:nvPr/>
        </p:nvSpPr>
        <p:spPr>
          <a:xfrm>
            <a:off x="6355080" y="2583180"/>
            <a:ext cx="5303520" cy="292608"/>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Pending Verification</a:t>
            </a:r>
            <a:endParaRPr lang="en-US" sz="1000" dirty="0"/>
          </a:p>
        </p:txBody>
      </p:sp>
      <p:sp>
        <p:nvSpPr>
          <p:cNvPr id="40" name="Shape 38"/>
          <p:cNvSpPr/>
          <p:nvPr/>
        </p:nvSpPr>
        <p:spPr>
          <a:xfrm>
            <a:off x="8924544" y="2880360"/>
            <a:ext cx="164592" cy="73152"/>
          </a:xfrm>
          <a:prstGeom prst="downArrow">
            <a:avLst/>
          </a:prstGeom>
          <a:solidFill>
            <a:srgbClr val="5A6B75"/>
          </a:solidFill>
          <a:ln/>
        </p:spPr>
        <p:txBody>
          <a:bodyPr/>
          <a:lstStyle/>
          <a:p>
            <a:endParaRPr lang="en-US"/>
          </a:p>
        </p:txBody>
      </p:sp>
      <p:sp>
        <p:nvSpPr>
          <p:cNvPr id="41" name="Shape 39"/>
          <p:cNvSpPr/>
          <p:nvPr/>
        </p:nvSpPr>
        <p:spPr>
          <a:xfrm>
            <a:off x="6355080" y="2971800"/>
            <a:ext cx="5303520" cy="292608"/>
          </a:xfrm>
          <a:prstGeom prst="roundRect">
            <a:avLst>
              <a:gd name="adj" fmla="val 18750"/>
            </a:avLst>
          </a:prstGeom>
          <a:solidFill>
            <a:srgbClr val="FBEBD3"/>
          </a:solidFill>
          <a:ln w="12700">
            <a:solidFill>
              <a:srgbClr val="C77D0A"/>
            </a:solidFill>
            <a:prstDash val="solid"/>
          </a:ln>
        </p:spPr>
        <p:txBody>
          <a:bodyPr/>
          <a:lstStyle/>
          <a:p>
            <a:endParaRPr lang="en-US"/>
          </a:p>
        </p:txBody>
      </p:sp>
      <p:sp>
        <p:nvSpPr>
          <p:cNvPr id="42" name="Text 40"/>
          <p:cNvSpPr/>
          <p:nvPr/>
        </p:nvSpPr>
        <p:spPr>
          <a:xfrm>
            <a:off x="6355080" y="2971800"/>
            <a:ext cx="5303520" cy="292608"/>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Authorized Review</a:t>
            </a:r>
            <a:endParaRPr lang="en-US" sz="1000" dirty="0"/>
          </a:p>
        </p:txBody>
      </p:sp>
      <p:sp>
        <p:nvSpPr>
          <p:cNvPr id="43" name="Shape 41"/>
          <p:cNvSpPr/>
          <p:nvPr/>
        </p:nvSpPr>
        <p:spPr>
          <a:xfrm>
            <a:off x="8924544" y="3268980"/>
            <a:ext cx="164592" cy="73152"/>
          </a:xfrm>
          <a:prstGeom prst="downArrow">
            <a:avLst/>
          </a:prstGeom>
          <a:solidFill>
            <a:srgbClr val="5A6B75"/>
          </a:solidFill>
          <a:ln/>
        </p:spPr>
        <p:txBody>
          <a:bodyPr/>
          <a:lstStyle/>
          <a:p>
            <a:endParaRPr lang="en-US"/>
          </a:p>
        </p:txBody>
      </p:sp>
      <p:sp>
        <p:nvSpPr>
          <p:cNvPr id="44" name="Shape 42"/>
          <p:cNvSpPr/>
          <p:nvPr/>
        </p:nvSpPr>
        <p:spPr>
          <a:xfrm>
            <a:off x="6355080" y="3360420"/>
            <a:ext cx="5303520" cy="292608"/>
          </a:xfrm>
          <a:prstGeom prst="roundRect">
            <a:avLst>
              <a:gd name="adj" fmla="val 18750"/>
            </a:avLst>
          </a:prstGeom>
          <a:solidFill>
            <a:srgbClr val="FBEBD3"/>
          </a:solidFill>
          <a:ln w="12700">
            <a:solidFill>
              <a:srgbClr val="C77D0A"/>
            </a:solidFill>
            <a:prstDash val="solid"/>
          </a:ln>
        </p:spPr>
        <p:txBody>
          <a:bodyPr/>
          <a:lstStyle/>
          <a:p>
            <a:endParaRPr lang="en-US"/>
          </a:p>
        </p:txBody>
      </p:sp>
      <p:sp>
        <p:nvSpPr>
          <p:cNvPr id="45" name="Text 43"/>
          <p:cNvSpPr/>
          <p:nvPr/>
        </p:nvSpPr>
        <p:spPr>
          <a:xfrm>
            <a:off x="6355080" y="3360420"/>
            <a:ext cx="5303520" cy="292608"/>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Verified / Rejected</a:t>
            </a:r>
            <a:endParaRPr lang="en-US" sz="1000" dirty="0"/>
          </a:p>
        </p:txBody>
      </p:sp>
      <p:sp>
        <p:nvSpPr>
          <p:cNvPr id="46" name="Shape 44"/>
          <p:cNvSpPr/>
          <p:nvPr/>
        </p:nvSpPr>
        <p:spPr>
          <a:xfrm>
            <a:off x="8924544" y="3657600"/>
            <a:ext cx="164592" cy="73152"/>
          </a:xfrm>
          <a:prstGeom prst="downArrow">
            <a:avLst/>
          </a:prstGeom>
          <a:solidFill>
            <a:srgbClr val="5A6B75"/>
          </a:solidFill>
          <a:ln/>
        </p:spPr>
        <p:txBody>
          <a:bodyPr/>
          <a:lstStyle/>
          <a:p>
            <a:endParaRPr lang="en-US"/>
          </a:p>
        </p:txBody>
      </p:sp>
      <p:sp>
        <p:nvSpPr>
          <p:cNvPr id="47" name="Shape 45"/>
          <p:cNvSpPr/>
          <p:nvPr/>
        </p:nvSpPr>
        <p:spPr>
          <a:xfrm>
            <a:off x="6355080" y="3749040"/>
            <a:ext cx="5303520" cy="292608"/>
          </a:xfrm>
          <a:prstGeom prst="roundRect">
            <a:avLst>
              <a:gd name="adj" fmla="val 18750"/>
            </a:avLst>
          </a:prstGeom>
          <a:solidFill>
            <a:srgbClr val="FBEBD3"/>
          </a:solidFill>
          <a:ln w="12700">
            <a:solidFill>
              <a:srgbClr val="C77D0A"/>
            </a:solidFill>
            <a:prstDash val="solid"/>
          </a:ln>
        </p:spPr>
        <p:txBody>
          <a:bodyPr/>
          <a:lstStyle/>
          <a:p>
            <a:endParaRPr lang="en-US"/>
          </a:p>
        </p:txBody>
      </p:sp>
      <p:sp>
        <p:nvSpPr>
          <p:cNvPr id="48" name="Text 46"/>
          <p:cNvSpPr/>
          <p:nvPr/>
        </p:nvSpPr>
        <p:spPr>
          <a:xfrm>
            <a:off x="6355080" y="3749040"/>
            <a:ext cx="5303520" cy="292608"/>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Receipt + Financial Record</a:t>
            </a:r>
            <a:endParaRPr lang="en-US" sz="1000" dirty="0"/>
          </a:p>
        </p:txBody>
      </p:sp>
      <p:sp>
        <p:nvSpPr>
          <p:cNvPr id="49" name="Shape 47"/>
          <p:cNvSpPr/>
          <p:nvPr/>
        </p:nvSpPr>
        <p:spPr>
          <a:xfrm>
            <a:off x="8924544" y="4046220"/>
            <a:ext cx="164592" cy="73152"/>
          </a:xfrm>
          <a:prstGeom prst="downArrow">
            <a:avLst/>
          </a:prstGeom>
          <a:solidFill>
            <a:srgbClr val="5A6B75"/>
          </a:solidFill>
          <a:ln/>
        </p:spPr>
        <p:txBody>
          <a:bodyPr/>
          <a:lstStyle/>
          <a:p>
            <a:endParaRPr lang="en-US"/>
          </a:p>
        </p:txBody>
      </p:sp>
      <p:sp>
        <p:nvSpPr>
          <p:cNvPr id="50" name="Shape 48"/>
          <p:cNvSpPr/>
          <p:nvPr/>
        </p:nvSpPr>
        <p:spPr>
          <a:xfrm>
            <a:off x="6355080" y="4137660"/>
            <a:ext cx="5303520" cy="292608"/>
          </a:xfrm>
          <a:prstGeom prst="roundRect">
            <a:avLst>
              <a:gd name="adj" fmla="val 18750"/>
            </a:avLst>
          </a:prstGeom>
          <a:solidFill>
            <a:srgbClr val="FBEBD3"/>
          </a:solidFill>
          <a:ln w="12700">
            <a:solidFill>
              <a:srgbClr val="C77D0A"/>
            </a:solidFill>
            <a:prstDash val="solid"/>
          </a:ln>
        </p:spPr>
        <p:txBody>
          <a:bodyPr/>
          <a:lstStyle/>
          <a:p>
            <a:endParaRPr lang="en-US"/>
          </a:p>
        </p:txBody>
      </p:sp>
      <p:sp>
        <p:nvSpPr>
          <p:cNvPr id="51" name="Text 49"/>
          <p:cNvSpPr/>
          <p:nvPr/>
        </p:nvSpPr>
        <p:spPr>
          <a:xfrm>
            <a:off x="6355080" y="4137660"/>
            <a:ext cx="5303520" cy="292608"/>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Audit History</a:t>
            </a:r>
            <a:endParaRPr lang="en-US" sz="1000" dirty="0"/>
          </a:p>
        </p:txBody>
      </p:sp>
      <p:sp>
        <p:nvSpPr>
          <p:cNvPr id="52" name="Shape 50"/>
          <p:cNvSpPr/>
          <p:nvPr/>
        </p:nvSpPr>
        <p:spPr>
          <a:xfrm>
            <a:off x="502920" y="6172200"/>
            <a:ext cx="11155680" cy="457200"/>
          </a:xfrm>
          <a:prstGeom prst="roundRect">
            <a:avLst>
              <a:gd name="adj" fmla="val 16000"/>
            </a:avLst>
          </a:prstGeom>
          <a:solidFill>
            <a:srgbClr val="1B3A4B"/>
          </a:solidFill>
          <a:ln/>
        </p:spPr>
        <p:txBody>
          <a:bodyPr/>
          <a:lstStyle/>
          <a:p>
            <a:endParaRPr lang="en-US"/>
          </a:p>
        </p:txBody>
      </p:sp>
      <p:sp>
        <p:nvSpPr>
          <p:cNvPr id="53" name="Text 51"/>
          <p:cNvSpPr/>
          <p:nvPr/>
        </p:nvSpPr>
        <p:spPr>
          <a:xfrm>
            <a:off x="777240" y="6172200"/>
            <a:ext cx="10607040" cy="457200"/>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Manual operation becomes a controlled and auditable digital workflow.</a:t>
            </a:r>
            <a:endParaRPr lang="en-US" sz="1300" dirty="0"/>
          </a:p>
        </p:txBody>
      </p:sp>
      <p:sp>
        <p:nvSpPr>
          <p:cNvPr id="55" name="Text 52"/>
          <p:cNvSpPr/>
          <p:nvPr/>
        </p:nvSpPr>
        <p:spPr>
          <a:xfrm>
            <a:off x="502920" y="6547104"/>
            <a:ext cx="7315200" cy="256032"/>
          </a:xfrm>
          <a:prstGeom prst="rect">
            <a:avLst/>
          </a:prstGeom>
          <a:noFill/>
          <a:ln/>
        </p:spPr>
        <p:txBody>
          <a:bodyPr wrap="square" rtlCol="0" anchor="ctr"/>
          <a:lstStyle/>
          <a:p>
            <a:pPr marL="0" indent="0">
              <a:buNone/>
            </a:pPr>
            <a:r>
              <a:rPr lang="en-US" sz="1000" i="1" dirty="0">
                <a:solidFill>
                  <a:srgbClr val="5A6B75"/>
                </a:solidFill>
                <a:latin typeface="Calibri" pitchFamily="34" charset="0"/>
                <a:ea typeface="Calibri" pitchFamily="34" charset="-122"/>
                <a:cs typeface="Calibri" pitchFamily="34" charset="-120"/>
              </a:rPr>
              <a:t>GHCAA — Govt. Haraganga College Alumni Association</a:t>
            </a:r>
            <a:endParaRPr lang="en-US" sz="1000" dirty="0"/>
          </a:p>
        </p:txBody>
      </p:sp>
      <p:sp>
        <p:nvSpPr>
          <p:cNvPr id="56" name="Text 53"/>
          <p:cNvSpPr/>
          <p:nvPr/>
        </p:nvSpPr>
        <p:spPr>
          <a:xfrm>
            <a:off x="11521440" y="6547104"/>
            <a:ext cx="457200" cy="256032"/>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3A4B"/>
          </a:solidFill>
          <a:ln/>
        </p:spPr>
        <p:txBody>
          <a:bodyPr/>
          <a:lstStyle/>
          <a:p>
            <a:endParaRPr lang="en-US"/>
          </a:p>
        </p:txBody>
      </p:sp>
      <p:sp>
        <p:nvSpPr>
          <p:cNvPr id="3" name="Shape 1"/>
          <p:cNvSpPr/>
          <p:nvPr/>
        </p:nvSpPr>
        <p:spPr>
          <a:xfrm>
            <a:off x="0" y="960120"/>
            <a:ext cx="12191695" cy="41148"/>
          </a:xfrm>
          <a:prstGeom prst="rect">
            <a:avLst/>
          </a:prstGeom>
          <a:solidFill>
            <a:srgbClr val="C77D0A"/>
          </a:solidFill>
          <a:ln/>
        </p:spPr>
        <p:txBody>
          <a:bodyPr/>
          <a:lstStyle/>
          <a:p>
            <a:endParaRPr lang="en-US"/>
          </a:p>
        </p:txBody>
      </p:sp>
      <p:sp>
        <p:nvSpPr>
          <p:cNvPr id="4" name="Text 2"/>
          <p:cNvSpPr/>
          <p:nvPr/>
        </p:nvSpPr>
        <p:spPr>
          <a:xfrm>
            <a:off x="502920" y="128016"/>
            <a:ext cx="10058400" cy="256032"/>
          </a:xfrm>
          <a:prstGeom prst="rect">
            <a:avLst/>
          </a:prstGeom>
          <a:noFill/>
          <a:ln/>
        </p:spPr>
        <p:txBody>
          <a:bodyPr wrap="square" rtlCol="0" anchor="ctr"/>
          <a:lstStyle/>
          <a:p>
            <a:pPr marL="0" indent="0">
              <a:buNone/>
            </a:pPr>
            <a:r>
              <a:rPr lang="en-US" sz="1200" b="1" kern="0" spc="200" dirty="0">
                <a:solidFill>
                  <a:srgbClr val="C77D0A"/>
                </a:solidFill>
                <a:latin typeface="Calibri" pitchFamily="34" charset="0"/>
                <a:ea typeface="Calibri" pitchFamily="34" charset="-122"/>
                <a:cs typeface="Calibri" pitchFamily="34" charset="-120"/>
              </a:rPr>
              <a:t>GOVERNANCE &amp; PRIVACY</a:t>
            </a:r>
            <a:endParaRPr lang="en-US" sz="1200" dirty="0"/>
          </a:p>
        </p:txBody>
      </p:sp>
      <p:sp>
        <p:nvSpPr>
          <p:cNvPr id="5" name="Text 3"/>
          <p:cNvSpPr/>
          <p:nvPr/>
        </p:nvSpPr>
        <p:spPr>
          <a:xfrm>
            <a:off x="502920" y="384048"/>
            <a:ext cx="11155680" cy="530352"/>
          </a:xfrm>
          <a:prstGeom prst="rect">
            <a:avLst/>
          </a:prstGeom>
          <a:noFill/>
          <a:ln/>
        </p:spPr>
        <p:txBody>
          <a:bodyPr wrap="square"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The system supports organizational authority — it does not replace it</a:t>
            </a:r>
            <a:endParaRPr lang="en-US" sz="2700" dirty="0"/>
          </a:p>
        </p:txBody>
      </p:sp>
      <p:sp>
        <p:nvSpPr>
          <p:cNvPr id="6" name="Text 4"/>
          <p:cNvSpPr/>
          <p:nvPr/>
        </p:nvSpPr>
        <p:spPr>
          <a:xfrm>
            <a:off x="10561320" y="365760"/>
            <a:ext cx="1234440" cy="274320"/>
          </a:xfrm>
          <a:prstGeom prst="rect">
            <a:avLst/>
          </a:prstGeom>
          <a:noFill/>
          <a:ln/>
        </p:spPr>
        <p:txBody>
          <a:bodyPr wrap="square"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~1:00</a:t>
            </a:r>
            <a:endParaRPr lang="en-US" sz="1050" dirty="0"/>
          </a:p>
        </p:txBody>
      </p:sp>
      <p:sp>
        <p:nvSpPr>
          <p:cNvPr id="7" name="Text 5"/>
          <p:cNvSpPr/>
          <p:nvPr/>
        </p:nvSpPr>
        <p:spPr>
          <a:xfrm>
            <a:off x="502920" y="1060704"/>
            <a:ext cx="3291840" cy="274320"/>
          </a:xfrm>
          <a:prstGeom prst="rect">
            <a:avLst/>
          </a:prstGeom>
          <a:noFill/>
          <a:ln/>
        </p:spPr>
        <p:txBody>
          <a:bodyPr wrap="square"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Privacy</a:t>
            </a:r>
            <a:endParaRPr lang="en-US" sz="1250" dirty="0"/>
          </a:p>
        </p:txBody>
      </p:sp>
      <p:sp>
        <p:nvSpPr>
          <p:cNvPr id="8" name="Shape 6"/>
          <p:cNvSpPr/>
          <p:nvPr/>
        </p:nvSpPr>
        <p:spPr>
          <a:xfrm>
            <a:off x="502920" y="1371600"/>
            <a:ext cx="329184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9" name="Text 7"/>
          <p:cNvSpPr/>
          <p:nvPr/>
        </p:nvSpPr>
        <p:spPr>
          <a:xfrm>
            <a:off x="502920" y="1371600"/>
            <a:ext cx="329184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Member Data</a:t>
            </a:r>
            <a:endParaRPr lang="en-US" sz="1000" dirty="0"/>
          </a:p>
        </p:txBody>
      </p:sp>
      <p:sp>
        <p:nvSpPr>
          <p:cNvPr id="10" name="Shape 8"/>
          <p:cNvSpPr/>
          <p:nvPr/>
        </p:nvSpPr>
        <p:spPr>
          <a:xfrm>
            <a:off x="2066544" y="1687982"/>
            <a:ext cx="164592" cy="82296"/>
          </a:xfrm>
          <a:prstGeom prst="downArrow">
            <a:avLst/>
          </a:prstGeom>
          <a:solidFill>
            <a:srgbClr val="5A6B75"/>
          </a:solidFill>
          <a:ln/>
        </p:spPr>
        <p:txBody>
          <a:bodyPr/>
          <a:lstStyle/>
          <a:p>
            <a:endParaRPr lang="en-US"/>
          </a:p>
        </p:txBody>
      </p:sp>
      <p:sp>
        <p:nvSpPr>
          <p:cNvPr id="11" name="Shape 9"/>
          <p:cNvSpPr/>
          <p:nvPr/>
        </p:nvSpPr>
        <p:spPr>
          <a:xfrm>
            <a:off x="502920" y="1792224"/>
            <a:ext cx="329184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12" name="Text 10"/>
          <p:cNvSpPr/>
          <p:nvPr/>
        </p:nvSpPr>
        <p:spPr>
          <a:xfrm>
            <a:off x="502920" y="1792224"/>
            <a:ext cx="329184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Privacy Settings</a:t>
            </a:r>
            <a:endParaRPr lang="en-US" sz="1000" dirty="0"/>
          </a:p>
        </p:txBody>
      </p:sp>
      <p:sp>
        <p:nvSpPr>
          <p:cNvPr id="13" name="Shape 11"/>
          <p:cNvSpPr/>
          <p:nvPr/>
        </p:nvSpPr>
        <p:spPr>
          <a:xfrm>
            <a:off x="2066544" y="2108606"/>
            <a:ext cx="164592" cy="82296"/>
          </a:xfrm>
          <a:prstGeom prst="downArrow">
            <a:avLst/>
          </a:prstGeom>
          <a:solidFill>
            <a:srgbClr val="5A6B75"/>
          </a:solidFill>
          <a:ln/>
        </p:spPr>
        <p:txBody>
          <a:bodyPr/>
          <a:lstStyle/>
          <a:p>
            <a:endParaRPr lang="en-US"/>
          </a:p>
        </p:txBody>
      </p:sp>
      <p:sp>
        <p:nvSpPr>
          <p:cNvPr id="14" name="Shape 12"/>
          <p:cNvSpPr/>
          <p:nvPr/>
        </p:nvSpPr>
        <p:spPr>
          <a:xfrm>
            <a:off x="502920" y="2212848"/>
            <a:ext cx="329184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15" name="Text 13"/>
          <p:cNvSpPr/>
          <p:nvPr/>
        </p:nvSpPr>
        <p:spPr>
          <a:xfrm>
            <a:off x="502920" y="2212848"/>
            <a:ext cx="329184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Authorization</a:t>
            </a:r>
            <a:endParaRPr lang="en-US" sz="1000" dirty="0"/>
          </a:p>
        </p:txBody>
      </p:sp>
      <p:sp>
        <p:nvSpPr>
          <p:cNvPr id="16" name="Shape 14"/>
          <p:cNvSpPr/>
          <p:nvPr/>
        </p:nvSpPr>
        <p:spPr>
          <a:xfrm>
            <a:off x="2066544" y="2529230"/>
            <a:ext cx="164592" cy="82296"/>
          </a:xfrm>
          <a:prstGeom prst="downArrow">
            <a:avLst/>
          </a:prstGeom>
          <a:solidFill>
            <a:srgbClr val="5A6B75"/>
          </a:solidFill>
          <a:ln/>
        </p:spPr>
        <p:txBody>
          <a:bodyPr/>
          <a:lstStyle/>
          <a:p>
            <a:endParaRPr lang="en-US"/>
          </a:p>
        </p:txBody>
      </p:sp>
      <p:sp>
        <p:nvSpPr>
          <p:cNvPr id="17" name="Shape 15"/>
          <p:cNvSpPr/>
          <p:nvPr/>
        </p:nvSpPr>
        <p:spPr>
          <a:xfrm>
            <a:off x="502920" y="2633472"/>
            <a:ext cx="329184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18" name="Text 16"/>
          <p:cNvSpPr/>
          <p:nvPr/>
        </p:nvSpPr>
        <p:spPr>
          <a:xfrm>
            <a:off x="502920" y="2633472"/>
            <a:ext cx="329184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Filtered Information</a:t>
            </a:r>
            <a:endParaRPr lang="en-US" sz="1000" dirty="0"/>
          </a:p>
        </p:txBody>
      </p:sp>
      <p:sp>
        <p:nvSpPr>
          <p:cNvPr id="19" name="Shape 17"/>
          <p:cNvSpPr/>
          <p:nvPr/>
        </p:nvSpPr>
        <p:spPr>
          <a:xfrm>
            <a:off x="2066544" y="2949854"/>
            <a:ext cx="164592" cy="82296"/>
          </a:xfrm>
          <a:prstGeom prst="downArrow">
            <a:avLst/>
          </a:prstGeom>
          <a:solidFill>
            <a:srgbClr val="5A6B75"/>
          </a:solidFill>
          <a:ln/>
        </p:spPr>
        <p:txBody>
          <a:bodyPr/>
          <a:lstStyle/>
          <a:p>
            <a:endParaRPr lang="en-US"/>
          </a:p>
        </p:txBody>
      </p:sp>
      <p:sp>
        <p:nvSpPr>
          <p:cNvPr id="20" name="Shape 18"/>
          <p:cNvSpPr/>
          <p:nvPr/>
        </p:nvSpPr>
        <p:spPr>
          <a:xfrm>
            <a:off x="502920" y="3054096"/>
            <a:ext cx="329184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21" name="Text 19"/>
          <p:cNvSpPr/>
          <p:nvPr/>
        </p:nvSpPr>
        <p:spPr>
          <a:xfrm>
            <a:off x="502920" y="3054096"/>
            <a:ext cx="329184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Public / Member / Admin Access</a:t>
            </a:r>
            <a:endParaRPr lang="en-US" sz="1000" dirty="0"/>
          </a:p>
        </p:txBody>
      </p:sp>
      <p:sp>
        <p:nvSpPr>
          <p:cNvPr id="22" name="Text 20"/>
          <p:cNvSpPr/>
          <p:nvPr/>
        </p:nvSpPr>
        <p:spPr>
          <a:xfrm>
            <a:off x="3977640" y="1060704"/>
            <a:ext cx="3291840" cy="274320"/>
          </a:xfrm>
          <a:prstGeom prst="rect">
            <a:avLst/>
          </a:prstGeom>
          <a:noFill/>
          <a:ln/>
        </p:spPr>
        <p:txBody>
          <a:bodyPr wrap="square" rtlCol="0" anchor="ctr"/>
          <a:lstStyle/>
          <a:p>
            <a:pPr marL="0" indent="0">
              <a:buNone/>
            </a:pPr>
            <a:r>
              <a:rPr lang="en-US" sz="1250" b="1" dirty="0">
                <a:solidFill>
                  <a:srgbClr val="1B3A4B"/>
                </a:solidFill>
                <a:latin typeface="Calibri" pitchFamily="34" charset="0"/>
                <a:ea typeface="Calibri" pitchFamily="34" charset="-122"/>
                <a:cs typeface="Calibri" pitchFamily="34" charset="-120"/>
              </a:rPr>
              <a:t>Governance</a:t>
            </a:r>
            <a:endParaRPr lang="en-US" sz="1250" dirty="0"/>
          </a:p>
        </p:txBody>
      </p:sp>
      <p:sp>
        <p:nvSpPr>
          <p:cNvPr id="23" name="Shape 21"/>
          <p:cNvSpPr/>
          <p:nvPr/>
        </p:nvSpPr>
        <p:spPr>
          <a:xfrm>
            <a:off x="3977640" y="1371600"/>
            <a:ext cx="3291840" cy="310896"/>
          </a:xfrm>
          <a:prstGeom prst="roundRect">
            <a:avLst>
              <a:gd name="adj" fmla="val 17647"/>
            </a:avLst>
          </a:prstGeom>
          <a:solidFill>
            <a:srgbClr val="FBEBD3"/>
          </a:solidFill>
          <a:ln w="12700">
            <a:solidFill>
              <a:srgbClr val="C77D0A"/>
            </a:solidFill>
            <a:prstDash val="solid"/>
          </a:ln>
        </p:spPr>
        <p:txBody>
          <a:bodyPr/>
          <a:lstStyle/>
          <a:p>
            <a:endParaRPr lang="en-US"/>
          </a:p>
        </p:txBody>
      </p:sp>
      <p:sp>
        <p:nvSpPr>
          <p:cNvPr id="24" name="Text 22"/>
          <p:cNvSpPr/>
          <p:nvPr/>
        </p:nvSpPr>
        <p:spPr>
          <a:xfrm>
            <a:off x="3977640" y="1371600"/>
            <a:ext cx="329184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Constitution</a:t>
            </a:r>
            <a:endParaRPr lang="en-US" sz="1000" dirty="0"/>
          </a:p>
        </p:txBody>
      </p:sp>
      <p:sp>
        <p:nvSpPr>
          <p:cNvPr id="25" name="Shape 23"/>
          <p:cNvSpPr/>
          <p:nvPr/>
        </p:nvSpPr>
        <p:spPr>
          <a:xfrm>
            <a:off x="5541264" y="1687982"/>
            <a:ext cx="164592" cy="82296"/>
          </a:xfrm>
          <a:prstGeom prst="downArrow">
            <a:avLst/>
          </a:prstGeom>
          <a:solidFill>
            <a:srgbClr val="5A6B75"/>
          </a:solidFill>
          <a:ln/>
        </p:spPr>
        <p:txBody>
          <a:bodyPr/>
          <a:lstStyle/>
          <a:p>
            <a:endParaRPr lang="en-US"/>
          </a:p>
        </p:txBody>
      </p:sp>
      <p:sp>
        <p:nvSpPr>
          <p:cNvPr id="26" name="Shape 24"/>
          <p:cNvSpPr/>
          <p:nvPr/>
        </p:nvSpPr>
        <p:spPr>
          <a:xfrm>
            <a:off x="3977640" y="1792224"/>
            <a:ext cx="3291840" cy="310896"/>
          </a:xfrm>
          <a:prstGeom prst="roundRect">
            <a:avLst>
              <a:gd name="adj" fmla="val 17647"/>
            </a:avLst>
          </a:prstGeom>
          <a:solidFill>
            <a:srgbClr val="FBEBD3"/>
          </a:solidFill>
          <a:ln w="12700">
            <a:solidFill>
              <a:srgbClr val="C77D0A"/>
            </a:solidFill>
            <a:prstDash val="solid"/>
          </a:ln>
        </p:spPr>
        <p:txBody>
          <a:bodyPr/>
          <a:lstStyle/>
          <a:p>
            <a:endParaRPr lang="en-US"/>
          </a:p>
        </p:txBody>
      </p:sp>
      <p:sp>
        <p:nvSpPr>
          <p:cNvPr id="27" name="Text 25"/>
          <p:cNvSpPr/>
          <p:nvPr/>
        </p:nvSpPr>
        <p:spPr>
          <a:xfrm>
            <a:off x="3977640" y="1792224"/>
            <a:ext cx="329184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Business Rules</a:t>
            </a:r>
            <a:endParaRPr lang="en-US" sz="1000" dirty="0"/>
          </a:p>
        </p:txBody>
      </p:sp>
      <p:sp>
        <p:nvSpPr>
          <p:cNvPr id="28" name="Shape 26"/>
          <p:cNvSpPr/>
          <p:nvPr/>
        </p:nvSpPr>
        <p:spPr>
          <a:xfrm>
            <a:off x="5541264" y="2108606"/>
            <a:ext cx="164592" cy="82296"/>
          </a:xfrm>
          <a:prstGeom prst="downArrow">
            <a:avLst/>
          </a:prstGeom>
          <a:solidFill>
            <a:srgbClr val="5A6B75"/>
          </a:solidFill>
          <a:ln/>
        </p:spPr>
        <p:txBody>
          <a:bodyPr/>
          <a:lstStyle/>
          <a:p>
            <a:endParaRPr lang="en-US"/>
          </a:p>
        </p:txBody>
      </p:sp>
      <p:sp>
        <p:nvSpPr>
          <p:cNvPr id="29" name="Shape 27"/>
          <p:cNvSpPr/>
          <p:nvPr/>
        </p:nvSpPr>
        <p:spPr>
          <a:xfrm>
            <a:off x="3977640" y="2212848"/>
            <a:ext cx="3291840" cy="310896"/>
          </a:xfrm>
          <a:prstGeom prst="roundRect">
            <a:avLst>
              <a:gd name="adj" fmla="val 17647"/>
            </a:avLst>
          </a:prstGeom>
          <a:solidFill>
            <a:srgbClr val="FBEBD3"/>
          </a:solidFill>
          <a:ln w="12700">
            <a:solidFill>
              <a:srgbClr val="C77D0A"/>
            </a:solidFill>
            <a:prstDash val="solid"/>
          </a:ln>
        </p:spPr>
        <p:txBody>
          <a:bodyPr/>
          <a:lstStyle/>
          <a:p>
            <a:endParaRPr lang="en-US"/>
          </a:p>
        </p:txBody>
      </p:sp>
      <p:sp>
        <p:nvSpPr>
          <p:cNvPr id="30" name="Text 28"/>
          <p:cNvSpPr/>
          <p:nvPr/>
        </p:nvSpPr>
        <p:spPr>
          <a:xfrm>
            <a:off x="3977640" y="2212848"/>
            <a:ext cx="329184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System Workflow</a:t>
            </a:r>
            <a:endParaRPr lang="en-US" sz="1000" dirty="0"/>
          </a:p>
        </p:txBody>
      </p:sp>
      <p:sp>
        <p:nvSpPr>
          <p:cNvPr id="31" name="Shape 29"/>
          <p:cNvSpPr/>
          <p:nvPr/>
        </p:nvSpPr>
        <p:spPr>
          <a:xfrm>
            <a:off x="5541264" y="2529230"/>
            <a:ext cx="164592" cy="82296"/>
          </a:xfrm>
          <a:prstGeom prst="downArrow">
            <a:avLst/>
          </a:prstGeom>
          <a:solidFill>
            <a:srgbClr val="5A6B75"/>
          </a:solidFill>
          <a:ln/>
        </p:spPr>
        <p:txBody>
          <a:bodyPr/>
          <a:lstStyle/>
          <a:p>
            <a:endParaRPr lang="en-US"/>
          </a:p>
        </p:txBody>
      </p:sp>
      <p:sp>
        <p:nvSpPr>
          <p:cNvPr id="32" name="Shape 30"/>
          <p:cNvSpPr/>
          <p:nvPr/>
        </p:nvSpPr>
        <p:spPr>
          <a:xfrm>
            <a:off x="3977640" y="2633472"/>
            <a:ext cx="3291840" cy="310896"/>
          </a:xfrm>
          <a:prstGeom prst="roundRect">
            <a:avLst>
              <a:gd name="adj" fmla="val 17647"/>
            </a:avLst>
          </a:prstGeom>
          <a:solidFill>
            <a:srgbClr val="FBEBD3"/>
          </a:solidFill>
          <a:ln w="12700">
            <a:solidFill>
              <a:srgbClr val="C77D0A"/>
            </a:solidFill>
            <a:prstDash val="solid"/>
          </a:ln>
        </p:spPr>
        <p:txBody>
          <a:bodyPr/>
          <a:lstStyle/>
          <a:p>
            <a:endParaRPr lang="en-US"/>
          </a:p>
        </p:txBody>
      </p:sp>
      <p:sp>
        <p:nvSpPr>
          <p:cNvPr id="33" name="Text 31"/>
          <p:cNvSpPr/>
          <p:nvPr/>
        </p:nvSpPr>
        <p:spPr>
          <a:xfrm>
            <a:off x="3977640" y="2633472"/>
            <a:ext cx="329184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Human Decision</a:t>
            </a:r>
            <a:endParaRPr lang="en-US" sz="1000" dirty="0"/>
          </a:p>
        </p:txBody>
      </p:sp>
      <p:sp>
        <p:nvSpPr>
          <p:cNvPr id="34" name="Shape 32"/>
          <p:cNvSpPr/>
          <p:nvPr/>
        </p:nvSpPr>
        <p:spPr>
          <a:xfrm>
            <a:off x="7498080" y="1060704"/>
            <a:ext cx="4160520" cy="2514600"/>
          </a:xfrm>
          <a:prstGeom prst="roundRect">
            <a:avLst>
              <a:gd name="adj" fmla="val 2182"/>
            </a:avLst>
          </a:prstGeom>
          <a:solidFill>
            <a:srgbClr val="E1F2E6"/>
          </a:solidFill>
          <a:ln w="12700">
            <a:solidFill>
              <a:srgbClr val="5A6B75"/>
            </a:solidFill>
            <a:prstDash val="solid"/>
          </a:ln>
        </p:spPr>
        <p:txBody>
          <a:bodyPr/>
          <a:lstStyle/>
          <a:p>
            <a:endParaRPr lang="en-US"/>
          </a:p>
        </p:txBody>
      </p:sp>
      <p:sp>
        <p:nvSpPr>
          <p:cNvPr id="35" name="Text 33"/>
          <p:cNvSpPr/>
          <p:nvPr/>
        </p:nvSpPr>
        <p:spPr>
          <a:xfrm>
            <a:off x="7699248" y="1188720"/>
            <a:ext cx="3758184" cy="2276856"/>
          </a:xfrm>
          <a:prstGeom prst="rect">
            <a:avLst/>
          </a:prstGeom>
          <a:noFill/>
          <a:ln/>
        </p:spPr>
        <p:txBody>
          <a:bodyPr wrap="square" rtlCol="0" anchor="t"/>
          <a:lstStyle/>
          <a:p>
            <a:pPr marL="0" indent="0">
              <a:lnSpc>
                <a:spcPct val="110000"/>
              </a:lnSpc>
              <a:spcAft>
                <a:spcPts val="400"/>
              </a:spcAft>
              <a:buNone/>
            </a:pPr>
            <a:r>
              <a:rPr lang="en-US" sz="1250" b="1" dirty="0">
                <a:solidFill>
                  <a:srgbClr val="2F7D4F"/>
                </a:solidFill>
                <a:latin typeface="Calibri" pitchFamily="34" charset="0"/>
                <a:ea typeface="Calibri" pitchFamily="34" charset="-122"/>
                <a:cs typeface="Calibri" pitchFamily="34" charset="-120"/>
              </a:rPr>
              <a:t>SYSTEM SUPPORTS</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Constitution publication</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Version history</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Committee records</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Eligibility controls</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Voter-roll preparation</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Polls</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Election documents</a:t>
            </a:r>
            <a:endParaRPr lang="en-US" sz="1250" dirty="0"/>
          </a:p>
        </p:txBody>
      </p:sp>
      <p:sp>
        <p:nvSpPr>
          <p:cNvPr id="36" name="Shape 34"/>
          <p:cNvSpPr/>
          <p:nvPr/>
        </p:nvSpPr>
        <p:spPr>
          <a:xfrm>
            <a:off x="7498080" y="3703320"/>
            <a:ext cx="4160520" cy="1965960"/>
          </a:xfrm>
          <a:prstGeom prst="roundRect">
            <a:avLst>
              <a:gd name="adj" fmla="val 2791"/>
            </a:avLst>
          </a:prstGeom>
          <a:solidFill>
            <a:srgbClr val="F7E1DF"/>
          </a:solidFill>
          <a:ln w="12700">
            <a:solidFill>
              <a:srgbClr val="5A6B75"/>
            </a:solidFill>
            <a:prstDash val="solid"/>
          </a:ln>
        </p:spPr>
        <p:txBody>
          <a:bodyPr/>
          <a:lstStyle/>
          <a:p>
            <a:endParaRPr lang="en-US"/>
          </a:p>
        </p:txBody>
      </p:sp>
      <p:sp>
        <p:nvSpPr>
          <p:cNvPr id="37" name="Text 35"/>
          <p:cNvSpPr/>
          <p:nvPr/>
        </p:nvSpPr>
        <p:spPr>
          <a:xfrm>
            <a:off x="7699248" y="3831336"/>
            <a:ext cx="3758184" cy="1728216"/>
          </a:xfrm>
          <a:prstGeom prst="rect">
            <a:avLst/>
          </a:prstGeom>
          <a:noFill/>
          <a:ln/>
        </p:spPr>
        <p:txBody>
          <a:bodyPr wrap="square" rtlCol="0" anchor="t"/>
          <a:lstStyle/>
          <a:p>
            <a:pPr marL="0" indent="0">
              <a:lnSpc>
                <a:spcPct val="110000"/>
              </a:lnSpc>
              <a:spcAft>
                <a:spcPts val="400"/>
              </a:spcAft>
              <a:buNone/>
            </a:pPr>
            <a:r>
              <a:rPr lang="en-US" sz="1250" b="1" dirty="0">
                <a:solidFill>
                  <a:srgbClr val="AE3B33"/>
                </a:solidFill>
                <a:latin typeface="Calibri" pitchFamily="34" charset="0"/>
                <a:ea typeface="Calibri" pitchFamily="34" charset="-122"/>
                <a:cs typeface="Calibri" pitchFamily="34" charset="-120"/>
              </a:rPr>
              <a:t>SYSTEM DOES NOT DECIDE</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Constitutional interpretation</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Election authority</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Election disputes</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Legal validity</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Official election decisions</a:t>
            </a:r>
            <a:endParaRPr lang="en-US" sz="1250" dirty="0"/>
          </a:p>
        </p:txBody>
      </p:sp>
      <p:sp>
        <p:nvSpPr>
          <p:cNvPr id="38" name="Shape 36"/>
          <p:cNvSpPr/>
          <p:nvPr/>
        </p:nvSpPr>
        <p:spPr>
          <a:xfrm>
            <a:off x="502920" y="5074920"/>
            <a:ext cx="6583680" cy="822960"/>
          </a:xfrm>
          <a:prstGeom prst="roundRect">
            <a:avLst>
              <a:gd name="adj" fmla="val 8889"/>
            </a:avLst>
          </a:prstGeom>
          <a:solidFill>
            <a:srgbClr val="1B3A4B"/>
          </a:solidFill>
          <a:ln/>
        </p:spPr>
        <p:txBody>
          <a:bodyPr/>
          <a:lstStyle/>
          <a:p>
            <a:endParaRPr lang="en-US"/>
          </a:p>
        </p:txBody>
      </p:sp>
      <p:sp>
        <p:nvSpPr>
          <p:cNvPr id="39" name="Text 37"/>
          <p:cNvSpPr/>
          <p:nvPr/>
        </p:nvSpPr>
        <p:spPr>
          <a:xfrm>
            <a:off x="777240" y="5074920"/>
            <a:ext cx="6035040" cy="82296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Software enforces configured rules where appropriate; institutional authority remains human.</a:t>
            </a:r>
            <a:endParaRPr lang="en-US" sz="1400" dirty="0"/>
          </a:p>
        </p:txBody>
      </p:sp>
      <p:sp>
        <p:nvSpPr>
          <p:cNvPr id="41" name="Text 38"/>
          <p:cNvSpPr/>
          <p:nvPr/>
        </p:nvSpPr>
        <p:spPr>
          <a:xfrm>
            <a:off x="502920" y="6547104"/>
            <a:ext cx="7315200" cy="256032"/>
          </a:xfrm>
          <a:prstGeom prst="rect">
            <a:avLst/>
          </a:prstGeom>
          <a:noFill/>
          <a:ln/>
        </p:spPr>
        <p:txBody>
          <a:bodyPr wrap="square" rtlCol="0" anchor="ctr"/>
          <a:lstStyle/>
          <a:p>
            <a:pPr marL="0" indent="0">
              <a:buNone/>
            </a:pPr>
            <a:r>
              <a:rPr lang="en-US" sz="1000" i="1" dirty="0">
                <a:solidFill>
                  <a:srgbClr val="5A6B75"/>
                </a:solidFill>
                <a:latin typeface="Calibri" pitchFamily="34" charset="0"/>
                <a:ea typeface="Calibri" pitchFamily="34" charset="-122"/>
                <a:cs typeface="Calibri" pitchFamily="34" charset="-120"/>
              </a:rPr>
              <a:t>GHCAA — Govt. Haraganga College Alumni Association</a:t>
            </a:r>
            <a:endParaRPr lang="en-US" sz="1000" dirty="0"/>
          </a:p>
        </p:txBody>
      </p:sp>
      <p:sp>
        <p:nvSpPr>
          <p:cNvPr id="42" name="Text 39"/>
          <p:cNvSpPr/>
          <p:nvPr/>
        </p:nvSpPr>
        <p:spPr>
          <a:xfrm>
            <a:off x="11521440" y="6547104"/>
            <a:ext cx="457200" cy="256032"/>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3A4B"/>
          </a:solidFill>
          <a:ln/>
        </p:spPr>
        <p:txBody>
          <a:bodyPr/>
          <a:lstStyle/>
          <a:p>
            <a:endParaRPr lang="en-US"/>
          </a:p>
        </p:txBody>
      </p:sp>
      <p:sp>
        <p:nvSpPr>
          <p:cNvPr id="3" name="Shape 1"/>
          <p:cNvSpPr/>
          <p:nvPr/>
        </p:nvSpPr>
        <p:spPr>
          <a:xfrm>
            <a:off x="0" y="960120"/>
            <a:ext cx="12191695" cy="41148"/>
          </a:xfrm>
          <a:prstGeom prst="rect">
            <a:avLst/>
          </a:prstGeom>
          <a:solidFill>
            <a:srgbClr val="C77D0A"/>
          </a:solidFill>
          <a:ln/>
        </p:spPr>
        <p:txBody>
          <a:bodyPr/>
          <a:lstStyle/>
          <a:p>
            <a:endParaRPr lang="en-US"/>
          </a:p>
        </p:txBody>
      </p:sp>
      <p:sp>
        <p:nvSpPr>
          <p:cNvPr id="4" name="Text 2"/>
          <p:cNvSpPr/>
          <p:nvPr/>
        </p:nvSpPr>
        <p:spPr>
          <a:xfrm>
            <a:off x="502920" y="128016"/>
            <a:ext cx="10058400" cy="256032"/>
          </a:xfrm>
          <a:prstGeom prst="rect">
            <a:avLst/>
          </a:prstGeom>
          <a:noFill/>
          <a:ln/>
        </p:spPr>
        <p:txBody>
          <a:bodyPr wrap="square" rtlCol="0" anchor="ctr"/>
          <a:lstStyle/>
          <a:p>
            <a:pPr marL="0" indent="0">
              <a:buNone/>
            </a:pPr>
            <a:r>
              <a:rPr lang="en-US" sz="1200" b="1" kern="0" spc="200" dirty="0">
                <a:solidFill>
                  <a:srgbClr val="C77D0A"/>
                </a:solidFill>
                <a:latin typeface="Calibri" pitchFamily="34" charset="0"/>
                <a:ea typeface="Calibri" pitchFamily="34" charset="-122"/>
                <a:cs typeface="Calibri" pitchFamily="34" charset="-120"/>
              </a:rPr>
              <a:t>REUSABILITY</a:t>
            </a:r>
            <a:endParaRPr lang="en-US" sz="1200" dirty="0"/>
          </a:p>
        </p:txBody>
      </p:sp>
      <p:sp>
        <p:nvSpPr>
          <p:cNvPr id="5" name="Text 3"/>
          <p:cNvSpPr/>
          <p:nvPr/>
        </p:nvSpPr>
        <p:spPr>
          <a:xfrm>
            <a:off x="502920" y="384048"/>
            <a:ext cx="11155680" cy="530352"/>
          </a:xfrm>
          <a:prstGeom prst="rect">
            <a:avLst/>
          </a:prstGeom>
          <a:noFill/>
          <a:ln/>
        </p:spPr>
        <p:txBody>
          <a:bodyPr wrap="square"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The goal is a platform, not a source-code fork</a:t>
            </a:r>
            <a:endParaRPr lang="en-US" sz="2700" dirty="0"/>
          </a:p>
        </p:txBody>
      </p:sp>
      <p:sp>
        <p:nvSpPr>
          <p:cNvPr id="6" name="Text 4"/>
          <p:cNvSpPr/>
          <p:nvPr/>
        </p:nvSpPr>
        <p:spPr>
          <a:xfrm>
            <a:off x="10561320" y="365760"/>
            <a:ext cx="1234440" cy="274320"/>
          </a:xfrm>
          <a:prstGeom prst="rect">
            <a:avLst/>
          </a:prstGeom>
          <a:noFill/>
          <a:ln/>
        </p:spPr>
        <p:txBody>
          <a:bodyPr wrap="square"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~1:00</a:t>
            </a:r>
            <a:endParaRPr lang="en-US" sz="1050" dirty="0"/>
          </a:p>
        </p:txBody>
      </p:sp>
      <p:sp>
        <p:nvSpPr>
          <p:cNvPr id="7" name="Shape 5"/>
          <p:cNvSpPr/>
          <p:nvPr/>
        </p:nvSpPr>
        <p:spPr>
          <a:xfrm>
            <a:off x="502920" y="1097280"/>
            <a:ext cx="6675120" cy="384048"/>
          </a:xfrm>
          <a:prstGeom prst="roundRect">
            <a:avLst>
              <a:gd name="adj" fmla="val 14286"/>
            </a:avLst>
          </a:prstGeom>
          <a:solidFill>
            <a:srgbClr val="1B3A4B"/>
          </a:solidFill>
          <a:ln w="12700">
            <a:solidFill>
              <a:srgbClr val="2E86AB"/>
            </a:solidFill>
            <a:prstDash val="solid"/>
          </a:ln>
        </p:spPr>
        <p:txBody>
          <a:bodyPr/>
          <a:lstStyle/>
          <a:p>
            <a:endParaRPr lang="en-US"/>
          </a:p>
        </p:txBody>
      </p:sp>
      <p:sp>
        <p:nvSpPr>
          <p:cNvPr id="8" name="Text 6"/>
          <p:cNvSpPr/>
          <p:nvPr/>
        </p:nvSpPr>
        <p:spPr>
          <a:xfrm>
            <a:off x="502920" y="1097280"/>
            <a:ext cx="66751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REUSABLE PLATFORM</a:t>
            </a:r>
            <a:endParaRPr lang="en-US" sz="1300" dirty="0"/>
          </a:p>
        </p:txBody>
      </p:sp>
      <p:sp>
        <p:nvSpPr>
          <p:cNvPr id="9" name="Shape 7"/>
          <p:cNvSpPr/>
          <p:nvPr/>
        </p:nvSpPr>
        <p:spPr>
          <a:xfrm>
            <a:off x="502920" y="1572768"/>
            <a:ext cx="213360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10" name="Text 8"/>
          <p:cNvSpPr/>
          <p:nvPr/>
        </p:nvSpPr>
        <p:spPr>
          <a:xfrm>
            <a:off x="502920" y="1572768"/>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Authentication</a:t>
            </a:r>
            <a:endParaRPr lang="en-US" sz="1000" dirty="0"/>
          </a:p>
        </p:txBody>
      </p:sp>
      <p:sp>
        <p:nvSpPr>
          <p:cNvPr id="11" name="Shape 9"/>
          <p:cNvSpPr/>
          <p:nvPr/>
        </p:nvSpPr>
        <p:spPr>
          <a:xfrm>
            <a:off x="2727960" y="1572768"/>
            <a:ext cx="213360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12" name="Text 10"/>
          <p:cNvSpPr/>
          <p:nvPr/>
        </p:nvSpPr>
        <p:spPr>
          <a:xfrm>
            <a:off x="2727960" y="1572768"/>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Authorization</a:t>
            </a:r>
            <a:endParaRPr lang="en-US" sz="1000" dirty="0"/>
          </a:p>
        </p:txBody>
      </p:sp>
      <p:sp>
        <p:nvSpPr>
          <p:cNvPr id="13" name="Shape 11"/>
          <p:cNvSpPr/>
          <p:nvPr/>
        </p:nvSpPr>
        <p:spPr>
          <a:xfrm>
            <a:off x="4953000" y="1572768"/>
            <a:ext cx="213360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14" name="Text 12"/>
          <p:cNvSpPr/>
          <p:nvPr/>
        </p:nvSpPr>
        <p:spPr>
          <a:xfrm>
            <a:off x="4953000" y="1572768"/>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Validation</a:t>
            </a:r>
            <a:endParaRPr lang="en-US" sz="1000" dirty="0"/>
          </a:p>
        </p:txBody>
      </p:sp>
      <p:sp>
        <p:nvSpPr>
          <p:cNvPr id="15" name="Shape 13"/>
          <p:cNvSpPr/>
          <p:nvPr/>
        </p:nvSpPr>
        <p:spPr>
          <a:xfrm>
            <a:off x="502920" y="1938528"/>
            <a:ext cx="213360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16" name="Text 14"/>
          <p:cNvSpPr/>
          <p:nvPr/>
        </p:nvSpPr>
        <p:spPr>
          <a:xfrm>
            <a:off x="502920" y="1938528"/>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Accounting</a:t>
            </a:r>
            <a:endParaRPr lang="en-US" sz="1000" dirty="0"/>
          </a:p>
        </p:txBody>
      </p:sp>
      <p:sp>
        <p:nvSpPr>
          <p:cNvPr id="17" name="Shape 15"/>
          <p:cNvSpPr/>
          <p:nvPr/>
        </p:nvSpPr>
        <p:spPr>
          <a:xfrm>
            <a:off x="2727960" y="1938528"/>
            <a:ext cx="213360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18" name="Text 16"/>
          <p:cNvSpPr/>
          <p:nvPr/>
        </p:nvSpPr>
        <p:spPr>
          <a:xfrm>
            <a:off x="2727960" y="1938528"/>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Files</a:t>
            </a:r>
            <a:endParaRPr lang="en-US" sz="1000" dirty="0"/>
          </a:p>
        </p:txBody>
      </p:sp>
      <p:sp>
        <p:nvSpPr>
          <p:cNvPr id="19" name="Shape 17"/>
          <p:cNvSpPr/>
          <p:nvPr/>
        </p:nvSpPr>
        <p:spPr>
          <a:xfrm>
            <a:off x="4953000" y="1938528"/>
            <a:ext cx="213360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20" name="Text 18"/>
          <p:cNvSpPr/>
          <p:nvPr/>
        </p:nvSpPr>
        <p:spPr>
          <a:xfrm>
            <a:off x="4953000" y="1938528"/>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Shared UI</a:t>
            </a:r>
            <a:endParaRPr lang="en-US" sz="1000" dirty="0"/>
          </a:p>
        </p:txBody>
      </p:sp>
      <p:sp>
        <p:nvSpPr>
          <p:cNvPr id="21" name="Shape 19"/>
          <p:cNvSpPr/>
          <p:nvPr/>
        </p:nvSpPr>
        <p:spPr>
          <a:xfrm>
            <a:off x="502920" y="2304288"/>
            <a:ext cx="213360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22" name="Text 20"/>
          <p:cNvSpPr/>
          <p:nvPr/>
        </p:nvSpPr>
        <p:spPr>
          <a:xfrm>
            <a:off x="502920" y="2304288"/>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Audit</a:t>
            </a:r>
            <a:endParaRPr lang="en-US" sz="1000" dirty="0"/>
          </a:p>
        </p:txBody>
      </p:sp>
      <p:sp>
        <p:nvSpPr>
          <p:cNvPr id="23" name="Shape 21"/>
          <p:cNvSpPr/>
          <p:nvPr/>
        </p:nvSpPr>
        <p:spPr>
          <a:xfrm>
            <a:off x="2727960" y="2304288"/>
            <a:ext cx="213360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24" name="Text 22"/>
          <p:cNvSpPr/>
          <p:nvPr/>
        </p:nvSpPr>
        <p:spPr>
          <a:xfrm>
            <a:off x="2727960" y="2304288"/>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Notifications</a:t>
            </a:r>
            <a:endParaRPr lang="en-US" sz="1000" dirty="0"/>
          </a:p>
        </p:txBody>
      </p:sp>
      <p:sp>
        <p:nvSpPr>
          <p:cNvPr id="25" name="Shape 23"/>
          <p:cNvSpPr/>
          <p:nvPr/>
        </p:nvSpPr>
        <p:spPr>
          <a:xfrm>
            <a:off x="4953000" y="2304288"/>
            <a:ext cx="2133600" cy="310896"/>
          </a:xfrm>
          <a:prstGeom prst="roundRect">
            <a:avLst>
              <a:gd name="adj" fmla="val 17647"/>
            </a:avLst>
          </a:prstGeom>
          <a:solidFill>
            <a:srgbClr val="DCEEF5"/>
          </a:solidFill>
          <a:ln w="12700">
            <a:solidFill>
              <a:srgbClr val="2E86AB"/>
            </a:solidFill>
            <a:prstDash val="solid"/>
          </a:ln>
        </p:spPr>
        <p:txBody>
          <a:bodyPr/>
          <a:lstStyle/>
          <a:p>
            <a:endParaRPr lang="en-US"/>
          </a:p>
        </p:txBody>
      </p:sp>
      <p:sp>
        <p:nvSpPr>
          <p:cNvPr id="26" name="Text 24"/>
          <p:cNvSpPr/>
          <p:nvPr/>
        </p:nvSpPr>
        <p:spPr>
          <a:xfrm>
            <a:off x="4953000" y="2304288"/>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Configuration</a:t>
            </a:r>
            <a:endParaRPr lang="en-US" sz="1000" dirty="0"/>
          </a:p>
        </p:txBody>
      </p:sp>
      <p:sp>
        <p:nvSpPr>
          <p:cNvPr id="27" name="Text 25"/>
          <p:cNvSpPr/>
          <p:nvPr/>
        </p:nvSpPr>
        <p:spPr>
          <a:xfrm>
            <a:off x="502920" y="2761488"/>
            <a:ext cx="6675120" cy="274320"/>
          </a:xfrm>
          <a:prstGeom prst="rect">
            <a:avLst/>
          </a:prstGeom>
          <a:noFill/>
          <a:ln/>
        </p:spPr>
        <p:txBody>
          <a:bodyPr wrap="square" rtlCol="0" anchor="ctr"/>
          <a:lstStyle/>
          <a:p>
            <a:pPr marL="0" indent="0" algn="ctr">
              <a:buNone/>
            </a:pPr>
            <a:r>
              <a:rPr lang="en-US" sz="1600" b="1" dirty="0">
                <a:solidFill>
                  <a:srgbClr val="5A6B75"/>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502920" y="3054096"/>
            <a:ext cx="6675120" cy="384048"/>
          </a:xfrm>
          <a:prstGeom prst="roundRect">
            <a:avLst>
              <a:gd name="adj" fmla="val 14286"/>
            </a:avLst>
          </a:prstGeom>
          <a:solidFill>
            <a:srgbClr val="C77D0A"/>
          </a:solidFill>
          <a:ln w="12700">
            <a:solidFill>
              <a:srgbClr val="2E86AB"/>
            </a:solidFill>
            <a:prstDash val="solid"/>
          </a:ln>
        </p:spPr>
        <p:txBody>
          <a:bodyPr/>
          <a:lstStyle/>
          <a:p>
            <a:endParaRPr lang="en-US"/>
          </a:p>
        </p:txBody>
      </p:sp>
      <p:sp>
        <p:nvSpPr>
          <p:cNvPr id="29" name="Text 27"/>
          <p:cNvSpPr/>
          <p:nvPr/>
        </p:nvSpPr>
        <p:spPr>
          <a:xfrm>
            <a:off x="502920" y="3054096"/>
            <a:ext cx="667512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ORGANIZATION PROFILE</a:t>
            </a:r>
            <a:endParaRPr lang="en-US" sz="1300" dirty="0"/>
          </a:p>
        </p:txBody>
      </p:sp>
      <p:sp>
        <p:nvSpPr>
          <p:cNvPr id="30" name="Shape 28"/>
          <p:cNvSpPr/>
          <p:nvPr/>
        </p:nvSpPr>
        <p:spPr>
          <a:xfrm>
            <a:off x="502920" y="3529584"/>
            <a:ext cx="2133600" cy="310896"/>
          </a:xfrm>
          <a:prstGeom prst="roundRect">
            <a:avLst>
              <a:gd name="adj" fmla="val 17647"/>
            </a:avLst>
          </a:prstGeom>
          <a:solidFill>
            <a:srgbClr val="FBEBD3"/>
          </a:solidFill>
          <a:ln w="12700">
            <a:solidFill>
              <a:srgbClr val="C77D0A"/>
            </a:solidFill>
            <a:prstDash val="solid"/>
          </a:ln>
        </p:spPr>
        <p:txBody>
          <a:bodyPr/>
          <a:lstStyle/>
          <a:p>
            <a:endParaRPr lang="en-US"/>
          </a:p>
        </p:txBody>
      </p:sp>
      <p:sp>
        <p:nvSpPr>
          <p:cNvPr id="31" name="Text 29"/>
          <p:cNvSpPr/>
          <p:nvPr/>
        </p:nvSpPr>
        <p:spPr>
          <a:xfrm>
            <a:off x="502920" y="3529584"/>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Branding</a:t>
            </a:r>
            <a:endParaRPr lang="en-US" sz="1000" dirty="0"/>
          </a:p>
        </p:txBody>
      </p:sp>
      <p:sp>
        <p:nvSpPr>
          <p:cNvPr id="32" name="Shape 30"/>
          <p:cNvSpPr/>
          <p:nvPr/>
        </p:nvSpPr>
        <p:spPr>
          <a:xfrm>
            <a:off x="2727960" y="3529584"/>
            <a:ext cx="2133600" cy="310896"/>
          </a:xfrm>
          <a:prstGeom prst="roundRect">
            <a:avLst>
              <a:gd name="adj" fmla="val 17647"/>
            </a:avLst>
          </a:prstGeom>
          <a:solidFill>
            <a:srgbClr val="FBEBD3"/>
          </a:solidFill>
          <a:ln w="12700">
            <a:solidFill>
              <a:srgbClr val="C77D0A"/>
            </a:solidFill>
            <a:prstDash val="solid"/>
          </a:ln>
        </p:spPr>
        <p:txBody>
          <a:bodyPr/>
          <a:lstStyle/>
          <a:p>
            <a:endParaRPr lang="en-US"/>
          </a:p>
        </p:txBody>
      </p:sp>
      <p:sp>
        <p:nvSpPr>
          <p:cNvPr id="33" name="Text 31"/>
          <p:cNvSpPr/>
          <p:nvPr/>
        </p:nvSpPr>
        <p:spPr>
          <a:xfrm>
            <a:off x="2727960" y="3529584"/>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Membership Tiers</a:t>
            </a:r>
            <a:endParaRPr lang="en-US" sz="1000" dirty="0"/>
          </a:p>
        </p:txBody>
      </p:sp>
      <p:sp>
        <p:nvSpPr>
          <p:cNvPr id="34" name="Shape 32"/>
          <p:cNvSpPr/>
          <p:nvPr/>
        </p:nvSpPr>
        <p:spPr>
          <a:xfrm>
            <a:off x="4953000" y="3529584"/>
            <a:ext cx="2133600" cy="310896"/>
          </a:xfrm>
          <a:prstGeom prst="roundRect">
            <a:avLst>
              <a:gd name="adj" fmla="val 17647"/>
            </a:avLst>
          </a:prstGeom>
          <a:solidFill>
            <a:srgbClr val="FBEBD3"/>
          </a:solidFill>
          <a:ln w="12700">
            <a:solidFill>
              <a:srgbClr val="C77D0A"/>
            </a:solidFill>
            <a:prstDash val="solid"/>
          </a:ln>
        </p:spPr>
        <p:txBody>
          <a:bodyPr/>
          <a:lstStyle/>
          <a:p>
            <a:endParaRPr lang="en-US"/>
          </a:p>
        </p:txBody>
      </p:sp>
      <p:sp>
        <p:nvSpPr>
          <p:cNvPr id="35" name="Text 33"/>
          <p:cNvSpPr/>
          <p:nvPr/>
        </p:nvSpPr>
        <p:spPr>
          <a:xfrm>
            <a:off x="4953000" y="3529584"/>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Payment Instructions</a:t>
            </a:r>
            <a:endParaRPr lang="en-US" sz="1000" dirty="0"/>
          </a:p>
        </p:txBody>
      </p:sp>
      <p:sp>
        <p:nvSpPr>
          <p:cNvPr id="36" name="Shape 34"/>
          <p:cNvSpPr/>
          <p:nvPr/>
        </p:nvSpPr>
        <p:spPr>
          <a:xfrm>
            <a:off x="502920" y="3895344"/>
            <a:ext cx="2133600" cy="310896"/>
          </a:xfrm>
          <a:prstGeom prst="roundRect">
            <a:avLst>
              <a:gd name="adj" fmla="val 17647"/>
            </a:avLst>
          </a:prstGeom>
          <a:solidFill>
            <a:srgbClr val="FBEBD3"/>
          </a:solidFill>
          <a:ln w="12700">
            <a:solidFill>
              <a:srgbClr val="C77D0A"/>
            </a:solidFill>
            <a:prstDash val="solid"/>
          </a:ln>
        </p:spPr>
        <p:txBody>
          <a:bodyPr/>
          <a:lstStyle/>
          <a:p>
            <a:endParaRPr lang="en-US"/>
          </a:p>
        </p:txBody>
      </p:sp>
      <p:sp>
        <p:nvSpPr>
          <p:cNvPr id="37" name="Text 35"/>
          <p:cNvSpPr/>
          <p:nvPr/>
        </p:nvSpPr>
        <p:spPr>
          <a:xfrm>
            <a:off x="502920" y="3895344"/>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Documents</a:t>
            </a:r>
            <a:endParaRPr lang="en-US" sz="1000" dirty="0"/>
          </a:p>
        </p:txBody>
      </p:sp>
      <p:sp>
        <p:nvSpPr>
          <p:cNvPr id="38" name="Shape 36"/>
          <p:cNvSpPr/>
          <p:nvPr/>
        </p:nvSpPr>
        <p:spPr>
          <a:xfrm>
            <a:off x="2727960" y="3895344"/>
            <a:ext cx="2133600" cy="310896"/>
          </a:xfrm>
          <a:prstGeom prst="roundRect">
            <a:avLst>
              <a:gd name="adj" fmla="val 17647"/>
            </a:avLst>
          </a:prstGeom>
          <a:solidFill>
            <a:srgbClr val="FBEBD3"/>
          </a:solidFill>
          <a:ln w="12700">
            <a:solidFill>
              <a:srgbClr val="C77D0A"/>
            </a:solidFill>
            <a:prstDash val="solid"/>
          </a:ln>
        </p:spPr>
        <p:txBody>
          <a:bodyPr/>
          <a:lstStyle/>
          <a:p>
            <a:endParaRPr lang="en-US"/>
          </a:p>
        </p:txBody>
      </p:sp>
      <p:sp>
        <p:nvSpPr>
          <p:cNvPr id="39" name="Text 37"/>
          <p:cNvSpPr/>
          <p:nvPr/>
        </p:nvSpPr>
        <p:spPr>
          <a:xfrm>
            <a:off x="2727960" y="3895344"/>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Content</a:t>
            </a:r>
            <a:endParaRPr lang="en-US" sz="1000" dirty="0"/>
          </a:p>
        </p:txBody>
      </p:sp>
      <p:sp>
        <p:nvSpPr>
          <p:cNvPr id="40" name="Shape 38"/>
          <p:cNvSpPr/>
          <p:nvPr/>
        </p:nvSpPr>
        <p:spPr>
          <a:xfrm>
            <a:off x="4953000" y="3895344"/>
            <a:ext cx="2133600" cy="310896"/>
          </a:xfrm>
          <a:prstGeom prst="roundRect">
            <a:avLst>
              <a:gd name="adj" fmla="val 17647"/>
            </a:avLst>
          </a:prstGeom>
          <a:solidFill>
            <a:srgbClr val="FBEBD3"/>
          </a:solidFill>
          <a:ln w="12700">
            <a:solidFill>
              <a:srgbClr val="C77D0A"/>
            </a:solidFill>
            <a:prstDash val="solid"/>
          </a:ln>
        </p:spPr>
        <p:txBody>
          <a:bodyPr/>
          <a:lstStyle/>
          <a:p>
            <a:endParaRPr lang="en-US"/>
          </a:p>
        </p:txBody>
      </p:sp>
      <p:sp>
        <p:nvSpPr>
          <p:cNvPr id="41" name="Text 39"/>
          <p:cNvSpPr/>
          <p:nvPr/>
        </p:nvSpPr>
        <p:spPr>
          <a:xfrm>
            <a:off x="4953000" y="3895344"/>
            <a:ext cx="2133600" cy="310896"/>
          </a:xfrm>
          <a:prstGeom prst="rect">
            <a:avLst/>
          </a:prstGeom>
          <a:noFill/>
          <a:ln/>
        </p:spPr>
        <p:txBody>
          <a:bodyPr wrap="square" rtlCol="0" anchor="ctr"/>
          <a:lstStyle/>
          <a:p>
            <a:pPr marL="0" indent="0" algn="ctr">
              <a:buNone/>
            </a:pPr>
            <a:r>
              <a:rPr lang="en-US" sz="1000" dirty="0">
                <a:solidFill>
                  <a:srgbClr val="1F2933"/>
                </a:solidFill>
                <a:latin typeface="Calibri" pitchFamily="34" charset="0"/>
                <a:ea typeface="Calibri" pitchFamily="34" charset="-122"/>
                <a:cs typeface="Calibri" pitchFamily="34" charset="-120"/>
              </a:rPr>
              <a:t>Feature Flags</a:t>
            </a:r>
            <a:endParaRPr lang="en-US" sz="1000" dirty="0"/>
          </a:p>
        </p:txBody>
      </p:sp>
      <p:sp>
        <p:nvSpPr>
          <p:cNvPr id="42" name="Shape 40"/>
          <p:cNvSpPr/>
          <p:nvPr/>
        </p:nvSpPr>
        <p:spPr>
          <a:xfrm>
            <a:off x="3758184" y="4325112"/>
            <a:ext cx="201168" cy="182880"/>
          </a:xfrm>
          <a:prstGeom prst="downArrow">
            <a:avLst/>
          </a:prstGeom>
          <a:solidFill>
            <a:srgbClr val="5A6B75"/>
          </a:solidFill>
          <a:ln/>
        </p:spPr>
        <p:txBody>
          <a:bodyPr/>
          <a:lstStyle/>
          <a:p>
            <a:endParaRPr lang="en-US"/>
          </a:p>
        </p:txBody>
      </p:sp>
      <p:sp>
        <p:nvSpPr>
          <p:cNvPr id="43" name="Shape 41"/>
          <p:cNvSpPr/>
          <p:nvPr/>
        </p:nvSpPr>
        <p:spPr>
          <a:xfrm>
            <a:off x="2743200" y="4553712"/>
            <a:ext cx="2240280" cy="384048"/>
          </a:xfrm>
          <a:prstGeom prst="roundRect">
            <a:avLst>
              <a:gd name="adj" fmla="val 14286"/>
            </a:avLst>
          </a:prstGeom>
          <a:solidFill>
            <a:srgbClr val="10262F"/>
          </a:solidFill>
          <a:ln w="12700">
            <a:solidFill>
              <a:srgbClr val="2E86AB"/>
            </a:solidFill>
            <a:prstDash val="solid"/>
          </a:ln>
        </p:spPr>
        <p:txBody>
          <a:bodyPr/>
          <a:lstStyle/>
          <a:p>
            <a:endParaRPr lang="en-US"/>
          </a:p>
        </p:txBody>
      </p:sp>
      <p:sp>
        <p:nvSpPr>
          <p:cNvPr id="44" name="Text 42"/>
          <p:cNvSpPr/>
          <p:nvPr/>
        </p:nvSpPr>
        <p:spPr>
          <a:xfrm>
            <a:off x="2743200" y="4553712"/>
            <a:ext cx="224028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GHCAA</a:t>
            </a:r>
            <a:endParaRPr lang="en-US" sz="1300" dirty="0"/>
          </a:p>
        </p:txBody>
      </p:sp>
      <p:sp>
        <p:nvSpPr>
          <p:cNvPr id="45" name="Shape 43"/>
          <p:cNvSpPr/>
          <p:nvPr/>
        </p:nvSpPr>
        <p:spPr>
          <a:xfrm>
            <a:off x="7498080" y="1097280"/>
            <a:ext cx="4160520" cy="1965960"/>
          </a:xfrm>
          <a:prstGeom prst="roundRect">
            <a:avLst>
              <a:gd name="adj" fmla="val 2791"/>
            </a:avLst>
          </a:prstGeom>
          <a:solidFill>
            <a:srgbClr val="DCEEF5"/>
          </a:solidFill>
          <a:ln w="12700">
            <a:solidFill>
              <a:srgbClr val="5A6B75"/>
            </a:solidFill>
            <a:prstDash val="solid"/>
          </a:ln>
        </p:spPr>
        <p:txBody>
          <a:bodyPr/>
          <a:lstStyle/>
          <a:p>
            <a:endParaRPr lang="en-US"/>
          </a:p>
        </p:txBody>
      </p:sp>
      <p:sp>
        <p:nvSpPr>
          <p:cNvPr id="46" name="Text 44"/>
          <p:cNvSpPr/>
          <p:nvPr/>
        </p:nvSpPr>
        <p:spPr>
          <a:xfrm>
            <a:off x="7699248" y="1225296"/>
            <a:ext cx="3758184" cy="1728216"/>
          </a:xfrm>
          <a:prstGeom prst="rect">
            <a:avLst/>
          </a:prstGeom>
          <a:noFill/>
          <a:ln/>
        </p:spPr>
        <p:txBody>
          <a:bodyPr wrap="square" rtlCol="0" anchor="t"/>
          <a:lstStyle/>
          <a:p>
            <a:pPr marL="0" indent="0">
              <a:lnSpc>
                <a:spcPct val="110000"/>
              </a:lnSpc>
              <a:spcAft>
                <a:spcPts val="400"/>
              </a:spcAft>
              <a:buNone/>
            </a:pPr>
            <a:r>
              <a:rPr lang="en-US" sz="1250" b="1" dirty="0">
                <a:solidFill>
                  <a:srgbClr val="1B3A4B"/>
                </a:solidFill>
                <a:latin typeface="Calibri" pitchFamily="34" charset="0"/>
                <a:ea typeface="Calibri" pitchFamily="34" charset="-122"/>
                <a:cs typeface="Calibri" pitchFamily="34" charset="-120"/>
              </a:rPr>
              <a:t>Runtime configuration</a:t>
            </a:r>
            <a:endParaRPr lang="en-US" sz="1250" dirty="0"/>
          </a:p>
          <a:p>
            <a:pPr marL="342900" indent="-342900">
              <a:lnSpc>
                <a:spcPct val="110000"/>
              </a:lnSpc>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Branding</a:t>
            </a:r>
            <a:endParaRPr lang="en-US" sz="1250" dirty="0"/>
          </a:p>
          <a:p>
            <a:pPr marL="342900" indent="-342900">
              <a:lnSpc>
                <a:spcPct val="110000"/>
              </a:lnSpc>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Currency</a:t>
            </a:r>
            <a:endParaRPr lang="en-US" sz="1250" dirty="0"/>
          </a:p>
          <a:p>
            <a:pPr marL="342900" indent="-342900">
              <a:lnSpc>
                <a:spcPct val="110000"/>
              </a:lnSpc>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Feature flags</a:t>
            </a:r>
            <a:endParaRPr lang="en-US" sz="1250" dirty="0"/>
          </a:p>
          <a:p>
            <a:pPr marL="342900" indent="-342900">
              <a:lnSpc>
                <a:spcPct val="110000"/>
              </a:lnSpc>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Payment instructions</a:t>
            </a:r>
            <a:endParaRPr lang="en-US" sz="1250" dirty="0"/>
          </a:p>
          <a:p>
            <a:pPr marL="342900" indent="-342900">
              <a:lnSpc>
                <a:spcPct val="110000"/>
              </a:lnSpc>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Content</a:t>
            </a:r>
            <a:endParaRPr lang="en-US" sz="1250" dirty="0"/>
          </a:p>
          <a:p>
            <a:pPr marL="342900" indent="-342900">
              <a:lnSpc>
                <a:spcPct val="110000"/>
              </a:lnSpc>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Membership presentation</a:t>
            </a:r>
            <a:endParaRPr lang="en-US" sz="1250" dirty="0"/>
          </a:p>
        </p:txBody>
      </p:sp>
      <p:sp>
        <p:nvSpPr>
          <p:cNvPr id="47" name="Shape 45"/>
          <p:cNvSpPr/>
          <p:nvPr/>
        </p:nvSpPr>
        <p:spPr>
          <a:xfrm>
            <a:off x="7498080" y="3200400"/>
            <a:ext cx="4160520" cy="1965960"/>
          </a:xfrm>
          <a:prstGeom prst="roundRect">
            <a:avLst>
              <a:gd name="adj" fmla="val 2791"/>
            </a:avLst>
          </a:prstGeom>
          <a:solidFill>
            <a:srgbClr val="EEF2F4"/>
          </a:solidFill>
          <a:ln w="12700">
            <a:solidFill>
              <a:srgbClr val="5A6B75"/>
            </a:solidFill>
            <a:prstDash val="solid"/>
          </a:ln>
        </p:spPr>
        <p:txBody>
          <a:bodyPr/>
          <a:lstStyle/>
          <a:p>
            <a:endParaRPr lang="en-US"/>
          </a:p>
        </p:txBody>
      </p:sp>
      <p:sp>
        <p:nvSpPr>
          <p:cNvPr id="48" name="Text 46"/>
          <p:cNvSpPr/>
          <p:nvPr/>
        </p:nvSpPr>
        <p:spPr>
          <a:xfrm>
            <a:off x="7699248" y="3328416"/>
            <a:ext cx="3758184" cy="1728216"/>
          </a:xfrm>
          <a:prstGeom prst="rect">
            <a:avLst/>
          </a:prstGeom>
          <a:noFill/>
          <a:ln/>
        </p:spPr>
        <p:txBody>
          <a:bodyPr wrap="square" rtlCol="0" anchor="t"/>
          <a:lstStyle/>
          <a:p>
            <a:pPr marL="0" indent="0">
              <a:lnSpc>
                <a:spcPct val="110000"/>
              </a:lnSpc>
              <a:spcAft>
                <a:spcPts val="400"/>
              </a:spcAft>
              <a:buNone/>
            </a:pPr>
            <a:r>
              <a:rPr lang="en-US" sz="1250" b="1" dirty="0">
                <a:solidFill>
                  <a:srgbClr val="1B3A4B"/>
                </a:solidFill>
                <a:latin typeface="Calibri" pitchFamily="34" charset="0"/>
                <a:ea typeface="Calibri" pitchFamily="34" charset="-122"/>
                <a:cs typeface="Calibri" pitchFamily="34" charset="-120"/>
              </a:rPr>
              <a:t>Boot profile</a:t>
            </a:r>
            <a:endParaRPr lang="en-US" sz="1250" dirty="0"/>
          </a:p>
          <a:p>
            <a:pPr marL="342900" indent="-342900">
              <a:lnSpc>
                <a:spcPct val="110000"/>
              </a:lnSpc>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Seed data</a:t>
            </a:r>
            <a:endParaRPr lang="en-US" sz="1250" dirty="0"/>
          </a:p>
          <a:p>
            <a:pPr marL="342900" indent="-342900">
              <a:lnSpc>
                <a:spcPct val="110000"/>
              </a:lnSpc>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Assets</a:t>
            </a:r>
            <a:endParaRPr lang="en-US" sz="1250" dirty="0"/>
          </a:p>
          <a:p>
            <a:pPr marL="342900" indent="-342900">
              <a:lnSpc>
                <a:spcPct val="110000"/>
              </a:lnSpc>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Documents</a:t>
            </a:r>
            <a:endParaRPr lang="en-US" sz="1250" dirty="0"/>
          </a:p>
          <a:p>
            <a:pPr marL="342900" indent="-342900">
              <a:lnSpc>
                <a:spcPct val="110000"/>
              </a:lnSpc>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Email templates</a:t>
            </a:r>
            <a:endParaRPr lang="en-US" sz="1250" dirty="0"/>
          </a:p>
          <a:p>
            <a:pPr marL="342900" indent="-342900">
              <a:lnSpc>
                <a:spcPct val="110000"/>
              </a:lnSpc>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Membership tiers</a:t>
            </a:r>
            <a:endParaRPr lang="en-US" sz="1250" dirty="0"/>
          </a:p>
          <a:p>
            <a:pPr marL="342900" indent="-342900">
              <a:lnSpc>
                <a:spcPct val="110000"/>
              </a:lnSpc>
              <a:spcAft>
                <a:spcPts val="300"/>
              </a:spcAft>
              <a:buSzPct val="100000"/>
              <a:buChar char="▪"/>
            </a:pPr>
            <a:r>
              <a:rPr lang="en-US" sz="1050" dirty="0">
                <a:solidFill>
                  <a:srgbClr val="1F2933"/>
                </a:solidFill>
                <a:latin typeface="Calibri" pitchFamily="34" charset="0"/>
                <a:ea typeface="Calibri" pitchFamily="34" charset="-122"/>
                <a:cs typeface="Calibri" pitchFamily="34" charset="-120"/>
              </a:rPr>
              <a:t>SEO information</a:t>
            </a:r>
            <a:endParaRPr lang="en-US" sz="1250" dirty="0"/>
          </a:p>
        </p:txBody>
      </p:sp>
      <p:sp>
        <p:nvSpPr>
          <p:cNvPr id="49" name="Text 47"/>
          <p:cNvSpPr/>
          <p:nvPr/>
        </p:nvSpPr>
        <p:spPr>
          <a:xfrm>
            <a:off x="502920" y="5166360"/>
            <a:ext cx="11155680" cy="548640"/>
          </a:xfrm>
          <a:prstGeom prst="rect">
            <a:avLst/>
          </a:prstGeom>
          <a:noFill/>
          <a:ln/>
        </p:spPr>
        <p:txBody>
          <a:bodyPr wrap="square" rtlCol="0" anchor="ctr"/>
          <a:lstStyle/>
          <a:p>
            <a:pPr marL="0" indent="0" algn="l">
              <a:buNone/>
            </a:pPr>
            <a:r>
              <a:rPr lang="en-US" sz="1100" i="1" dirty="0">
                <a:solidFill>
                  <a:srgbClr val="5A6B75"/>
                </a:solidFill>
                <a:latin typeface="Calibri" pitchFamily="34" charset="0"/>
                <a:ea typeface="Calibri" pitchFamily="34" charset="-122"/>
                <a:cs typeface="Calibri" pitchFamily="34" charset="-120"/>
              </a:rPr>
              <a:t>Current prototype: substantial configuration support implemented; complete zero-source-change onboarding remains future/refinement work.</a:t>
            </a:r>
            <a:endParaRPr lang="en-US" sz="1100" dirty="0"/>
          </a:p>
        </p:txBody>
      </p:sp>
      <p:sp>
        <p:nvSpPr>
          <p:cNvPr id="51" name="Text 48"/>
          <p:cNvSpPr/>
          <p:nvPr/>
        </p:nvSpPr>
        <p:spPr>
          <a:xfrm>
            <a:off x="502920" y="6547104"/>
            <a:ext cx="7315200" cy="256032"/>
          </a:xfrm>
          <a:prstGeom prst="rect">
            <a:avLst/>
          </a:prstGeom>
          <a:noFill/>
          <a:ln/>
        </p:spPr>
        <p:txBody>
          <a:bodyPr wrap="square" rtlCol="0" anchor="ctr"/>
          <a:lstStyle/>
          <a:p>
            <a:pPr marL="0" indent="0">
              <a:buNone/>
            </a:pPr>
            <a:r>
              <a:rPr lang="en-US" sz="1000" i="1" dirty="0">
                <a:solidFill>
                  <a:srgbClr val="5A6B75"/>
                </a:solidFill>
                <a:latin typeface="Calibri" pitchFamily="34" charset="0"/>
                <a:ea typeface="Calibri" pitchFamily="34" charset="-122"/>
                <a:cs typeface="Calibri" pitchFamily="34" charset="-120"/>
              </a:rPr>
              <a:t>GHCAA — Govt. Haraganga College Alumni Association</a:t>
            </a:r>
            <a:endParaRPr lang="en-US" sz="1000" dirty="0"/>
          </a:p>
        </p:txBody>
      </p:sp>
      <p:sp>
        <p:nvSpPr>
          <p:cNvPr id="52" name="Text 49"/>
          <p:cNvSpPr/>
          <p:nvPr/>
        </p:nvSpPr>
        <p:spPr>
          <a:xfrm>
            <a:off x="11521440" y="6547104"/>
            <a:ext cx="457200" cy="256032"/>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3A4B"/>
          </a:solidFill>
          <a:ln/>
        </p:spPr>
        <p:txBody>
          <a:bodyPr/>
          <a:lstStyle/>
          <a:p>
            <a:endParaRPr lang="en-US"/>
          </a:p>
        </p:txBody>
      </p:sp>
      <p:sp>
        <p:nvSpPr>
          <p:cNvPr id="3" name="Shape 1"/>
          <p:cNvSpPr/>
          <p:nvPr/>
        </p:nvSpPr>
        <p:spPr>
          <a:xfrm>
            <a:off x="0" y="960120"/>
            <a:ext cx="12191695" cy="41148"/>
          </a:xfrm>
          <a:prstGeom prst="rect">
            <a:avLst/>
          </a:prstGeom>
          <a:solidFill>
            <a:srgbClr val="C77D0A"/>
          </a:solidFill>
          <a:ln/>
        </p:spPr>
        <p:txBody>
          <a:bodyPr/>
          <a:lstStyle/>
          <a:p>
            <a:endParaRPr lang="en-US"/>
          </a:p>
        </p:txBody>
      </p:sp>
      <p:sp>
        <p:nvSpPr>
          <p:cNvPr id="4" name="Text 2"/>
          <p:cNvSpPr/>
          <p:nvPr/>
        </p:nvSpPr>
        <p:spPr>
          <a:xfrm>
            <a:off x="502920" y="128016"/>
            <a:ext cx="10058400" cy="256032"/>
          </a:xfrm>
          <a:prstGeom prst="rect">
            <a:avLst/>
          </a:prstGeom>
          <a:noFill/>
          <a:ln/>
        </p:spPr>
        <p:txBody>
          <a:bodyPr wrap="square" rtlCol="0" anchor="ctr"/>
          <a:lstStyle/>
          <a:p>
            <a:pPr marL="0" indent="0">
              <a:buNone/>
            </a:pPr>
            <a:r>
              <a:rPr lang="en-US" sz="1200" b="1" kern="0" spc="200" dirty="0">
                <a:solidFill>
                  <a:srgbClr val="C77D0A"/>
                </a:solidFill>
                <a:latin typeface="Calibri" pitchFamily="34" charset="0"/>
                <a:ea typeface="Calibri" pitchFamily="34" charset="-122"/>
                <a:cs typeface="Calibri" pitchFamily="34" charset="-120"/>
              </a:rPr>
              <a:t>IMPLEMENTATION &amp; QUALITY</a:t>
            </a:r>
            <a:endParaRPr lang="en-US" sz="1200" dirty="0"/>
          </a:p>
        </p:txBody>
      </p:sp>
      <p:sp>
        <p:nvSpPr>
          <p:cNvPr id="5" name="Text 3"/>
          <p:cNvSpPr/>
          <p:nvPr/>
        </p:nvSpPr>
        <p:spPr>
          <a:xfrm>
            <a:off x="502920" y="384048"/>
            <a:ext cx="11155680" cy="530352"/>
          </a:xfrm>
          <a:prstGeom prst="rect">
            <a:avLst/>
          </a:prstGeom>
          <a:noFill/>
          <a:ln/>
        </p:spPr>
        <p:txBody>
          <a:bodyPr wrap="square"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Building the system was only half the work</a:t>
            </a:r>
            <a:endParaRPr lang="en-US" sz="2700" dirty="0"/>
          </a:p>
        </p:txBody>
      </p:sp>
      <p:sp>
        <p:nvSpPr>
          <p:cNvPr id="6" name="Text 4"/>
          <p:cNvSpPr/>
          <p:nvPr/>
        </p:nvSpPr>
        <p:spPr>
          <a:xfrm>
            <a:off x="10561320" y="365760"/>
            <a:ext cx="1234440" cy="274320"/>
          </a:xfrm>
          <a:prstGeom prst="rect">
            <a:avLst/>
          </a:prstGeom>
          <a:noFill/>
          <a:ln/>
        </p:spPr>
        <p:txBody>
          <a:bodyPr wrap="square"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~1:00</a:t>
            </a:r>
            <a:endParaRPr lang="en-US" sz="1050" dirty="0"/>
          </a:p>
        </p:txBody>
      </p:sp>
      <p:sp>
        <p:nvSpPr>
          <p:cNvPr id="7" name="Shape 5"/>
          <p:cNvSpPr/>
          <p:nvPr/>
        </p:nvSpPr>
        <p:spPr>
          <a:xfrm>
            <a:off x="502920" y="1143000"/>
            <a:ext cx="1515291" cy="502920"/>
          </a:xfrm>
          <a:prstGeom prst="roundRect">
            <a:avLst>
              <a:gd name="adj" fmla="val 10909"/>
            </a:avLst>
          </a:prstGeom>
          <a:solidFill>
            <a:srgbClr val="DCEEF5"/>
          </a:solidFill>
          <a:ln w="12700">
            <a:solidFill>
              <a:srgbClr val="2E86AB"/>
            </a:solidFill>
            <a:prstDash val="solid"/>
          </a:ln>
        </p:spPr>
        <p:txBody>
          <a:bodyPr/>
          <a:lstStyle/>
          <a:p>
            <a:endParaRPr lang="en-US"/>
          </a:p>
        </p:txBody>
      </p:sp>
      <p:sp>
        <p:nvSpPr>
          <p:cNvPr id="8" name="Text 6"/>
          <p:cNvSpPr/>
          <p:nvPr/>
        </p:nvSpPr>
        <p:spPr>
          <a:xfrm>
            <a:off x="502920" y="1143000"/>
            <a:ext cx="1515291" cy="502920"/>
          </a:xfrm>
          <a:prstGeom prst="rect">
            <a:avLst/>
          </a:prstGeom>
          <a:noFill/>
          <a:ln/>
        </p:spPr>
        <p:txBody>
          <a:bodyPr wrap="square" rtlCol="0" anchor="ctr"/>
          <a:lstStyle/>
          <a:p>
            <a:pPr marL="0" indent="0" algn="ctr">
              <a:buNone/>
            </a:pPr>
            <a:r>
              <a:rPr lang="en-US" sz="950" b="1" dirty="0">
                <a:solidFill>
                  <a:srgbClr val="1F2933"/>
                </a:solidFill>
                <a:latin typeface="Calibri" pitchFamily="34" charset="0"/>
                <a:ea typeface="Calibri" pitchFamily="34" charset="-122"/>
                <a:cs typeface="Calibri" pitchFamily="34" charset="-120"/>
              </a:rPr>
              <a:t>Architecture</a:t>
            </a:r>
            <a:endParaRPr lang="en-US" sz="950" dirty="0"/>
          </a:p>
        </p:txBody>
      </p:sp>
      <p:sp>
        <p:nvSpPr>
          <p:cNvPr id="9" name="Shape 7"/>
          <p:cNvSpPr/>
          <p:nvPr/>
        </p:nvSpPr>
        <p:spPr>
          <a:xfrm>
            <a:off x="1999923" y="1280160"/>
            <a:ext cx="128016" cy="228600"/>
          </a:xfrm>
          <a:prstGeom prst="rightArrow">
            <a:avLst/>
          </a:prstGeom>
          <a:solidFill>
            <a:srgbClr val="5A6B75"/>
          </a:solidFill>
          <a:ln/>
        </p:spPr>
        <p:txBody>
          <a:bodyPr/>
          <a:lstStyle/>
          <a:p>
            <a:endParaRPr lang="en-US"/>
          </a:p>
        </p:txBody>
      </p:sp>
      <p:sp>
        <p:nvSpPr>
          <p:cNvPr id="10" name="Shape 8"/>
          <p:cNvSpPr/>
          <p:nvPr/>
        </p:nvSpPr>
        <p:spPr>
          <a:xfrm>
            <a:off x="2109651" y="1143000"/>
            <a:ext cx="1515291" cy="502920"/>
          </a:xfrm>
          <a:prstGeom prst="roundRect">
            <a:avLst>
              <a:gd name="adj" fmla="val 10909"/>
            </a:avLst>
          </a:prstGeom>
          <a:solidFill>
            <a:srgbClr val="DCEEF5"/>
          </a:solidFill>
          <a:ln w="12700">
            <a:solidFill>
              <a:srgbClr val="2E86AB"/>
            </a:solidFill>
            <a:prstDash val="solid"/>
          </a:ln>
        </p:spPr>
        <p:txBody>
          <a:bodyPr/>
          <a:lstStyle/>
          <a:p>
            <a:endParaRPr lang="en-US"/>
          </a:p>
        </p:txBody>
      </p:sp>
      <p:sp>
        <p:nvSpPr>
          <p:cNvPr id="11" name="Text 9"/>
          <p:cNvSpPr/>
          <p:nvPr/>
        </p:nvSpPr>
        <p:spPr>
          <a:xfrm>
            <a:off x="2109651" y="1143000"/>
            <a:ext cx="1515291" cy="502920"/>
          </a:xfrm>
          <a:prstGeom prst="rect">
            <a:avLst/>
          </a:prstGeom>
          <a:noFill/>
          <a:ln/>
        </p:spPr>
        <p:txBody>
          <a:bodyPr wrap="square" rtlCol="0" anchor="ctr"/>
          <a:lstStyle/>
          <a:p>
            <a:pPr marL="0" indent="0" algn="ctr">
              <a:buNone/>
            </a:pPr>
            <a:r>
              <a:rPr lang="en-US" sz="950" b="1" dirty="0">
                <a:solidFill>
                  <a:srgbClr val="1F2933"/>
                </a:solidFill>
                <a:latin typeface="Calibri" pitchFamily="34" charset="0"/>
                <a:ea typeface="Calibri" pitchFamily="34" charset="-122"/>
                <a:cs typeface="Calibri" pitchFamily="34" charset="-120"/>
              </a:rPr>
              <a:t>Implementation</a:t>
            </a:r>
            <a:endParaRPr lang="en-US" sz="950" dirty="0"/>
          </a:p>
        </p:txBody>
      </p:sp>
      <p:sp>
        <p:nvSpPr>
          <p:cNvPr id="12" name="Shape 10"/>
          <p:cNvSpPr/>
          <p:nvPr/>
        </p:nvSpPr>
        <p:spPr>
          <a:xfrm>
            <a:off x="3606655" y="1280160"/>
            <a:ext cx="128016" cy="228600"/>
          </a:xfrm>
          <a:prstGeom prst="rightArrow">
            <a:avLst/>
          </a:prstGeom>
          <a:solidFill>
            <a:srgbClr val="5A6B75"/>
          </a:solidFill>
          <a:ln/>
        </p:spPr>
        <p:txBody>
          <a:bodyPr/>
          <a:lstStyle/>
          <a:p>
            <a:endParaRPr lang="en-US"/>
          </a:p>
        </p:txBody>
      </p:sp>
      <p:sp>
        <p:nvSpPr>
          <p:cNvPr id="13" name="Shape 11"/>
          <p:cNvSpPr/>
          <p:nvPr/>
        </p:nvSpPr>
        <p:spPr>
          <a:xfrm>
            <a:off x="3716383" y="1143000"/>
            <a:ext cx="1515291" cy="502920"/>
          </a:xfrm>
          <a:prstGeom prst="roundRect">
            <a:avLst>
              <a:gd name="adj" fmla="val 10909"/>
            </a:avLst>
          </a:prstGeom>
          <a:solidFill>
            <a:srgbClr val="DCEEF5"/>
          </a:solidFill>
          <a:ln w="12700">
            <a:solidFill>
              <a:srgbClr val="2E86AB"/>
            </a:solidFill>
            <a:prstDash val="solid"/>
          </a:ln>
        </p:spPr>
        <p:txBody>
          <a:bodyPr/>
          <a:lstStyle/>
          <a:p>
            <a:endParaRPr lang="en-US"/>
          </a:p>
        </p:txBody>
      </p:sp>
      <p:sp>
        <p:nvSpPr>
          <p:cNvPr id="14" name="Text 12"/>
          <p:cNvSpPr/>
          <p:nvPr/>
        </p:nvSpPr>
        <p:spPr>
          <a:xfrm>
            <a:off x="3716383" y="1143000"/>
            <a:ext cx="1515291" cy="502920"/>
          </a:xfrm>
          <a:prstGeom prst="rect">
            <a:avLst/>
          </a:prstGeom>
          <a:noFill/>
          <a:ln/>
        </p:spPr>
        <p:txBody>
          <a:bodyPr wrap="square" rtlCol="0" anchor="ctr"/>
          <a:lstStyle/>
          <a:p>
            <a:pPr marL="0" indent="0" algn="ctr">
              <a:buNone/>
            </a:pPr>
            <a:r>
              <a:rPr lang="en-US" sz="950" b="1" dirty="0">
                <a:solidFill>
                  <a:srgbClr val="1F2933"/>
                </a:solidFill>
                <a:latin typeface="Calibri" pitchFamily="34" charset="0"/>
                <a:ea typeface="Calibri" pitchFamily="34" charset="-122"/>
                <a:cs typeface="Calibri" pitchFamily="34" charset="-120"/>
              </a:rPr>
              <a:t>Integration</a:t>
            </a:r>
            <a:endParaRPr lang="en-US" sz="950" dirty="0"/>
          </a:p>
        </p:txBody>
      </p:sp>
      <p:sp>
        <p:nvSpPr>
          <p:cNvPr id="15" name="Shape 13"/>
          <p:cNvSpPr/>
          <p:nvPr/>
        </p:nvSpPr>
        <p:spPr>
          <a:xfrm>
            <a:off x="5213386" y="1280160"/>
            <a:ext cx="128016" cy="228600"/>
          </a:xfrm>
          <a:prstGeom prst="rightArrow">
            <a:avLst/>
          </a:prstGeom>
          <a:solidFill>
            <a:srgbClr val="5A6B75"/>
          </a:solidFill>
          <a:ln/>
        </p:spPr>
        <p:txBody>
          <a:bodyPr/>
          <a:lstStyle/>
          <a:p>
            <a:endParaRPr lang="en-US"/>
          </a:p>
        </p:txBody>
      </p:sp>
      <p:sp>
        <p:nvSpPr>
          <p:cNvPr id="16" name="Shape 14"/>
          <p:cNvSpPr/>
          <p:nvPr/>
        </p:nvSpPr>
        <p:spPr>
          <a:xfrm>
            <a:off x="5323114" y="1143000"/>
            <a:ext cx="1515291" cy="502920"/>
          </a:xfrm>
          <a:prstGeom prst="roundRect">
            <a:avLst>
              <a:gd name="adj" fmla="val 10909"/>
            </a:avLst>
          </a:prstGeom>
          <a:solidFill>
            <a:srgbClr val="DCEEF5"/>
          </a:solidFill>
          <a:ln w="12700">
            <a:solidFill>
              <a:srgbClr val="2E86AB"/>
            </a:solidFill>
            <a:prstDash val="solid"/>
          </a:ln>
        </p:spPr>
        <p:txBody>
          <a:bodyPr/>
          <a:lstStyle/>
          <a:p>
            <a:endParaRPr lang="en-US"/>
          </a:p>
        </p:txBody>
      </p:sp>
      <p:sp>
        <p:nvSpPr>
          <p:cNvPr id="17" name="Text 15"/>
          <p:cNvSpPr/>
          <p:nvPr/>
        </p:nvSpPr>
        <p:spPr>
          <a:xfrm>
            <a:off x="5323114" y="1143000"/>
            <a:ext cx="1515291" cy="502920"/>
          </a:xfrm>
          <a:prstGeom prst="rect">
            <a:avLst/>
          </a:prstGeom>
          <a:noFill/>
          <a:ln/>
        </p:spPr>
        <p:txBody>
          <a:bodyPr wrap="square" rtlCol="0" anchor="ctr"/>
          <a:lstStyle/>
          <a:p>
            <a:pPr marL="0" indent="0" algn="ctr">
              <a:buNone/>
            </a:pPr>
            <a:r>
              <a:rPr lang="en-US" sz="950" b="1" dirty="0">
                <a:solidFill>
                  <a:srgbClr val="1F2933"/>
                </a:solidFill>
                <a:latin typeface="Calibri" pitchFamily="34" charset="0"/>
                <a:ea typeface="Calibri" pitchFamily="34" charset="-122"/>
                <a:cs typeface="Calibri" pitchFamily="34" charset="-120"/>
              </a:rPr>
              <a:t>Automated Testing</a:t>
            </a:r>
            <a:endParaRPr lang="en-US" sz="950" dirty="0"/>
          </a:p>
        </p:txBody>
      </p:sp>
      <p:sp>
        <p:nvSpPr>
          <p:cNvPr id="18" name="Shape 16"/>
          <p:cNvSpPr/>
          <p:nvPr/>
        </p:nvSpPr>
        <p:spPr>
          <a:xfrm>
            <a:off x="6820118" y="1280160"/>
            <a:ext cx="128016" cy="228600"/>
          </a:xfrm>
          <a:prstGeom prst="rightArrow">
            <a:avLst/>
          </a:prstGeom>
          <a:solidFill>
            <a:srgbClr val="5A6B75"/>
          </a:solidFill>
          <a:ln/>
        </p:spPr>
        <p:txBody>
          <a:bodyPr/>
          <a:lstStyle/>
          <a:p>
            <a:endParaRPr lang="en-US"/>
          </a:p>
        </p:txBody>
      </p:sp>
      <p:sp>
        <p:nvSpPr>
          <p:cNvPr id="19" name="Shape 17"/>
          <p:cNvSpPr/>
          <p:nvPr/>
        </p:nvSpPr>
        <p:spPr>
          <a:xfrm>
            <a:off x="6929846" y="1143000"/>
            <a:ext cx="1515291" cy="502920"/>
          </a:xfrm>
          <a:prstGeom prst="roundRect">
            <a:avLst>
              <a:gd name="adj" fmla="val 10909"/>
            </a:avLst>
          </a:prstGeom>
          <a:solidFill>
            <a:srgbClr val="DCEEF5"/>
          </a:solidFill>
          <a:ln w="12700">
            <a:solidFill>
              <a:srgbClr val="2E86AB"/>
            </a:solidFill>
            <a:prstDash val="solid"/>
          </a:ln>
        </p:spPr>
        <p:txBody>
          <a:bodyPr/>
          <a:lstStyle/>
          <a:p>
            <a:endParaRPr lang="en-US"/>
          </a:p>
        </p:txBody>
      </p:sp>
      <p:sp>
        <p:nvSpPr>
          <p:cNvPr id="20" name="Text 18"/>
          <p:cNvSpPr/>
          <p:nvPr/>
        </p:nvSpPr>
        <p:spPr>
          <a:xfrm>
            <a:off x="6929846" y="1143000"/>
            <a:ext cx="1515291" cy="502920"/>
          </a:xfrm>
          <a:prstGeom prst="rect">
            <a:avLst/>
          </a:prstGeom>
          <a:noFill/>
          <a:ln/>
        </p:spPr>
        <p:txBody>
          <a:bodyPr wrap="square" rtlCol="0" anchor="ctr"/>
          <a:lstStyle/>
          <a:p>
            <a:pPr marL="0" indent="0" algn="ctr">
              <a:buNone/>
            </a:pPr>
            <a:r>
              <a:rPr lang="en-US" sz="950" b="1" dirty="0">
                <a:solidFill>
                  <a:srgbClr val="1F2933"/>
                </a:solidFill>
                <a:latin typeface="Calibri" pitchFamily="34" charset="0"/>
                <a:ea typeface="Calibri" pitchFamily="34" charset="-122"/>
                <a:cs typeface="Calibri" pitchFamily="34" charset="-120"/>
              </a:rPr>
              <a:t>Quality Checks</a:t>
            </a:r>
            <a:endParaRPr lang="en-US" sz="950" dirty="0"/>
          </a:p>
        </p:txBody>
      </p:sp>
      <p:sp>
        <p:nvSpPr>
          <p:cNvPr id="21" name="Shape 19"/>
          <p:cNvSpPr/>
          <p:nvPr/>
        </p:nvSpPr>
        <p:spPr>
          <a:xfrm>
            <a:off x="8426849" y="1280160"/>
            <a:ext cx="128016" cy="228600"/>
          </a:xfrm>
          <a:prstGeom prst="rightArrow">
            <a:avLst/>
          </a:prstGeom>
          <a:solidFill>
            <a:srgbClr val="5A6B75"/>
          </a:solidFill>
          <a:ln/>
        </p:spPr>
        <p:txBody>
          <a:bodyPr/>
          <a:lstStyle/>
          <a:p>
            <a:endParaRPr lang="en-US"/>
          </a:p>
        </p:txBody>
      </p:sp>
      <p:sp>
        <p:nvSpPr>
          <p:cNvPr id="22" name="Shape 20"/>
          <p:cNvSpPr/>
          <p:nvPr/>
        </p:nvSpPr>
        <p:spPr>
          <a:xfrm>
            <a:off x="8536577" y="1143000"/>
            <a:ext cx="1515291" cy="502920"/>
          </a:xfrm>
          <a:prstGeom prst="roundRect">
            <a:avLst>
              <a:gd name="adj" fmla="val 10909"/>
            </a:avLst>
          </a:prstGeom>
          <a:solidFill>
            <a:srgbClr val="DCEEF5"/>
          </a:solidFill>
          <a:ln w="12700">
            <a:solidFill>
              <a:srgbClr val="2E86AB"/>
            </a:solidFill>
            <a:prstDash val="solid"/>
          </a:ln>
        </p:spPr>
        <p:txBody>
          <a:bodyPr/>
          <a:lstStyle/>
          <a:p>
            <a:endParaRPr lang="en-US"/>
          </a:p>
        </p:txBody>
      </p:sp>
      <p:sp>
        <p:nvSpPr>
          <p:cNvPr id="23" name="Text 21"/>
          <p:cNvSpPr/>
          <p:nvPr/>
        </p:nvSpPr>
        <p:spPr>
          <a:xfrm>
            <a:off x="8536577" y="1143000"/>
            <a:ext cx="1515291" cy="502920"/>
          </a:xfrm>
          <a:prstGeom prst="rect">
            <a:avLst/>
          </a:prstGeom>
          <a:noFill/>
          <a:ln/>
        </p:spPr>
        <p:txBody>
          <a:bodyPr wrap="square" rtlCol="0" anchor="ctr"/>
          <a:lstStyle/>
          <a:p>
            <a:pPr marL="0" indent="0" algn="ctr">
              <a:buNone/>
            </a:pPr>
            <a:r>
              <a:rPr lang="en-US" sz="950" b="1" dirty="0">
                <a:solidFill>
                  <a:srgbClr val="1F2933"/>
                </a:solidFill>
                <a:latin typeface="Calibri" pitchFamily="34" charset="0"/>
                <a:ea typeface="Calibri" pitchFamily="34" charset="-122"/>
                <a:cs typeface="Calibri" pitchFamily="34" charset="-120"/>
              </a:rPr>
              <a:t>Deployment</a:t>
            </a:r>
            <a:endParaRPr lang="en-US" sz="950" dirty="0"/>
          </a:p>
        </p:txBody>
      </p:sp>
      <p:sp>
        <p:nvSpPr>
          <p:cNvPr id="24" name="Shape 22"/>
          <p:cNvSpPr/>
          <p:nvPr/>
        </p:nvSpPr>
        <p:spPr>
          <a:xfrm>
            <a:off x="10033581" y="1280160"/>
            <a:ext cx="128016" cy="228600"/>
          </a:xfrm>
          <a:prstGeom prst="rightArrow">
            <a:avLst/>
          </a:prstGeom>
          <a:solidFill>
            <a:srgbClr val="5A6B75"/>
          </a:solidFill>
          <a:ln/>
        </p:spPr>
        <p:txBody>
          <a:bodyPr/>
          <a:lstStyle/>
          <a:p>
            <a:endParaRPr lang="en-US"/>
          </a:p>
        </p:txBody>
      </p:sp>
      <p:sp>
        <p:nvSpPr>
          <p:cNvPr id="25" name="Shape 23"/>
          <p:cNvSpPr/>
          <p:nvPr/>
        </p:nvSpPr>
        <p:spPr>
          <a:xfrm>
            <a:off x="10143309" y="1143000"/>
            <a:ext cx="1515291" cy="502920"/>
          </a:xfrm>
          <a:prstGeom prst="roundRect">
            <a:avLst>
              <a:gd name="adj" fmla="val 10909"/>
            </a:avLst>
          </a:prstGeom>
          <a:solidFill>
            <a:srgbClr val="FBEBD3"/>
          </a:solidFill>
          <a:ln w="12700">
            <a:solidFill>
              <a:srgbClr val="C77D0A"/>
            </a:solidFill>
            <a:prstDash val="solid"/>
          </a:ln>
        </p:spPr>
        <p:txBody>
          <a:bodyPr/>
          <a:lstStyle/>
          <a:p>
            <a:endParaRPr lang="en-US"/>
          </a:p>
        </p:txBody>
      </p:sp>
      <p:sp>
        <p:nvSpPr>
          <p:cNvPr id="26" name="Text 24"/>
          <p:cNvSpPr/>
          <p:nvPr/>
        </p:nvSpPr>
        <p:spPr>
          <a:xfrm>
            <a:off x="10143309" y="1143000"/>
            <a:ext cx="1515291" cy="502920"/>
          </a:xfrm>
          <a:prstGeom prst="rect">
            <a:avLst/>
          </a:prstGeom>
          <a:noFill/>
          <a:ln/>
        </p:spPr>
        <p:txBody>
          <a:bodyPr wrap="square" rtlCol="0" anchor="ctr"/>
          <a:lstStyle/>
          <a:p>
            <a:pPr marL="0" indent="0" algn="ctr">
              <a:buNone/>
            </a:pPr>
            <a:r>
              <a:rPr lang="en-US" sz="950" b="1" dirty="0">
                <a:solidFill>
                  <a:srgbClr val="1F2933"/>
                </a:solidFill>
                <a:latin typeface="Calibri" pitchFamily="34" charset="0"/>
                <a:ea typeface="Calibri" pitchFamily="34" charset="-122"/>
                <a:cs typeface="Calibri" pitchFamily="34" charset="-120"/>
              </a:rPr>
              <a:t>Evaluation</a:t>
            </a:r>
            <a:endParaRPr lang="en-US" sz="950" dirty="0"/>
          </a:p>
        </p:txBody>
      </p:sp>
      <p:sp>
        <p:nvSpPr>
          <p:cNvPr id="27" name="Shape 25"/>
          <p:cNvSpPr/>
          <p:nvPr/>
        </p:nvSpPr>
        <p:spPr>
          <a:xfrm>
            <a:off x="502920" y="1965960"/>
            <a:ext cx="2665476" cy="1737360"/>
          </a:xfrm>
          <a:prstGeom prst="roundRect">
            <a:avLst>
              <a:gd name="adj" fmla="val 3158"/>
            </a:avLst>
          </a:prstGeom>
          <a:solidFill>
            <a:srgbClr val="EEF2F4"/>
          </a:solidFill>
          <a:ln w="12700">
            <a:solidFill>
              <a:srgbClr val="5A6B75"/>
            </a:solidFill>
            <a:prstDash val="solid"/>
          </a:ln>
        </p:spPr>
        <p:txBody>
          <a:bodyPr/>
          <a:lstStyle/>
          <a:p>
            <a:endParaRPr lang="en-US"/>
          </a:p>
        </p:txBody>
      </p:sp>
      <p:sp>
        <p:nvSpPr>
          <p:cNvPr id="28" name="Text 26"/>
          <p:cNvSpPr/>
          <p:nvPr/>
        </p:nvSpPr>
        <p:spPr>
          <a:xfrm>
            <a:off x="704088" y="2093976"/>
            <a:ext cx="2263140" cy="1499616"/>
          </a:xfrm>
          <a:prstGeom prst="rect">
            <a:avLst/>
          </a:prstGeom>
          <a:noFill/>
          <a:ln/>
        </p:spPr>
        <p:txBody>
          <a:bodyPr wrap="square" rtlCol="0" anchor="t"/>
          <a:lstStyle/>
          <a:p>
            <a:pPr marL="0" indent="0">
              <a:lnSpc>
                <a:spcPct val="110000"/>
              </a:lnSpc>
              <a:spcAft>
                <a:spcPts val="400"/>
              </a:spcAft>
              <a:buNone/>
            </a:pPr>
            <a:r>
              <a:rPr lang="en-US" sz="1250" b="1" dirty="0">
                <a:solidFill>
                  <a:srgbClr val="1B3A4B"/>
                </a:solidFill>
                <a:latin typeface="Calibri" pitchFamily="34" charset="0"/>
                <a:ea typeface="Calibri" pitchFamily="34" charset="-122"/>
                <a:cs typeface="Calibri" pitchFamily="34" charset="-120"/>
              </a:rPr>
              <a:t>Web</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Angular + TypeScript</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Vitest</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Playwright</a:t>
            </a:r>
            <a:endParaRPr lang="en-US" sz="1250" dirty="0"/>
          </a:p>
        </p:txBody>
      </p:sp>
      <p:sp>
        <p:nvSpPr>
          <p:cNvPr id="29" name="Shape 27"/>
          <p:cNvSpPr/>
          <p:nvPr/>
        </p:nvSpPr>
        <p:spPr>
          <a:xfrm>
            <a:off x="3332988" y="1965960"/>
            <a:ext cx="2665476" cy="1737360"/>
          </a:xfrm>
          <a:prstGeom prst="roundRect">
            <a:avLst>
              <a:gd name="adj" fmla="val 3158"/>
            </a:avLst>
          </a:prstGeom>
          <a:solidFill>
            <a:srgbClr val="EEF2F4"/>
          </a:solidFill>
          <a:ln w="12700">
            <a:solidFill>
              <a:srgbClr val="5A6B75"/>
            </a:solidFill>
            <a:prstDash val="solid"/>
          </a:ln>
        </p:spPr>
        <p:txBody>
          <a:bodyPr/>
          <a:lstStyle/>
          <a:p>
            <a:endParaRPr lang="en-US"/>
          </a:p>
        </p:txBody>
      </p:sp>
      <p:sp>
        <p:nvSpPr>
          <p:cNvPr id="30" name="Text 28"/>
          <p:cNvSpPr/>
          <p:nvPr/>
        </p:nvSpPr>
        <p:spPr>
          <a:xfrm>
            <a:off x="3534156" y="2093976"/>
            <a:ext cx="2263140" cy="1499616"/>
          </a:xfrm>
          <a:prstGeom prst="rect">
            <a:avLst/>
          </a:prstGeom>
          <a:noFill/>
          <a:ln/>
        </p:spPr>
        <p:txBody>
          <a:bodyPr wrap="square" rtlCol="0" anchor="t"/>
          <a:lstStyle/>
          <a:p>
            <a:pPr marL="0" indent="0">
              <a:lnSpc>
                <a:spcPct val="110000"/>
              </a:lnSpc>
              <a:spcAft>
                <a:spcPts val="400"/>
              </a:spcAft>
              <a:buNone/>
            </a:pPr>
            <a:r>
              <a:rPr lang="en-US" sz="1250" b="1" dirty="0">
                <a:solidFill>
                  <a:srgbClr val="1B3A4B"/>
                </a:solidFill>
                <a:latin typeface="Calibri" pitchFamily="34" charset="0"/>
                <a:ea typeface="Calibri" pitchFamily="34" charset="-122"/>
                <a:cs typeface="Calibri" pitchFamily="34" charset="-120"/>
              </a:rPr>
              <a:t>Backend</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ASP.NET Core 9 + C#</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Clean Architecture</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NUnit, Moq, FluentAssertions</a:t>
            </a:r>
            <a:endParaRPr lang="en-US" sz="1250" dirty="0"/>
          </a:p>
        </p:txBody>
      </p:sp>
      <p:sp>
        <p:nvSpPr>
          <p:cNvPr id="31" name="Shape 29"/>
          <p:cNvSpPr/>
          <p:nvPr/>
        </p:nvSpPr>
        <p:spPr>
          <a:xfrm>
            <a:off x="6163056" y="1965960"/>
            <a:ext cx="2665476" cy="1737360"/>
          </a:xfrm>
          <a:prstGeom prst="roundRect">
            <a:avLst>
              <a:gd name="adj" fmla="val 3158"/>
            </a:avLst>
          </a:prstGeom>
          <a:solidFill>
            <a:srgbClr val="EEF2F4"/>
          </a:solidFill>
          <a:ln w="12700">
            <a:solidFill>
              <a:srgbClr val="5A6B75"/>
            </a:solidFill>
            <a:prstDash val="solid"/>
          </a:ln>
        </p:spPr>
        <p:txBody>
          <a:bodyPr/>
          <a:lstStyle/>
          <a:p>
            <a:endParaRPr lang="en-US"/>
          </a:p>
        </p:txBody>
      </p:sp>
      <p:sp>
        <p:nvSpPr>
          <p:cNvPr id="32" name="Text 30"/>
          <p:cNvSpPr/>
          <p:nvPr/>
        </p:nvSpPr>
        <p:spPr>
          <a:xfrm>
            <a:off x="6364224" y="2093976"/>
            <a:ext cx="2263140" cy="1499616"/>
          </a:xfrm>
          <a:prstGeom prst="rect">
            <a:avLst/>
          </a:prstGeom>
          <a:noFill/>
          <a:ln/>
        </p:spPr>
        <p:txBody>
          <a:bodyPr wrap="square" rtlCol="0" anchor="t"/>
          <a:lstStyle/>
          <a:p>
            <a:pPr marL="0" indent="0">
              <a:lnSpc>
                <a:spcPct val="110000"/>
              </a:lnSpc>
              <a:spcAft>
                <a:spcPts val="400"/>
              </a:spcAft>
              <a:buNone/>
            </a:pPr>
            <a:r>
              <a:rPr lang="en-US" sz="1250" b="1" dirty="0">
                <a:solidFill>
                  <a:srgbClr val="1B3A4B"/>
                </a:solidFill>
                <a:latin typeface="Calibri" pitchFamily="34" charset="0"/>
                <a:ea typeface="Calibri" pitchFamily="34" charset="-122"/>
                <a:cs typeface="Calibri" pitchFamily="34" charset="-120"/>
              </a:rPr>
              <a:t>Mobile</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Flutter + Dart</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Flutter Test</a:t>
            </a:r>
            <a:endParaRPr lang="en-US" sz="1250" dirty="0"/>
          </a:p>
        </p:txBody>
      </p:sp>
      <p:sp>
        <p:nvSpPr>
          <p:cNvPr id="33" name="Shape 31"/>
          <p:cNvSpPr/>
          <p:nvPr/>
        </p:nvSpPr>
        <p:spPr>
          <a:xfrm>
            <a:off x="8993124" y="1965960"/>
            <a:ext cx="2665476" cy="1737360"/>
          </a:xfrm>
          <a:prstGeom prst="roundRect">
            <a:avLst>
              <a:gd name="adj" fmla="val 3158"/>
            </a:avLst>
          </a:prstGeom>
          <a:solidFill>
            <a:srgbClr val="EEF2F4"/>
          </a:solidFill>
          <a:ln w="12700">
            <a:solidFill>
              <a:srgbClr val="5A6B75"/>
            </a:solidFill>
            <a:prstDash val="solid"/>
          </a:ln>
        </p:spPr>
        <p:txBody>
          <a:bodyPr/>
          <a:lstStyle/>
          <a:p>
            <a:endParaRPr lang="en-US"/>
          </a:p>
        </p:txBody>
      </p:sp>
      <p:sp>
        <p:nvSpPr>
          <p:cNvPr id="34" name="Text 32"/>
          <p:cNvSpPr/>
          <p:nvPr/>
        </p:nvSpPr>
        <p:spPr>
          <a:xfrm>
            <a:off x="9194292" y="2093976"/>
            <a:ext cx="2263140" cy="1499616"/>
          </a:xfrm>
          <a:prstGeom prst="rect">
            <a:avLst/>
          </a:prstGeom>
          <a:noFill/>
          <a:ln/>
        </p:spPr>
        <p:txBody>
          <a:bodyPr wrap="square" rtlCol="0" anchor="t"/>
          <a:lstStyle/>
          <a:p>
            <a:pPr marL="0" indent="0">
              <a:lnSpc>
                <a:spcPct val="110000"/>
              </a:lnSpc>
              <a:spcAft>
                <a:spcPts val="400"/>
              </a:spcAft>
              <a:buNone/>
            </a:pPr>
            <a:r>
              <a:rPr lang="en-US" sz="1250" b="1" dirty="0">
                <a:solidFill>
                  <a:srgbClr val="1B3A4B"/>
                </a:solidFill>
                <a:latin typeface="Calibri" pitchFamily="34" charset="0"/>
                <a:ea typeface="Calibri" pitchFamily="34" charset="-122"/>
                <a:cs typeface="Calibri" pitchFamily="34" charset="-120"/>
              </a:rPr>
              <a:t>Infrastructure</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PostgreSQL + SQLite</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Docker</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GitHub Actions</a:t>
            </a:r>
            <a:endParaRPr lang="en-US" sz="1250" dirty="0"/>
          </a:p>
        </p:txBody>
      </p:sp>
      <p:sp>
        <p:nvSpPr>
          <p:cNvPr id="35" name="Shape 33"/>
          <p:cNvSpPr/>
          <p:nvPr/>
        </p:nvSpPr>
        <p:spPr>
          <a:xfrm>
            <a:off x="502920" y="3794760"/>
            <a:ext cx="11155680" cy="1508760"/>
          </a:xfrm>
          <a:prstGeom prst="roundRect">
            <a:avLst>
              <a:gd name="adj" fmla="val 3636"/>
            </a:avLst>
          </a:prstGeom>
          <a:solidFill>
            <a:srgbClr val="FBEBD3"/>
          </a:solidFill>
          <a:ln w="12700">
            <a:solidFill>
              <a:srgbClr val="5A6B75"/>
            </a:solidFill>
            <a:prstDash val="solid"/>
          </a:ln>
        </p:spPr>
        <p:txBody>
          <a:bodyPr/>
          <a:lstStyle/>
          <a:p>
            <a:endParaRPr lang="en-US"/>
          </a:p>
        </p:txBody>
      </p:sp>
      <p:sp>
        <p:nvSpPr>
          <p:cNvPr id="36" name="Text 34"/>
          <p:cNvSpPr/>
          <p:nvPr/>
        </p:nvSpPr>
        <p:spPr>
          <a:xfrm>
            <a:off x="704088" y="3922776"/>
            <a:ext cx="10753344" cy="1271016"/>
          </a:xfrm>
          <a:prstGeom prst="rect">
            <a:avLst/>
          </a:prstGeom>
          <a:noFill/>
          <a:ln/>
        </p:spPr>
        <p:txBody>
          <a:bodyPr wrap="square" rtlCol="0" anchor="t"/>
          <a:lstStyle/>
          <a:p>
            <a:pPr marL="0" indent="0">
              <a:lnSpc>
                <a:spcPct val="110000"/>
              </a:lnSpc>
              <a:spcAft>
                <a:spcPts val="400"/>
              </a:spcAft>
              <a:buNone/>
            </a:pPr>
            <a:r>
              <a:rPr lang="en-US" sz="1250" b="1" dirty="0">
                <a:solidFill>
                  <a:srgbClr val="10262F"/>
                </a:solidFill>
                <a:latin typeface="Calibri" pitchFamily="34" charset="0"/>
                <a:ea typeface="Calibri" pitchFamily="34" charset="-122"/>
                <a:cs typeface="Calibri" pitchFamily="34" charset="-120"/>
              </a:rPr>
              <a:t>Quality</a:t>
            </a:r>
            <a:endParaRPr lang="en-US" sz="1250" dirty="0"/>
          </a:p>
          <a:p>
            <a:pPr marL="342900" indent="-342900">
              <a:lnSpc>
                <a:spcPct val="110000"/>
              </a:lnSpc>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Coverlet coverage</a:t>
            </a:r>
            <a:endParaRPr lang="en-US" sz="1250" dirty="0"/>
          </a:p>
          <a:p>
            <a:pPr marL="342900" indent="-342900">
              <a:lnSpc>
                <a:spcPct val="110000"/>
              </a:lnSpc>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Formatting &amp; style checks</a:t>
            </a:r>
            <a:endParaRPr lang="en-US" sz="1250" dirty="0"/>
          </a:p>
          <a:p>
            <a:pPr marL="342900" indent="-342900">
              <a:lnSpc>
                <a:spcPct val="110000"/>
              </a:lnSpc>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Type checking</a:t>
            </a:r>
            <a:endParaRPr lang="en-US" sz="1250" dirty="0"/>
          </a:p>
          <a:p>
            <a:pPr marL="342900" indent="-342900">
              <a:lnSpc>
                <a:spcPct val="110000"/>
              </a:lnSpc>
              <a:spcAft>
                <a:spcPts val="300"/>
              </a:spcAft>
              <a:buSzPct val="100000"/>
              <a:buChar char="▪"/>
            </a:pPr>
            <a:r>
              <a:rPr lang="en-US" sz="1150" dirty="0">
                <a:solidFill>
                  <a:srgbClr val="1F2933"/>
                </a:solidFill>
                <a:latin typeface="Calibri" pitchFamily="34" charset="0"/>
                <a:ea typeface="Calibri" pitchFamily="34" charset="-122"/>
                <a:cs typeface="Calibri" pitchFamily="34" charset="-120"/>
              </a:rPr>
              <a:t>Static analysis</a:t>
            </a:r>
            <a:endParaRPr lang="en-US" sz="1250" dirty="0"/>
          </a:p>
        </p:txBody>
      </p:sp>
      <p:sp>
        <p:nvSpPr>
          <p:cNvPr id="37" name="Shape 35"/>
          <p:cNvSpPr/>
          <p:nvPr/>
        </p:nvSpPr>
        <p:spPr>
          <a:xfrm>
            <a:off x="502920" y="5440680"/>
            <a:ext cx="11155680" cy="640080"/>
          </a:xfrm>
          <a:prstGeom prst="roundRect">
            <a:avLst>
              <a:gd name="adj" fmla="val 11429"/>
            </a:avLst>
          </a:prstGeom>
          <a:solidFill>
            <a:srgbClr val="1B3A4B"/>
          </a:solidFill>
          <a:ln/>
        </p:spPr>
        <p:txBody>
          <a:bodyPr/>
          <a:lstStyle/>
          <a:p>
            <a:endParaRPr lang="en-US"/>
          </a:p>
        </p:txBody>
      </p:sp>
      <p:sp>
        <p:nvSpPr>
          <p:cNvPr id="38" name="Text 36"/>
          <p:cNvSpPr/>
          <p:nvPr/>
        </p:nvSpPr>
        <p:spPr>
          <a:xfrm>
            <a:off x="777240" y="5440680"/>
            <a:ext cx="10607040" cy="640080"/>
          </a:xfrm>
          <a:prstGeom prst="rect">
            <a:avLst/>
          </a:prstGeom>
          <a:noFill/>
          <a:ln/>
        </p:spPr>
        <p:txBody>
          <a:bodyPr wrap="square"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Unit, integration, API and end-to-end tests are combined with coverage, static analysis and CI validation.</a:t>
            </a:r>
            <a:endParaRPr lang="en-US" sz="1400" dirty="0"/>
          </a:p>
        </p:txBody>
      </p:sp>
      <p:sp>
        <p:nvSpPr>
          <p:cNvPr id="40" name="Text 37"/>
          <p:cNvSpPr/>
          <p:nvPr/>
        </p:nvSpPr>
        <p:spPr>
          <a:xfrm>
            <a:off x="502920" y="6547104"/>
            <a:ext cx="7315200" cy="256032"/>
          </a:xfrm>
          <a:prstGeom prst="rect">
            <a:avLst/>
          </a:prstGeom>
          <a:noFill/>
          <a:ln/>
        </p:spPr>
        <p:txBody>
          <a:bodyPr wrap="square" rtlCol="0" anchor="ctr"/>
          <a:lstStyle/>
          <a:p>
            <a:pPr marL="0" indent="0">
              <a:buNone/>
            </a:pPr>
            <a:r>
              <a:rPr lang="en-US" sz="1000" i="1" dirty="0">
                <a:solidFill>
                  <a:srgbClr val="5A6B75"/>
                </a:solidFill>
                <a:latin typeface="Calibri" pitchFamily="34" charset="0"/>
                <a:ea typeface="Calibri" pitchFamily="34" charset="-122"/>
                <a:cs typeface="Calibri" pitchFamily="34" charset="-120"/>
              </a:rPr>
              <a:t>GHCAA — Govt. Haraganga College Alumni Association</a:t>
            </a:r>
            <a:endParaRPr lang="en-US" sz="1000" dirty="0"/>
          </a:p>
        </p:txBody>
      </p:sp>
      <p:sp>
        <p:nvSpPr>
          <p:cNvPr id="41" name="Text 38"/>
          <p:cNvSpPr/>
          <p:nvPr/>
        </p:nvSpPr>
        <p:spPr>
          <a:xfrm>
            <a:off x="11521440" y="6547104"/>
            <a:ext cx="457200" cy="256032"/>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3A4B"/>
          </a:solidFill>
          <a:ln/>
        </p:spPr>
        <p:txBody>
          <a:bodyPr/>
          <a:lstStyle/>
          <a:p>
            <a:endParaRPr lang="en-US"/>
          </a:p>
        </p:txBody>
      </p:sp>
      <p:sp>
        <p:nvSpPr>
          <p:cNvPr id="3" name="Shape 1"/>
          <p:cNvSpPr/>
          <p:nvPr/>
        </p:nvSpPr>
        <p:spPr>
          <a:xfrm>
            <a:off x="0" y="960120"/>
            <a:ext cx="12191695" cy="41148"/>
          </a:xfrm>
          <a:prstGeom prst="rect">
            <a:avLst/>
          </a:prstGeom>
          <a:solidFill>
            <a:srgbClr val="C77D0A"/>
          </a:solidFill>
          <a:ln/>
        </p:spPr>
        <p:txBody>
          <a:bodyPr/>
          <a:lstStyle/>
          <a:p>
            <a:endParaRPr lang="en-US"/>
          </a:p>
        </p:txBody>
      </p:sp>
      <p:sp>
        <p:nvSpPr>
          <p:cNvPr id="4" name="Text 2"/>
          <p:cNvSpPr/>
          <p:nvPr/>
        </p:nvSpPr>
        <p:spPr>
          <a:xfrm>
            <a:off x="502920" y="128016"/>
            <a:ext cx="10058400" cy="256032"/>
          </a:xfrm>
          <a:prstGeom prst="rect">
            <a:avLst/>
          </a:prstGeom>
          <a:noFill/>
          <a:ln/>
        </p:spPr>
        <p:txBody>
          <a:bodyPr wrap="square" rtlCol="0" anchor="ctr"/>
          <a:lstStyle/>
          <a:p>
            <a:pPr marL="0" indent="0">
              <a:buNone/>
            </a:pPr>
            <a:r>
              <a:rPr lang="en-US" sz="1200" b="1" kern="0" spc="200" dirty="0">
                <a:solidFill>
                  <a:srgbClr val="C77D0A"/>
                </a:solidFill>
                <a:latin typeface="Calibri" pitchFamily="34" charset="0"/>
                <a:ea typeface="Calibri" pitchFamily="34" charset="-122"/>
                <a:cs typeface="Calibri" pitchFamily="34" charset="-120"/>
              </a:rPr>
              <a:t>EVALUATION</a:t>
            </a:r>
            <a:endParaRPr lang="en-US" sz="1200" dirty="0"/>
          </a:p>
        </p:txBody>
      </p:sp>
      <p:sp>
        <p:nvSpPr>
          <p:cNvPr id="5" name="Text 3"/>
          <p:cNvSpPr/>
          <p:nvPr/>
        </p:nvSpPr>
        <p:spPr>
          <a:xfrm>
            <a:off x="502920" y="384048"/>
            <a:ext cx="11155680" cy="530352"/>
          </a:xfrm>
          <a:prstGeom prst="rect">
            <a:avLst/>
          </a:prstGeom>
          <a:noFill/>
          <a:ln/>
        </p:spPr>
        <p:txBody>
          <a:bodyPr wrap="square"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How do we know the system is actually good enough?</a:t>
            </a:r>
            <a:endParaRPr lang="en-US" sz="2700" dirty="0"/>
          </a:p>
        </p:txBody>
      </p:sp>
      <p:sp>
        <p:nvSpPr>
          <p:cNvPr id="6" name="Text 4"/>
          <p:cNvSpPr/>
          <p:nvPr/>
        </p:nvSpPr>
        <p:spPr>
          <a:xfrm>
            <a:off x="10561320" y="365760"/>
            <a:ext cx="1234440" cy="274320"/>
          </a:xfrm>
          <a:prstGeom prst="rect">
            <a:avLst/>
          </a:prstGeom>
          <a:noFill/>
          <a:ln/>
        </p:spPr>
        <p:txBody>
          <a:bodyPr wrap="square"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~1:00</a:t>
            </a:r>
            <a:endParaRPr lang="en-US" sz="1050" dirty="0"/>
          </a:p>
        </p:txBody>
      </p:sp>
      <p:graphicFrame>
        <p:nvGraphicFramePr>
          <p:cNvPr id="10" name="Table 0"/>
          <p:cNvGraphicFramePr>
            <a:graphicFrameLocks noGrp="1"/>
          </p:cNvGraphicFramePr>
          <p:nvPr>
            <p:extLst>
              <p:ext uri="{D42A27DB-BD31-4B8C-83A1-F6EECF244321}">
                <p14:modId xmlns:p14="http://schemas.microsoft.com/office/powerpoint/2010/main" val="3193881703"/>
              </p:ext>
            </p:extLst>
          </p:nvPr>
        </p:nvGraphicFramePr>
        <p:xfrm>
          <a:off x="502920" y="1143000"/>
          <a:ext cx="6492240" cy="4023360"/>
        </p:xfrm>
        <a:graphic>
          <a:graphicData uri="http://schemas.openxmlformats.org/drawingml/2006/table">
            <a:tbl>
              <a:tblPr/>
              <a:tblGrid>
                <a:gridCol w="24688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tblGrid>
              <a:tr h="402336">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Quality Area</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1B3A4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Evidence</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1B3A4B"/>
                    </a:solidFill>
                  </a:tcPr>
                </a:tc>
                <a:extLst>
                  <a:ext uri="{0D108BD9-81ED-4DB2-BD59-A6C34878D82A}">
                    <a16:rowId xmlns:a16="http://schemas.microsoft.com/office/drawing/2014/main" val="10000"/>
                  </a:ext>
                </a:extLst>
              </a:tr>
              <a:tr h="402336">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Functional correctness</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Automated tests, BDD</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Requirement coverage</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4"/>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Traceability</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4"/>
                    </a:solidFill>
                  </a:tcPr>
                </a:tc>
                <a:extLst>
                  <a:ext uri="{0D108BD9-81ED-4DB2-BD59-A6C34878D82A}">
                    <a16:rowId xmlns:a16="http://schemas.microsoft.com/office/drawing/2014/main" val="10002"/>
                  </a:ext>
                </a:extLst>
              </a:tr>
              <a:tr h="402336">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Security</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Authentication, authorization, privacy checks</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Maintainability</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4"/>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Architecture rules, static analysis</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4"/>
                    </a:solidFill>
                  </a:tcPr>
                </a:tc>
                <a:extLst>
                  <a:ext uri="{0D108BD9-81ED-4DB2-BD59-A6C34878D82A}">
                    <a16:rowId xmlns:a16="http://schemas.microsoft.com/office/drawing/2014/main" val="10004"/>
                  </a:ext>
                </a:extLst>
              </a:tr>
              <a:tr h="402336">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Performance</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Measured latency / response tests</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Usability</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4"/>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User workflow evaluation</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4"/>
                    </a:solidFill>
                  </a:tcPr>
                </a:tc>
                <a:extLst>
                  <a:ext uri="{0D108BD9-81ED-4DB2-BD59-A6C34878D82A}">
                    <a16:rowId xmlns:a16="http://schemas.microsoft.com/office/drawing/2014/main" val="10006"/>
                  </a:ext>
                </a:extLst>
              </a:tr>
              <a:tr h="402336">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Portability</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PostgreSQL / SQLite + Docker</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Reliability</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4"/>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Failure / recovery testing</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EEF2F4"/>
                    </a:solidFill>
                  </a:tcPr>
                </a:tc>
                <a:extLst>
                  <a:ext uri="{0D108BD9-81ED-4DB2-BD59-A6C34878D82A}">
                    <a16:rowId xmlns:a16="http://schemas.microsoft.com/office/drawing/2014/main" val="10008"/>
                  </a:ext>
                </a:extLst>
              </a:tr>
              <a:tr h="402336">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Auditability</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tc>
                  <a:txBody>
                    <a:bodyPr/>
                    <a:lstStyle/>
                    <a:p>
                      <a:pPr marL="0" indent="0">
                        <a:buNone/>
                      </a:pPr>
                      <a:r>
                        <a:rPr lang="en-US" sz="1050" dirty="0">
                          <a:solidFill>
                            <a:srgbClr val="1F2933"/>
                          </a:solidFill>
                          <a:latin typeface="Calibri" pitchFamily="34" charset="0"/>
                          <a:ea typeface="Calibri" pitchFamily="34" charset="-122"/>
                          <a:cs typeface="Calibri" pitchFamily="34" charset="-120"/>
                        </a:rPr>
                        <a:t>State and administrative history</a:t>
                      </a:r>
                      <a:endParaRPr lang="en-US" sz="1050" dirty="0">
                        <a:latin typeface="Calibri" charset="0"/>
                        <a:ea typeface="Calibri" charset="0"/>
                        <a:cs typeface="Calibri" charset="0"/>
                      </a:endParaRPr>
                    </a:p>
                  </a:txBody>
                  <a:tcPr anchor="ctr">
                    <a:lnL w="9525" cap="flat" cmpd="sng" algn="ctr">
                      <a:solidFill>
                        <a:srgbClr val="D5DCE0"/>
                      </a:solidFill>
                      <a:prstDash val="solid"/>
                      <a:round/>
                      <a:headEnd type="none" w="med" len="med"/>
                      <a:tailEnd type="none" w="med" len="med"/>
                    </a:lnL>
                    <a:lnR w="9525" cap="flat" cmpd="sng" algn="ctr">
                      <a:solidFill>
                        <a:srgbClr val="D5DCE0"/>
                      </a:solidFill>
                      <a:prstDash val="solid"/>
                      <a:round/>
                      <a:headEnd type="none" w="med" len="med"/>
                      <a:tailEnd type="none" w="med" len="med"/>
                    </a:lnR>
                    <a:lnT w="9525" cap="flat" cmpd="sng" algn="ctr">
                      <a:solidFill>
                        <a:srgbClr val="D5DCE0"/>
                      </a:solidFill>
                      <a:prstDash val="solid"/>
                      <a:round/>
                      <a:headEnd type="none" w="med" len="med"/>
                      <a:tailEnd type="none" w="med" len="med"/>
                    </a:lnT>
                    <a:lnB w="9525" cap="flat" cmpd="sng" algn="ctr">
                      <a:solidFill>
                        <a:srgbClr val="D5DCE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8" name="Shape 5"/>
          <p:cNvSpPr/>
          <p:nvPr/>
        </p:nvSpPr>
        <p:spPr>
          <a:xfrm>
            <a:off x="7269480" y="1143000"/>
            <a:ext cx="4389120" cy="2514600"/>
          </a:xfrm>
          <a:prstGeom prst="roundRect">
            <a:avLst>
              <a:gd name="adj" fmla="val 2182"/>
            </a:avLst>
          </a:prstGeom>
          <a:solidFill>
            <a:srgbClr val="E1F2E6"/>
          </a:solidFill>
          <a:ln w="12700">
            <a:solidFill>
              <a:srgbClr val="5A6B75"/>
            </a:solidFill>
            <a:prstDash val="solid"/>
          </a:ln>
        </p:spPr>
        <p:txBody>
          <a:bodyPr/>
          <a:lstStyle/>
          <a:p>
            <a:endParaRPr lang="en-US"/>
          </a:p>
        </p:txBody>
      </p:sp>
      <p:sp>
        <p:nvSpPr>
          <p:cNvPr id="9" name="Text 6"/>
          <p:cNvSpPr/>
          <p:nvPr/>
        </p:nvSpPr>
        <p:spPr>
          <a:xfrm>
            <a:off x="7470648" y="1271016"/>
            <a:ext cx="3986784" cy="2276856"/>
          </a:xfrm>
          <a:prstGeom prst="rect">
            <a:avLst/>
          </a:prstGeom>
          <a:noFill/>
          <a:ln/>
        </p:spPr>
        <p:txBody>
          <a:bodyPr wrap="square" rtlCol="0" anchor="t"/>
          <a:lstStyle/>
          <a:p>
            <a:pPr marL="0" indent="0">
              <a:lnSpc>
                <a:spcPct val="110000"/>
              </a:lnSpc>
              <a:spcAft>
                <a:spcPts val="400"/>
              </a:spcAft>
              <a:buNone/>
            </a:pPr>
            <a:r>
              <a:rPr lang="en-US" sz="1250" b="1" dirty="0">
                <a:solidFill>
                  <a:srgbClr val="2F7D4F"/>
                </a:solidFill>
                <a:latin typeface="Calibri" pitchFamily="34" charset="0"/>
                <a:ea typeface="Calibri" pitchFamily="34" charset="-122"/>
                <a:cs typeface="Calibri" pitchFamily="34" charset="-120"/>
              </a:rPr>
              <a:t>Implemented</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Backend</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Web</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Mobile</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Authentication</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Membership</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Accounting</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Events</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Governance</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CI/CD</a:t>
            </a:r>
            <a:endParaRPr lang="en-US" sz="1250" dirty="0"/>
          </a:p>
        </p:txBody>
      </p:sp>
      <p:sp>
        <p:nvSpPr>
          <p:cNvPr id="7" name="Shape 7"/>
          <p:cNvSpPr/>
          <p:nvPr/>
        </p:nvSpPr>
        <p:spPr>
          <a:xfrm>
            <a:off x="7269480" y="3794760"/>
            <a:ext cx="4389120" cy="2194560"/>
          </a:xfrm>
          <a:prstGeom prst="roundRect">
            <a:avLst>
              <a:gd name="adj" fmla="val 2500"/>
            </a:avLst>
          </a:prstGeom>
          <a:solidFill>
            <a:srgbClr val="FBEBD3"/>
          </a:solidFill>
          <a:ln w="12700">
            <a:solidFill>
              <a:srgbClr val="5A6B75"/>
            </a:solidFill>
            <a:prstDash val="solid"/>
          </a:ln>
        </p:spPr>
        <p:txBody>
          <a:bodyPr/>
          <a:lstStyle/>
          <a:p>
            <a:endParaRPr lang="en-US"/>
          </a:p>
        </p:txBody>
      </p:sp>
      <p:sp>
        <p:nvSpPr>
          <p:cNvPr id="11" name="Text 8"/>
          <p:cNvSpPr/>
          <p:nvPr/>
        </p:nvSpPr>
        <p:spPr>
          <a:xfrm>
            <a:off x="7470648" y="3922776"/>
            <a:ext cx="3986784" cy="1956816"/>
          </a:xfrm>
          <a:prstGeom prst="rect">
            <a:avLst/>
          </a:prstGeom>
          <a:noFill/>
          <a:ln/>
        </p:spPr>
        <p:txBody>
          <a:bodyPr wrap="square" rtlCol="0" anchor="t"/>
          <a:lstStyle/>
          <a:p>
            <a:pPr marL="0" indent="0">
              <a:lnSpc>
                <a:spcPct val="110000"/>
              </a:lnSpc>
              <a:spcAft>
                <a:spcPts val="400"/>
              </a:spcAft>
              <a:buNone/>
            </a:pPr>
            <a:r>
              <a:rPr lang="en-US" sz="1250" b="1" dirty="0">
                <a:solidFill>
                  <a:srgbClr val="10262F"/>
                </a:solidFill>
                <a:latin typeface="Calibri" pitchFamily="34" charset="0"/>
                <a:ea typeface="Calibri" pitchFamily="34" charset="-122"/>
                <a:cs typeface="Calibri" pitchFamily="34" charset="-120"/>
              </a:rPr>
              <a:t>Evaluation / refinement — pending</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Traceability closure</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Measured coverage</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Security evidence</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Usability results</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Performance measurements</a:t>
            </a:r>
            <a:endParaRPr lang="en-US" sz="1250" dirty="0"/>
          </a:p>
          <a:p>
            <a:pPr marL="342900" indent="-342900">
              <a:lnSpc>
                <a:spcPct val="110000"/>
              </a:lnSpc>
              <a:spcAft>
                <a:spcPts val="300"/>
              </a:spcAft>
              <a:buSzPct val="100000"/>
              <a:buChar char="▪"/>
            </a:pPr>
            <a:r>
              <a:rPr lang="en-US" sz="1100" dirty="0">
                <a:solidFill>
                  <a:srgbClr val="1F2933"/>
                </a:solidFill>
                <a:latin typeface="Calibri" pitchFamily="34" charset="0"/>
                <a:ea typeface="Calibri" pitchFamily="34" charset="-122"/>
                <a:cs typeface="Calibri" pitchFamily="34" charset="-120"/>
              </a:rPr>
              <a:t>Recovery evidence</a:t>
            </a:r>
            <a:endParaRPr lang="en-US" sz="1250" dirty="0"/>
          </a:p>
        </p:txBody>
      </p:sp>
      <p:sp>
        <p:nvSpPr>
          <p:cNvPr id="12" name="Text 9"/>
          <p:cNvSpPr/>
          <p:nvPr/>
        </p:nvSpPr>
        <p:spPr>
          <a:xfrm>
            <a:off x="502920" y="6108192"/>
            <a:ext cx="11155680" cy="365760"/>
          </a:xfrm>
          <a:prstGeom prst="rect">
            <a:avLst/>
          </a:prstGeom>
          <a:noFill/>
          <a:ln/>
        </p:spPr>
        <p:txBody>
          <a:bodyPr wrap="square" rtlCol="0" anchor="ctr"/>
          <a:lstStyle/>
          <a:p>
            <a:pPr marL="0" indent="0">
              <a:buNone/>
            </a:pPr>
            <a:r>
              <a:rPr lang="en-US" sz="1000" i="1" dirty="0">
                <a:solidFill>
                  <a:srgbClr val="5A6B75"/>
                </a:solidFill>
                <a:latin typeface="Calibri" pitchFamily="34" charset="0"/>
                <a:ea typeface="Calibri" pitchFamily="34" charset="-122"/>
                <a:cs typeface="Calibri" pitchFamily="34" charset="-120"/>
              </a:rPr>
              <a:t>Note: numerical results are not invented — items above are explicitly labelled Evaluation pending until measured.</a:t>
            </a:r>
            <a:endParaRPr lang="en-US" sz="1000" dirty="0"/>
          </a:p>
        </p:txBody>
      </p:sp>
      <p:sp>
        <p:nvSpPr>
          <p:cNvPr id="14" name="Text 10"/>
          <p:cNvSpPr/>
          <p:nvPr/>
        </p:nvSpPr>
        <p:spPr>
          <a:xfrm>
            <a:off x="502920" y="6547104"/>
            <a:ext cx="7315200" cy="256032"/>
          </a:xfrm>
          <a:prstGeom prst="rect">
            <a:avLst/>
          </a:prstGeom>
          <a:noFill/>
          <a:ln/>
        </p:spPr>
        <p:txBody>
          <a:bodyPr wrap="square" rtlCol="0" anchor="ctr"/>
          <a:lstStyle/>
          <a:p>
            <a:pPr marL="0" indent="0">
              <a:buNone/>
            </a:pPr>
            <a:r>
              <a:rPr lang="en-US" sz="1000" i="1" dirty="0">
                <a:solidFill>
                  <a:srgbClr val="5A6B75"/>
                </a:solidFill>
                <a:latin typeface="Calibri" pitchFamily="34" charset="0"/>
                <a:ea typeface="Calibri" pitchFamily="34" charset="-122"/>
                <a:cs typeface="Calibri" pitchFamily="34" charset="-120"/>
              </a:rPr>
              <a:t>GHCAA — Govt. Haraganga College Alumni Association</a:t>
            </a:r>
            <a:endParaRPr lang="en-US" sz="1000" dirty="0"/>
          </a:p>
        </p:txBody>
      </p:sp>
      <p:sp>
        <p:nvSpPr>
          <p:cNvPr id="15" name="Text 11"/>
          <p:cNvSpPr/>
          <p:nvPr/>
        </p:nvSpPr>
        <p:spPr>
          <a:xfrm>
            <a:off x="11521440" y="6547104"/>
            <a:ext cx="457200" cy="256032"/>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960120"/>
          </a:xfrm>
          <a:prstGeom prst="rect">
            <a:avLst/>
          </a:prstGeom>
          <a:solidFill>
            <a:srgbClr val="1B3A4B"/>
          </a:solidFill>
          <a:ln/>
        </p:spPr>
        <p:txBody>
          <a:bodyPr/>
          <a:lstStyle/>
          <a:p>
            <a:endParaRPr lang="en-US"/>
          </a:p>
        </p:txBody>
      </p:sp>
      <p:sp>
        <p:nvSpPr>
          <p:cNvPr id="3" name="Shape 1"/>
          <p:cNvSpPr/>
          <p:nvPr/>
        </p:nvSpPr>
        <p:spPr>
          <a:xfrm>
            <a:off x="0" y="960120"/>
            <a:ext cx="12191695" cy="41148"/>
          </a:xfrm>
          <a:prstGeom prst="rect">
            <a:avLst/>
          </a:prstGeom>
          <a:solidFill>
            <a:srgbClr val="C77D0A"/>
          </a:solidFill>
          <a:ln/>
        </p:spPr>
        <p:txBody>
          <a:bodyPr/>
          <a:lstStyle/>
          <a:p>
            <a:endParaRPr lang="en-US"/>
          </a:p>
        </p:txBody>
      </p:sp>
      <p:sp>
        <p:nvSpPr>
          <p:cNvPr id="4" name="Text 2"/>
          <p:cNvSpPr/>
          <p:nvPr/>
        </p:nvSpPr>
        <p:spPr>
          <a:xfrm>
            <a:off x="502920" y="128016"/>
            <a:ext cx="10058400" cy="256032"/>
          </a:xfrm>
          <a:prstGeom prst="rect">
            <a:avLst/>
          </a:prstGeom>
          <a:noFill/>
          <a:ln/>
        </p:spPr>
        <p:txBody>
          <a:bodyPr wrap="square" rtlCol="0" anchor="ctr"/>
          <a:lstStyle/>
          <a:p>
            <a:pPr marL="0" indent="0">
              <a:buNone/>
            </a:pPr>
            <a:r>
              <a:rPr lang="en-US" sz="1200" b="1" kern="0" spc="200" dirty="0">
                <a:solidFill>
                  <a:srgbClr val="C77D0A"/>
                </a:solidFill>
                <a:latin typeface="Calibri" pitchFamily="34" charset="0"/>
                <a:ea typeface="Calibri" pitchFamily="34" charset="-122"/>
                <a:cs typeface="Calibri" pitchFamily="34" charset="-120"/>
              </a:rPr>
              <a:t>CONCLUSION</a:t>
            </a:r>
            <a:endParaRPr lang="en-US" sz="1200" dirty="0"/>
          </a:p>
        </p:txBody>
      </p:sp>
      <p:sp>
        <p:nvSpPr>
          <p:cNvPr id="5" name="Text 3"/>
          <p:cNvSpPr/>
          <p:nvPr/>
        </p:nvSpPr>
        <p:spPr>
          <a:xfrm>
            <a:off x="502920" y="384048"/>
            <a:ext cx="11155680" cy="530352"/>
          </a:xfrm>
          <a:prstGeom prst="rect">
            <a:avLst/>
          </a:prstGeom>
          <a:noFill/>
          <a:ln/>
        </p:spPr>
        <p:txBody>
          <a:bodyPr wrap="square" rtlCol="0" anchor="ctr"/>
          <a:lstStyle/>
          <a:p>
            <a:pPr marL="0" indent="0">
              <a:buNone/>
            </a:pPr>
            <a:r>
              <a:rPr lang="en-US" sz="2700" b="1" dirty="0">
                <a:solidFill>
                  <a:srgbClr val="FFFFFF"/>
                </a:solidFill>
                <a:latin typeface="Georgia" pitchFamily="34" charset="0"/>
                <a:ea typeface="Georgia" pitchFamily="34" charset="-122"/>
                <a:cs typeface="Georgia" pitchFamily="34" charset="-120"/>
              </a:rPr>
              <a:t>From fragmented association processes to a reusable system of record</a:t>
            </a:r>
            <a:endParaRPr lang="en-US" sz="2700" dirty="0"/>
          </a:p>
        </p:txBody>
      </p:sp>
      <p:sp>
        <p:nvSpPr>
          <p:cNvPr id="6" name="Text 4"/>
          <p:cNvSpPr/>
          <p:nvPr/>
        </p:nvSpPr>
        <p:spPr>
          <a:xfrm>
            <a:off x="10561320" y="365760"/>
            <a:ext cx="1234440" cy="274320"/>
          </a:xfrm>
          <a:prstGeom prst="rect">
            <a:avLst/>
          </a:prstGeom>
          <a:noFill/>
          <a:ln/>
        </p:spPr>
        <p:txBody>
          <a:bodyPr wrap="square" rtlCol="0" anchor="ctr"/>
          <a:lstStyle/>
          <a:p>
            <a:pPr marL="0" indent="0" algn="r">
              <a:buNone/>
            </a:pPr>
            <a:r>
              <a:rPr lang="en-US" sz="1050" b="1" dirty="0">
                <a:solidFill>
                  <a:srgbClr val="FFFFFF"/>
                </a:solidFill>
                <a:latin typeface="Calibri" pitchFamily="34" charset="0"/>
                <a:ea typeface="Calibri" pitchFamily="34" charset="-122"/>
                <a:cs typeface="Calibri" pitchFamily="34" charset="-120"/>
              </a:rPr>
              <a:t>~0:45</a:t>
            </a:r>
            <a:endParaRPr lang="en-US" sz="1050" dirty="0"/>
          </a:p>
        </p:txBody>
      </p:sp>
      <p:sp>
        <p:nvSpPr>
          <p:cNvPr id="7" name="Shape 5"/>
          <p:cNvSpPr/>
          <p:nvPr/>
        </p:nvSpPr>
        <p:spPr>
          <a:xfrm>
            <a:off x="502920" y="1115568"/>
            <a:ext cx="3749040" cy="365760"/>
          </a:xfrm>
          <a:prstGeom prst="roundRect">
            <a:avLst>
              <a:gd name="adj" fmla="val 15000"/>
            </a:avLst>
          </a:prstGeom>
          <a:solidFill>
            <a:srgbClr val="DCEEF5"/>
          </a:solidFill>
          <a:ln w="12700">
            <a:solidFill>
              <a:srgbClr val="2E86AB"/>
            </a:solidFill>
            <a:prstDash val="solid"/>
          </a:ln>
        </p:spPr>
        <p:txBody>
          <a:bodyPr/>
          <a:lstStyle/>
          <a:p>
            <a:endParaRPr lang="en-US"/>
          </a:p>
        </p:txBody>
      </p:sp>
      <p:sp>
        <p:nvSpPr>
          <p:cNvPr id="8" name="Text 6"/>
          <p:cNvSpPr/>
          <p:nvPr/>
        </p:nvSpPr>
        <p:spPr>
          <a:xfrm>
            <a:off x="502920" y="1115568"/>
            <a:ext cx="3749040" cy="365760"/>
          </a:xfrm>
          <a:prstGeom prst="rect">
            <a:avLst/>
          </a:prstGeom>
          <a:noFill/>
          <a:ln/>
        </p:spPr>
        <p:txBody>
          <a:bodyPr wrap="square" rtlCol="0" anchor="ctr"/>
          <a:lstStyle/>
          <a:p>
            <a:pPr marL="0" indent="0" algn="ctr">
              <a:buNone/>
            </a:pPr>
            <a:r>
              <a:rPr lang="en-US" sz="950" dirty="0">
                <a:solidFill>
                  <a:srgbClr val="1F2933"/>
                </a:solidFill>
                <a:latin typeface="Calibri" pitchFamily="34" charset="0"/>
                <a:ea typeface="Calibri" pitchFamily="34" charset="-122"/>
                <a:cs typeface="Calibri" pitchFamily="34" charset="-120"/>
              </a:rPr>
              <a:t>FRAGMENTED PROCESS — Paper + Spreadsheet + Messages + Manual Records</a:t>
            </a:r>
            <a:endParaRPr lang="en-US" sz="950" dirty="0"/>
          </a:p>
        </p:txBody>
      </p:sp>
      <p:sp>
        <p:nvSpPr>
          <p:cNvPr id="9" name="Shape 7"/>
          <p:cNvSpPr/>
          <p:nvPr/>
        </p:nvSpPr>
        <p:spPr>
          <a:xfrm>
            <a:off x="2295144" y="1486814"/>
            <a:ext cx="164592" cy="91440"/>
          </a:xfrm>
          <a:prstGeom prst="downArrow">
            <a:avLst/>
          </a:prstGeom>
          <a:solidFill>
            <a:srgbClr val="5A6B75"/>
          </a:solidFill>
          <a:ln/>
        </p:spPr>
        <p:txBody>
          <a:bodyPr/>
          <a:lstStyle/>
          <a:p>
            <a:endParaRPr lang="en-US"/>
          </a:p>
        </p:txBody>
      </p:sp>
      <p:sp>
        <p:nvSpPr>
          <p:cNvPr id="10" name="Shape 8"/>
          <p:cNvSpPr/>
          <p:nvPr/>
        </p:nvSpPr>
        <p:spPr>
          <a:xfrm>
            <a:off x="502920" y="1600200"/>
            <a:ext cx="3749040" cy="365760"/>
          </a:xfrm>
          <a:prstGeom prst="roundRect">
            <a:avLst>
              <a:gd name="adj" fmla="val 15000"/>
            </a:avLst>
          </a:prstGeom>
          <a:solidFill>
            <a:srgbClr val="DCEEF5"/>
          </a:solidFill>
          <a:ln w="12700">
            <a:solidFill>
              <a:srgbClr val="2E86AB"/>
            </a:solidFill>
            <a:prstDash val="solid"/>
          </a:ln>
        </p:spPr>
        <p:txBody>
          <a:bodyPr/>
          <a:lstStyle/>
          <a:p>
            <a:endParaRPr lang="en-US"/>
          </a:p>
        </p:txBody>
      </p:sp>
      <p:sp>
        <p:nvSpPr>
          <p:cNvPr id="11" name="Text 9"/>
          <p:cNvSpPr/>
          <p:nvPr/>
        </p:nvSpPr>
        <p:spPr>
          <a:xfrm>
            <a:off x="502920" y="1600200"/>
            <a:ext cx="3749040" cy="365760"/>
          </a:xfrm>
          <a:prstGeom prst="rect">
            <a:avLst/>
          </a:prstGeom>
          <a:noFill/>
          <a:ln/>
        </p:spPr>
        <p:txBody>
          <a:bodyPr wrap="square" rtlCol="0" anchor="ctr"/>
          <a:lstStyle/>
          <a:p>
            <a:pPr marL="0" indent="0" algn="ctr">
              <a:buNone/>
            </a:pPr>
            <a:r>
              <a:rPr lang="en-US" sz="950" dirty="0">
                <a:solidFill>
                  <a:srgbClr val="1F2933"/>
                </a:solidFill>
                <a:latin typeface="Calibri" pitchFamily="34" charset="0"/>
                <a:ea typeface="Calibri" pitchFamily="34" charset="-122"/>
                <a:cs typeface="Calibri" pitchFamily="34" charset="-120"/>
              </a:rPr>
              <a:t>REQUIREMENTS</a:t>
            </a:r>
            <a:endParaRPr lang="en-US" sz="950" dirty="0"/>
          </a:p>
        </p:txBody>
      </p:sp>
      <p:sp>
        <p:nvSpPr>
          <p:cNvPr id="12" name="Shape 10"/>
          <p:cNvSpPr/>
          <p:nvPr/>
        </p:nvSpPr>
        <p:spPr>
          <a:xfrm>
            <a:off x="2295144" y="1971446"/>
            <a:ext cx="164592" cy="91440"/>
          </a:xfrm>
          <a:prstGeom prst="downArrow">
            <a:avLst/>
          </a:prstGeom>
          <a:solidFill>
            <a:srgbClr val="5A6B75"/>
          </a:solidFill>
          <a:ln/>
        </p:spPr>
        <p:txBody>
          <a:bodyPr/>
          <a:lstStyle/>
          <a:p>
            <a:endParaRPr lang="en-US"/>
          </a:p>
        </p:txBody>
      </p:sp>
      <p:sp>
        <p:nvSpPr>
          <p:cNvPr id="13" name="Shape 11"/>
          <p:cNvSpPr/>
          <p:nvPr/>
        </p:nvSpPr>
        <p:spPr>
          <a:xfrm>
            <a:off x="502920" y="2084832"/>
            <a:ext cx="3749040" cy="365760"/>
          </a:xfrm>
          <a:prstGeom prst="roundRect">
            <a:avLst>
              <a:gd name="adj" fmla="val 15000"/>
            </a:avLst>
          </a:prstGeom>
          <a:solidFill>
            <a:srgbClr val="DCEEF5"/>
          </a:solidFill>
          <a:ln w="12700">
            <a:solidFill>
              <a:srgbClr val="2E86AB"/>
            </a:solidFill>
            <a:prstDash val="solid"/>
          </a:ln>
        </p:spPr>
        <p:txBody>
          <a:bodyPr/>
          <a:lstStyle/>
          <a:p>
            <a:endParaRPr lang="en-US"/>
          </a:p>
        </p:txBody>
      </p:sp>
      <p:sp>
        <p:nvSpPr>
          <p:cNvPr id="14" name="Text 12"/>
          <p:cNvSpPr/>
          <p:nvPr/>
        </p:nvSpPr>
        <p:spPr>
          <a:xfrm>
            <a:off x="502920" y="2084832"/>
            <a:ext cx="3749040" cy="365760"/>
          </a:xfrm>
          <a:prstGeom prst="rect">
            <a:avLst/>
          </a:prstGeom>
          <a:noFill/>
          <a:ln/>
        </p:spPr>
        <p:txBody>
          <a:bodyPr wrap="square" rtlCol="0" anchor="ctr"/>
          <a:lstStyle/>
          <a:p>
            <a:pPr marL="0" indent="0" algn="ctr">
              <a:buNone/>
            </a:pPr>
            <a:r>
              <a:rPr lang="en-US" sz="950" dirty="0">
                <a:solidFill>
                  <a:srgbClr val="1F2933"/>
                </a:solidFill>
                <a:latin typeface="Calibri" pitchFamily="34" charset="0"/>
                <a:ea typeface="Calibri" pitchFamily="34" charset="-122"/>
                <a:cs typeface="Calibri" pitchFamily="34" charset="-120"/>
              </a:rPr>
              <a:t>SPECIFICATION</a:t>
            </a:r>
            <a:endParaRPr lang="en-US" sz="950" dirty="0"/>
          </a:p>
        </p:txBody>
      </p:sp>
      <p:sp>
        <p:nvSpPr>
          <p:cNvPr id="15" name="Shape 13"/>
          <p:cNvSpPr/>
          <p:nvPr/>
        </p:nvSpPr>
        <p:spPr>
          <a:xfrm>
            <a:off x="2295144" y="2456078"/>
            <a:ext cx="164592" cy="91440"/>
          </a:xfrm>
          <a:prstGeom prst="downArrow">
            <a:avLst/>
          </a:prstGeom>
          <a:solidFill>
            <a:srgbClr val="5A6B75"/>
          </a:solidFill>
          <a:ln/>
        </p:spPr>
        <p:txBody>
          <a:bodyPr/>
          <a:lstStyle/>
          <a:p>
            <a:endParaRPr lang="en-US"/>
          </a:p>
        </p:txBody>
      </p:sp>
      <p:sp>
        <p:nvSpPr>
          <p:cNvPr id="16" name="Shape 14"/>
          <p:cNvSpPr/>
          <p:nvPr/>
        </p:nvSpPr>
        <p:spPr>
          <a:xfrm>
            <a:off x="502920" y="2569464"/>
            <a:ext cx="3749040" cy="365760"/>
          </a:xfrm>
          <a:prstGeom prst="roundRect">
            <a:avLst>
              <a:gd name="adj" fmla="val 15000"/>
            </a:avLst>
          </a:prstGeom>
          <a:solidFill>
            <a:srgbClr val="DCEEF5"/>
          </a:solidFill>
          <a:ln w="12700">
            <a:solidFill>
              <a:srgbClr val="2E86AB"/>
            </a:solidFill>
            <a:prstDash val="solid"/>
          </a:ln>
        </p:spPr>
        <p:txBody>
          <a:bodyPr/>
          <a:lstStyle/>
          <a:p>
            <a:endParaRPr lang="en-US"/>
          </a:p>
        </p:txBody>
      </p:sp>
      <p:sp>
        <p:nvSpPr>
          <p:cNvPr id="17" name="Text 15"/>
          <p:cNvSpPr/>
          <p:nvPr/>
        </p:nvSpPr>
        <p:spPr>
          <a:xfrm>
            <a:off x="502920" y="2569464"/>
            <a:ext cx="3749040" cy="365760"/>
          </a:xfrm>
          <a:prstGeom prst="rect">
            <a:avLst/>
          </a:prstGeom>
          <a:noFill/>
          <a:ln/>
        </p:spPr>
        <p:txBody>
          <a:bodyPr wrap="square" rtlCol="0" anchor="ctr"/>
          <a:lstStyle/>
          <a:p>
            <a:pPr marL="0" indent="0" algn="ctr">
              <a:buNone/>
            </a:pPr>
            <a:r>
              <a:rPr lang="en-US" sz="950" dirty="0">
                <a:solidFill>
                  <a:srgbClr val="1F2933"/>
                </a:solidFill>
                <a:latin typeface="Calibri" pitchFamily="34" charset="0"/>
                <a:ea typeface="Calibri" pitchFamily="34" charset="-122"/>
                <a:cs typeface="Calibri" pitchFamily="34" charset="-120"/>
              </a:rPr>
              <a:t>ARCHITECTURE</a:t>
            </a:r>
            <a:endParaRPr lang="en-US" sz="950" dirty="0"/>
          </a:p>
        </p:txBody>
      </p:sp>
      <p:sp>
        <p:nvSpPr>
          <p:cNvPr id="18" name="Shape 16"/>
          <p:cNvSpPr/>
          <p:nvPr/>
        </p:nvSpPr>
        <p:spPr>
          <a:xfrm>
            <a:off x="2295144" y="2940710"/>
            <a:ext cx="164592" cy="91440"/>
          </a:xfrm>
          <a:prstGeom prst="downArrow">
            <a:avLst/>
          </a:prstGeom>
          <a:solidFill>
            <a:srgbClr val="5A6B75"/>
          </a:solidFill>
          <a:ln/>
        </p:spPr>
        <p:txBody>
          <a:bodyPr/>
          <a:lstStyle/>
          <a:p>
            <a:endParaRPr lang="en-US"/>
          </a:p>
        </p:txBody>
      </p:sp>
      <p:sp>
        <p:nvSpPr>
          <p:cNvPr id="19" name="Shape 17"/>
          <p:cNvSpPr/>
          <p:nvPr/>
        </p:nvSpPr>
        <p:spPr>
          <a:xfrm>
            <a:off x="502920" y="3054096"/>
            <a:ext cx="3749040" cy="365760"/>
          </a:xfrm>
          <a:prstGeom prst="roundRect">
            <a:avLst>
              <a:gd name="adj" fmla="val 15000"/>
            </a:avLst>
          </a:prstGeom>
          <a:solidFill>
            <a:srgbClr val="DCEEF5"/>
          </a:solidFill>
          <a:ln w="12700">
            <a:solidFill>
              <a:srgbClr val="2E86AB"/>
            </a:solidFill>
            <a:prstDash val="solid"/>
          </a:ln>
        </p:spPr>
        <p:txBody>
          <a:bodyPr/>
          <a:lstStyle/>
          <a:p>
            <a:endParaRPr lang="en-US"/>
          </a:p>
        </p:txBody>
      </p:sp>
      <p:sp>
        <p:nvSpPr>
          <p:cNvPr id="20" name="Text 18"/>
          <p:cNvSpPr/>
          <p:nvPr/>
        </p:nvSpPr>
        <p:spPr>
          <a:xfrm>
            <a:off x="502920" y="3054096"/>
            <a:ext cx="3749040" cy="365760"/>
          </a:xfrm>
          <a:prstGeom prst="rect">
            <a:avLst/>
          </a:prstGeom>
          <a:noFill/>
          <a:ln/>
        </p:spPr>
        <p:txBody>
          <a:bodyPr wrap="square" rtlCol="0" anchor="ctr"/>
          <a:lstStyle/>
          <a:p>
            <a:pPr marL="0" indent="0" algn="ctr">
              <a:buNone/>
            </a:pPr>
            <a:r>
              <a:rPr lang="en-US" sz="950" dirty="0">
                <a:solidFill>
                  <a:srgbClr val="1F2933"/>
                </a:solidFill>
                <a:latin typeface="Calibri" pitchFamily="34" charset="0"/>
                <a:ea typeface="Calibri" pitchFamily="34" charset="-122"/>
                <a:cs typeface="Calibri" pitchFamily="34" charset="-120"/>
              </a:rPr>
              <a:t>IMPLEMENTATION</a:t>
            </a:r>
            <a:endParaRPr lang="en-US" sz="950" dirty="0"/>
          </a:p>
        </p:txBody>
      </p:sp>
      <p:sp>
        <p:nvSpPr>
          <p:cNvPr id="21" name="Shape 19"/>
          <p:cNvSpPr/>
          <p:nvPr/>
        </p:nvSpPr>
        <p:spPr>
          <a:xfrm>
            <a:off x="2295144" y="3425342"/>
            <a:ext cx="164592" cy="91440"/>
          </a:xfrm>
          <a:prstGeom prst="downArrow">
            <a:avLst/>
          </a:prstGeom>
          <a:solidFill>
            <a:srgbClr val="5A6B75"/>
          </a:solidFill>
          <a:ln/>
        </p:spPr>
        <p:txBody>
          <a:bodyPr/>
          <a:lstStyle/>
          <a:p>
            <a:endParaRPr lang="en-US"/>
          </a:p>
        </p:txBody>
      </p:sp>
      <p:sp>
        <p:nvSpPr>
          <p:cNvPr id="22" name="Shape 20"/>
          <p:cNvSpPr/>
          <p:nvPr/>
        </p:nvSpPr>
        <p:spPr>
          <a:xfrm>
            <a:off x="502920" y="3538728"/>
            <a:ext cx="3749040" cy="365760"/>
          </a:xfrm>
          <a:prstGeom prst="roundRect">
            <a:avLst>
              <a:gd name="adj" fmla="val 15000"/>
            </a:avLst>
          </a:prstGeom>
          <a:solidFill>
            <a:srgbClr val="DCEEF5"/>
          </a:solidFill>
          <a:ln w="12700">
            <a:solidFill>
              <a:srgbClr val="2E86AB"/>
            </a:solidFill>
            <a:prstDash val="solid"/>
          </a:ln>
        </p:spPr>
        <p:txBody>
          <a:bodyPr/>
          <a:lstStyle/>
          <a:p>
            <a:endParaRPr lang="en-US"/>
          </a:p>
        </p:txBody>
      </p:sp>
      <p:sp>
        <p:nvSpPr>
          <p:cNvPr id="23" name="Text 21"/>
          <p:cNvSpPr/>
          <p:nvPr/>
        </p:nvSpPr>
        <p:spPr>
          <a:xfrm>
            <a:off x="502920" y="3538728"/>
            <a:ext cx="3749040" cy="365760"/>
          </a:xfrm>
          <a:prstGeom prst="rect">
            <a:avLst/>
          </a:prstGeom>
          <a:noFill/>
          <a:ln/>
        </p:spPr>
        <p:txBody>
          <a:bodyPr wrap="square" rtlCol="0" anchor="ctr"/>
          <a:lstStyle/>
          <a:p>
            <a:pPr marL="0" indent="0" algn="ctr">
              <a:buNone/>
            </a:pPr>
            <a:r>
              <a:rPr lang="en-US" sz="950" dirty="0">
                <a:solidFill>
                  <a:srgbClr val="1F2933"/>
                </a:solidFill>
                <a:latin typeface="Calibri" pitchFamily="34" charset="0"/>
                <a:ea typeface="Calibri" pitchFamily="34" charset="-122"/>
                <a:cs typeface="Calibri" pitchFamily="34" charset="-120"/>
              </a:rPr>
              <a:t>TESTING + EVALUATION</a:t>
            </a:r>
            <a:endParaRPr lang="en-US" sz="950" dirty="0"/>
          </a:p>
        </p:txBody>
      </p:sp>
      <p:sp>
        <p:nvSpPr>
          <p:cNvPr id="24" name="Shape 22"/>
          <p:cNvSpPr/>
          <p:nvPr/>
        </p:nvSpPr>
        <p:spPr>
          <a:xfrm>
            <a:off x="2295144" y="3909974"/>
            <a:ext cx="164592" cy="91440"/>
          </a:xfrm>
          <a:prstGeom prst="downArrow">
            <a:avLst/>
          </a:prstGeom>
          <a:solidFill>
            <a:srgbClr val="5A6B75"/>
          </a:solidFill>
          <a:ln/>
        </p:spPr>
        <p:txBody>
          <a:bodyPr/>
          <a:lstStyle/>
          <a:p>
            <a:endParaRPr lang="en-US"/>
          </a:p>
        </p:txBody>
      </p:sp>
      <p:sp>
        <p:nvSpPr>
          <p:cNvPr id="25" name="Shape 23"/>
          <p:cNvSpPr/>
          <p:nvPr/>
        </p:nvSpPr>
        <p:spPr>
          <a:xfrm>
            <a:off x="502920" y="4023360"/>
            <a:ext cx="3749040" cy="365760"/>
          </a:xfrm>
          <a:prstGeom prst="roundRect">
            <a:avLst>
              <a:gd name="adj" fmla="val 15000"/>
            </a:avLst>
          </a:prstGeom>
          <a:solidFill>
            <a:srgbClr val="DCEEF5"/>
          </a:solidFill>
          <a:ln w="12700">
            <a:solidFill>
              <a:srgbClr val="2E86AB"/>
            </a:solidFill>
            <a:prstDash val="solid"/>
          </a:ln>
        </p:spPr>
        <p:txBody>
          <a:bodyPr/>
          <a:lstStyle/>
          <a:p>
            <a:endParaRPr lang="en-US"/>
          </a:p>
        </p:txBody>
      </p:sp>
      <p:sp>
        <p:nvSpPr>
          <p:cNvPr id="26" name="Text 24"/>
          <p:cNvSpPr/>
          <p:nvPr/>
        </p:nvSpPr>
        <p:spPr>
          <a:xfrm>
            <a:off x="502920" y="4023360"/>
            <a:ext cx="3749040" cy="365760"/>
          </a:xfrm>
          <a:prstGeom prst="rect">
            <a:avLst/>
          </a:prstGeom>
          <a:noFill/>
          <a:ln/>
        </p:spPr>
        <p:txBody>
          <a:bodyPr wrap="square" rtlCol="0" anchor="ctr"/>
          <a:lstStyle/>
          <a:p>
            <a:pPr marL="0" indent="0" algn="ctr">
              <a:buNone/>
            </a:pPr>
            <a:r>
              <a:rPr lang="en-US" sz="950" dirty="0">
                <a:solidFill>
                  <a:srgbClr val="1F2933"/>
                </a:solidFill>
                <a:latin typeface="Calibri" pitchFamily="34" charset="0"/>
                <a:ea typeface="Calibri" pitchFamily="34" charset="-122"/>
                <a:cs typeface="Calibri" pitchFamily="34" charset="-120"/>
              </a:rPr>
              <a:t>CONTROLLED DIGITAL WORKFLOW</a:t>
            </a:r>
            <a:endParaRPr lang="en-US" sz="950" dirty="0"/>
          </a:p>
        </p:txBody>
      </p:sp>
      <p:sp>
        <p:nvSpPr>
          <p:cNvPr id="27" name="Shape 25"/>
          <p:cNvSpPr/>
          <p:nvPr/>
        </p:nvSpPr>
        <p:spPr>
          <a:xfrm>
            <a:off x="2295144" y="4394606"/>
            <a:ext cx="164592" cy="91440"/>
          </a:xfrm>
          <a:prstGeom prst="downArrow">
            <a:avLst/>
          </a:prstGeom>
          <a:solidFill>
            <a:srgbClr val="5A6B75"/>
          </a:solidFill>
          <a:ln/>
        </p:spPr>
        <p:txBody>
          <a:bodyPr/>
          <a:lstStyle/>
          <a:p>
            <a:endParaRPr lang="en-US"/>
          </a:p>
        </p:txBody>
      </p:sp>
      <p:sp>
        <p:nvSpPr>
          <p:cNvPr id="28" name="Shape 26"/>
          <p:cNvSpPr/>
          <p:nvPr/>
        </p:nvSpPr>
        <p:spPr>
          <a:xfrm>
            <a:off x="502920" y="4507992"/>
            <a:ext cx="3749040" cy="365760"/>
          </a:xfrm>
          <a:prstGeom prst="roundRect">
            <a:avLst>
              <a:gd name="adj" fmla="val 15000"/>
            </a:avLst>
          </a:prstGeom>
          <a:solidFill>
            <a:srgbClr val="DCEEF5"/>
          </a:solidFill>
          <a:ln w="12700">
            <a:solidFill>
              <a:srgbClr val="2E86AB"/>
            </a:solidFill>
            <a:prstDash val="solid"/>
          </a:ln>
        </p:spPr>
        <p:txBody>
          <a:bodyPr/>
          <a:lstStyle/>
          <a:p>
            <a:endParaRPr lang="en-US"/>
          </a:p>
        </p:txBody>
      </p:sp>
      <p:sp>
        <p:nvSpPr>
          <p:cNvPr id="29" name="Text 27"/>
          <p:cNvSpPr/>
          <p:nvPr/>
        </p:nvSpPr>
        <p:spPr>
          <a:xfrm>
            <a:off x="502920" y="4507992"/>
            <a:ext cx="3749040" cy="365760"/>
          </a:xfrm>
          <a:prstGeom prst="rect">
            <a:avLst/>
          </a:prstGeom>
          <a:noFill/>
          <a:ln/>
        </p:spPr>
        <p:txBody>
          <a:bodyPr wrap="square" rtlCol="0" anchor="ctr"/>
          <a:lstStyle/>
          <a:p>
            <a:pPr marL="0" indent="0" algn="ctr">
              <a:buNone/>
            </a:pPr>
            <a:r>
              <a:rPr lang="en-US" sz="950" dirty="0">
                <a:solidFill>
                  <a:srgbClr val="1F2933"/>
                </a:solidFill>
                <a:latin typeface="Calibri" pitchFamily="34" charset="0"/>
                <a:ea typeface="Calibri" pitchFamily="34" charset="-122"/>
                <a:cs typeface="Calibri" pitchFamily="34" charset="-120"/>
              </a:rPr>
              <a:t>REUSABLE PLATFORM FOUNDATION</a:t>
            </a:r>
            <a:endParaRPr lang="en-US" sz="950" dirty="0"/>
          </a:p>
        </p:txBody>
      </p:sp>
      <p:sp>
        <p:nvSpPr>
          <p:cNvPr id="30" name="Shape 28"/>
          <p:cNvSpPr/>
          <p:nvPr/>
        </p:nvSpPr>
        <p:spPr>
          <a:xfrm>
            <a:off x="4480560" y="1115568"/>
            <a:ext cx="1325880" cy="384048"/>
          </a:xfrm>
          <a:prstGeom prst="roundRect">
            <a:avLst>
              <a:gd name="adj" fmla="val 14286"/>
            </a:avLst>
          </a:prstGeom>
          <a:solidFill>
            <a:srgbClr val="1B3A4B"/>
          </a:solidFill>
          <a:ln w="12700">
            <a:solidFill>
              <a:srgbClr val="2E86AB"/>
            </a:solidFill>
            <a:prstDash val="solid"/>
          </a:ln>
        </p:spPr>
        <p:txBody>
          <a:bodyPr/>
          <a:lstStyle/>
          <a:p>
            <a:endParaRPr lang="en-US"/>
          </a:p>
        </p:txBody>
      </p:sp>
      <p:sp>
        <p:nvSpPr>
          <p:cNvPr id="31" name="Text 29"/>
          <p:cNvSpPr/>
          <p:nvPr/>
        </p:nvSpPr>
        <p:spPr>
          <a:xfrm>
            <a:off x="4480560" y="1115568"/>
            <a:ext cx="1325880"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32" name="Shape 30"/>
          <p:cNvSpPr/>
          <p:nvPr/>
        </p:nvSpPr>
        <p:spPr>
          <a:xfrm>
            <a:off x="4480560" y="1536192"/>
            <a:ext cx="1325880" cy="384048"/>
          </a:xfrm>
          <a:prstGeom prst="roundRect">
            <a:avLst>
              <a:gd name="adj" fmla="val 14286"/>
            </a:avLst>
          </a:prstGeom>
          <a:solidFill>
            <a:srgbClr val="FBEBD3"/>
          </a:solidFill>
          <a:ln w="12700">
            <a:solidFill>
              <a:srgbClr val="C77D0A"/>
            </a:solidFill>
            <a:prstDash val="solid"/>
          </a:ln>
        </p:spPr>
        <p:txBody>
          <a:bodyPr/>
          <a:lstStyle/>
          <a:p>
            <a:endParaRPr lang="en-US"/>
          </a:p>
        </p:txBody>
      </p:sp>
      <p:sp>
        <p:nvSpPr>
          <p:cNvPr id="33" name="Text 31"/>
          <p:cNvSpPr/>
          <p:nvPr/>
        </p:nvSpPr>
        <p:spPr>
          <a:xfrm>
            <a:off x="4480560" y="1536192"/>
            <a:ext cx="1325880" cy="384048"/>
          </a:xfrm>
          <a:prstGeom prst="rect">
            <a:avLst/>
          </a:prstGeom>
          <a:noFill/>
          <a:ln/>
        </p:spPr>
        <p:txBody>
          <a:bodyPr wrap="square" rtlCol="0" anchor="ctr"/>
          <a:lstStyle/>
          <a:p>
            <a:pPr marL="0" indent="0" algn="ctr">
              <a:buNone/>
            </a:pPr>
            <a:r>
              <a:rPr lang="en-US" sz="1000" b="1" dirty="0">
                <a:solidFill>
                  <a:srgbClr val="1F2933"/>
                </a:solidFill>
                <a:latin typeface="Calibri" pitchFamily="34" charset="0"/>
                <a:ea typeface="Calibri" pitchFamily="34" charset="-122"/>
                <a:cs typeface="Calibri" pitchFamily="34" charset="-120"/>
              </a:rPr>
              <a:t>Specification-driven</a:t>
            </a:r>
            <a:endParaRPr lang="en-US" sz="1000" dirty="0"/>
          </a:p>
        </p:txBody>
      </p:sp>
      <p:sp>
        <p:nvSpPr>
          <p:cNvPr id="34" name="Shape 32"/>
          <p:cNvSpPr/>
          <p:nvPr/>
        </p:nvSpPr>
        <p:spPr>
          <a:xfrm>
            <a:off x="4480560" y="1956816"/>
            <a:ext cx="1325880" cy="1371600"/>
          </a:xfrm>
          <a:prstGeom prst="roundRect">
            <a:avLst>
              <a:gd name="adj" fmla="val 4138"/>
            </a:avLst>
          </a:prstGeom>
          <a:solidFill>
            <a:srgbClr val="EEF2F4"/>
          </a:solidFill>
          <a:ln w="9525">
            <a:solidFill>
              <a:srgbClr val="5A6B75"/>
            </a:solidFill>
            <a:prstDash val="solid"/>
          </a:ln>
        </p:spPr>
        <p:txBody>
          <a:bodyPr/>
          <a:lstStyle/>
          <a:p>
            <a:endParaRPr lang="en-US"/>
          </a:p>
        </p:txBody>
      </p:sp>
      <p:sp>
        <p:nvSpPr>
          <p:cNvPr id="35" name="Text 33"/>
          <p:cNvSpPr/>
          <p:nvPr/>
        </p:nvSpPr>
        <p:spPr>
          <a:xfrm>
            <a:off x="4480560" y="1956816"/>
            <a:ext cx="1325880" cy="1371600"/>
          </a:xfrm>
          <a:prstGeom prst="rect">
            <a:avLst/>
          </a:prstGeom>
          <a:noFill/>
          <a:ln/>
        </p:spPr>
        <p:txBody>
          <a:bodyPr wrap="square" rtlCol="0" anchor="ctr"/>
          <a:lstStyle/>
          <a:p>
            <a:pPr marL="0" indent="0" algn="ctr">
              <a:buNone/>
            </a:pPr>
            <a:r>
              <a:rPr lang="en-US" sz="900" dirty="0">
                <a:solidFill>
                  <a:srgbClr val="1F2933"/>
                </a:solidFill>
                <a:latin typeface="Calibri" pitchFamily="34" charset="0"/>
                <a:ea typeface="Calibri" pitchFamily="34" charset="-122"/>
                <a:cs typeface="Calibri" pitchFamily="34" charset="-120"/>
              </a:rPr>
              <a:t>Requirements are connected to rules, implementation and tests.</a:t>
            </a:r>
            <a:endParaRPr lang="en-US" sz="900" dirty="0"/>
          </a:p>
        </p:txBody>
      </p:sp>
      <p:sp>
        <p:nvSpPr>
          <p:cNvPr id="36" name="Shape 34"/>
          <p:cNvSpPr/>
          <p:nvPr/>
        </p:nvSpPr>
        <p:spPr>
          <a:xfrm>
            <a:off x="5943600" y="1115568"/>
            <a:ext cx="1325880" cy="384048"/>
          </a:xfrm>
          <a:prstGeom prst="roundRect">
            <a:avLst>
              <a:gd name="adj" fmla="val 14286"/>
            </a:avLst>
          </a:prstGeom>
          <a:solidFill>
            <a:srgbClr val="1B3A4B"/>
          </a:solidFill>
          <a:ln w="12700">
            <a:solidFill>
              <a:srgbClr val="2E86AB"/>
            </a:solidFill>
            <a:prstDash val="solid"/>
          </a:ln>
        </p:spPr>
        <p:txBody>
          <a:bodyPr/>
          <a:lstStyle/>
          <a:p>
            <a:endParaRPr lang="en-US"/>
          </a:p>
        </p:txBody>
      </p:sp>
      <p:sp>
        <p:nvSpPr>
          <p:cNvPr id="37" name="Text 35"/>
          <p:cNvSpPr/>
          <p:nvPr/>
        </p:nvSpPr>
        <p:spPr>
          <a:xfrm>
            <a:off x="5943600" y="1115568"/>
            <a:ext cx="1325880"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38" name="Shape 36"/>
          <p:cNvSpPr/>
          <p:nvPr/>
        </p:nvSpPr>
        <p:spPr>
          <a:xfrm>
            <a:off x="5943600" y="1536192"/>
            <a:ext cx="1325880" cy="384048"/>
          </a:xfrm>
          <a:prstGeom prst="roundRect">
            <a:avLst>
              <a:gd name="adj" fmla="val 14286"/>
            </a:avLst>
          </a:prstGeom>
          <a:solidFill>
            <a:srgbClr val="FBEBD3"/>
          </a:solidFill>
          <a:ln w="12700">
            <a:solidFill>
              <a:srgbClr val="C77D0A"/>
            </a:solidFill>
            <a:prstDash val="solid"/>
          </a:ln>
        </p:spPr>
        <p:txBody>
          <a:bodyPr/>
          <a:lstStyle/>
          <a:p>
            <a:endParaRPr lang="en-US"/>
          </a:p>
        </p:txBody>
      </p:sp>
      <p:sp>
        <p:nvSpPr>
          <p:cNvPr id="39" name="Text 37"/>
          <p:cNvSpPr/>
          <p:nvPr/>
        </p:nvSpPr>
        <p:spPr>
          <a:xfrm>
            <a:off x="5943600" y="1536192"/>
            <a:ext cx="1325880" cy="384048"/>
          </a:xfrm>
          <a:prstGeom prst="rect">
            <a:avLst/>
          </a:prstGeom>
          <a:noFill/>
          <a:ln/>
        </p:spPr>
        <p:txBody>
          <a:bodyPr wrap="square" rtlCol="0" anchor="ctr"/>
          <a:lstStyle/>
          <a:p>
            <a:pPr marL="0" indent="0" algn="ctr">
              <a:buNone/>
            </a:pPr>
            <a:r>
              <a:rPr lang="en-US" sz="1000" b="1" dirty="0">
                <a:solidFill>
                  <a:srgbClr val="1F2933"/>
                </a:solidFill>
                <a:latin typeface="Calibri" pitchFamily="34" charset="0"/>
                <a:ea typeface="Calibri" pitchFamily="34" charset="-122"/>
                <a:cs typeface="Calibri" pitchFamily="34" charset="-120"/>
              </a:rPr>
              <a:t>Resource-aware</a:t>
            </a:r>
            <a:endParaRPr lang="en-US" sz="1000" dirty="0"/>
          </a:p>
        </p:txBody>
      </p:sp>
      <p:sp>
        <p:nvSpPr>
          <p:cNvPr id="40" name="Shape 38"/>
          <p:cNvSpPr/>
          <p:nvPr/>
        </p:nvSpPr>
        <p:spPr>
          <a:xfrm>
            <a:off x="5943600" y="1956816"/>
            <a:ext cx="1325880" cy="1371600"/>
          </a:xfrm>
          <a:prstGeom prst="roundRect">
            <a:avLst>
              <a:gd name="adj" fmla="val 4138"/>
            </a:avLst>
          </a:prstGeom>
          <a:solidFill>
            <a:srgbClr val="EEF2F4"/>
          </a:solidFill>
          <a:ln w="9525">
            <a:solidFill>
              <a:srgbClr val="5A6B75"/>
            </a:solidFill>
            <a:prstDash val="solid"/>
          </a:ln>
        </p:spPr>
        <p:txBody>
          <a:bodyPr/>
          <a:lstStyle/>
          <a:p>
            <a:endParaRPr lang="en-US"/>
          </a:p>
        </p:txBody>
      </p:sp>
      <p:sp>
        <p:nvSpPr>
          <p:cNvPr id="41" name="Text 39"/>
          <p:cNvSpPr/>
          <p:nvPr/>
        </p:nvSpPr>
        <p:spPr>
          <a:xfrm>
            <a:off x="5943600" y="1956816"/>
            <a:ext cx="1325880" cy="1371600"/>
          </a:xfrm>
          <a:prstGeom prst="rect">
            <a:avLst/>
          </a:prstGeom>
          <a:noFill/>
          <a:ln/>
        </p:spPr>
        <p:txBody>
          <a:bodyPr wrap="square" rtlCol="0" anchor="ctr"/>
          <a:lstStyle/>
          <a:p>
            <a:pPr marL="0" indent="0" algn="ctr">
              <a:buNone/>
            </a:pPr>
            <a:r>
              <a:rPr lang="en-US" sz="900" dirty="0">
                <a:solidFill>
                  <a:srgbClr val="1F2933"/>
                </a:solidFill>
                <a:latin typeface="Calibri" pitchFamily="34" charset="0"/>
                <a:ea typeface="Calibri" pitchFamily="34" charset="-122"/>
                <a:cs typeface="Calibri" pitchFamily="34" charset="-120"/>
              </a:rPr>
              <a:t>Designed around low cost and limited operational capacity.</a:t>
            </a:r>
            <a:endParaRPr lang="en-US" sz="900" dirty="0"/>
          </a:p>
        </p:txBody>
      </p:sp>
      <p:sp>
        <p:nvSpPr>
          <p:cNvPr id="42" name="Shape 40"/>
          <p:cNvSpPr/>
          <p:nvPr/>
        </p:nvSpPr>
        <p:spPr>
          <a:xfrm>
            <a:off x="7406640" y="1115568"/>
            <a:ext cx="1325880" cy="384048"/>
          </a:xfrm>
          <a:prstGeom prst="roundRect">
            <a:avLst>
              <a:gd name="adj" fmla="val 14286"/>
            </a:avLst>
          </a:prstGeom>
          <a:solidFill>
            <a:srgbClr val="1B3A4B"/>
          </a:solidFill>
          <a:ln w="12700">
            <a:solidFill>
              <a:srgbClr val="2E86AB"/>
            </a:solidFill>
            <a:prstDash val="solid"/>
          </a:ln>
        </p:spPr>
        <p:txBody>
          <a:bodyPr/>
          <a:lstStyle/>
          <a:p>
            <a:endParaRPr lang="en-US"/>
          </a:p>
        </p:txBody>
      </p:sp>
      <p:sp>
        <p:nvSpPr>
          <p:cNvPr id="43" name="Text 41"/>
          <p:cNvSpPr/>
          <p:nvPr/>
        </p:nvSpPr>
        <p:spPr>
          <a:xfrm>
            <a:off x="7406640" y="1115568"/>
            <a:ext cx="1325880"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4" name="Shape 42"/>
          <p:cNvSpPr/>
          <p:nvPr/>
        </p:nvSpPr>
        <p:spPr>
          <a:xfrm>
            <a:off x="7406640" y="1536192"/>
            <a:ext cx="1325880" cy="384048"/>
          </a:xfrm>
          <a:prstGeom prst="roundRect">
            <a:avLst>
              <a:gd name="adj" fmla="val 14286"/>
            </a:avLst>
          </a:prstGeom>
          <a:solidFill>
            <a:srgbClr val="FBEBD3"/>
          </a:solidFill>
          <a:ln w="12700">
            <a:solidFill>
              <a:srgbClr val="C77D0A"/>
            </a:solidFill>
            <a:prstDash val="solid"/>
          </a:ln>
        </p:spPr>
        <p:txBody>
          <a:bodyPr/>
          <a:lstStyle/>
          <a:p>
            <a:endParaRPr lang="en-US"/>
          </a:p>
        </p:txBody>
      </p:sp>
      <p:sp>
        <p:nvSpPr>
          <p:cNvPr id="45" name="Text 43"/>
          <p:cNvSpPr/>
          <p:nvPr/>
        </p:nvSpPr>
        <p:spPr>
          <a:xfrm>
            <a:off x="7406640" y="1536192"/>
            <a:ext cx="1325880" cy="384048"/>
          </a:xfrm>
          <a:prstGeom prst="rect">
            <a:avLst/>
          </a:prstGeom>
          <a:noFill/>
          <a:ln/>
        </p:spPr>
        <p:txBody>
          <a:bodyPr wrap="square" rtlCol="0" anchor="ctr"/>
          <a:lstStyle/>
          <a:p>
            <a:pPr marL="0" indent="0" algn="ctr">
              <a:buNone/>
            </a:pPr>
            <a:r>
              <a:rPr lang="en-US" sz="1000" b="1" dirty="0">
                <a:solidFill>
                  <a:srgbClr val="1F2933"/>
                </a:solidFill>
                <a:latin typeface="Calibri" pitchFamily="34" charset="0"/>
                <a:ea typeface="Calibri" pitchFamily="34" charset="-122"/>
                <a:cs typeface="Calibri" pitchFamily="34" charset="-120"/>
              </a:rPr>
              <a:t>Governance-aware</a:t>
            </a:r>
            <a:endParaRPr lang="en-US" sz="1000" dirty="0"/>
          </a:p>
        </p:txBody>
      </p:sp>
      <p:sp>
        <p:nvSpPr>
          <p:cNvPr id="46" name="Shape 44"/>
          <p:cNvSpPr/>
          <p:nvPr/>
        </p:nvSpPr>
        <p:spPr>
          <a:xfrm>
            <a:off x="7406640" y="1956816"/>
            <a:ext cx="1325880" cy="1371600"/>
          </a:xfrm>
          <a:prstGeom prst="roundRect">
            <a:avLst>
              <a:gd name="adj" fmla="val 4138"/>
            </a:avLst>
          </a:prstGeom>
          <a:solidFill>
            <a:srgbClr val="EEF2F4"/>
          </a:solidFill>
          <a:ln w="9525">
            <a:solidFill>
              <a:srgbClr val="5A6B75"/>
            </a:solidFill>
            <a:prstDash val="solid"/>
          </a:ln>
        </p:spPr>
        <p:txBody>
          <a:bodyPr/>
          <a:lstStyle/>
          <a:p>
            <a:endParaRPr lang="en-US"/>
          </a:p>
        </p:txBody>
      </p:sp>
      <p:sp>
        <p:nvSpPr>
          <p:cNvPr id="47" name="Text 45"/>
          <p:cNvSpPr/>
          <p:nvPr/>
        </p:nvSpPr>
        <p:spPr>
          <a:xfrm>
            <a:off x="7406640" y="1956816"/>
            <a:ext cx="1325880" cy="1371600"/>
          </a:xfrm>
          <a:prstGeom prst="rect">
            <a:avLst/>
          </a:prstGeom>
          <a:noFill/>
          <a:ln/>
        </p:spPr>
        <p:txBody>
          <a:bodyPr wrap="square" rtlCol="0" anchor="ctr"/>
          <a:lstStyle/>
          <a:p>
            <a:pPr marL="0" indent="0" algn="ctr">
              <a:buNone/>
            </a:pPr>
            <a:r>
              <a:rPr lang="en-US" sz="900" dirty="0">
                <a:solidFill>
                  <a:srgbClr val="1F2933"/>
                </a:solidFill>
                <a:latin typeface="Calibri" pitchFamily="34" charset="0"/>
                <a:ea typeface="Calibri" pitchFamily="34" charset="-122"/>
                <a:cs typeface="Calibri" pitchFamily="34" charset="-120"/>
              </a:rPr>
              <a:t>Supports Association processes without replacing institutional authority.</a:t>
            </a:r>
            <a:endParaRPr lang="en-US" sz="900" dirty="0"/>
          </a:p>
        </p:txBody>
      </p:sp>
      <p:sp>
        <p:nvSpPr>
          <p:cNvPr id="48" name="Shape 46"/>
          <p:cNvSpPr/>
          <p:nvPr/>
        </p:nvSpPr>
        <p:spPr>
          <a:xfrm>
            <a:off x="8869680" y="1115568"/>
            <a:ext cx="1325880" cy="384048"/>
          </a:xfrm>
          <a:prstGeom prst="roundRect">
            <a:avLst>
              <a:gd name="adj" fmla="val 14286"/>
            </a:avLst>
          </a:prstGeom>
          <a:solidFill>
            <a:srgbClr val="1B3A4B"/>
          </a:solidFill>
          <a:ln w="12700">
            <a:solidFill>
              <a:srgbClr val="2E86AB"/>
            </a:solidFill>
            <a:prstDash val="solid"/>
          </a:ln>
        </p:spPr>
        <p:txBody>
          <a:bodyPr/>
          <a:lstStyle/>
          <a:p>
            <a:endParaRPr lang="en-US"/>
          </a:p>
        </p:txBody>
      </p:sp>
      <p:sp>
        <p:nvSpPr>
          <p:cNvPr id="49" name="Text 47"/>
          <p:cNvSpPr/>
          <p:nvPr/>
        </p:nvSpPr>
        <p:spPr>
          <a:xfrm>
            <a:off x="8869680" y="1115568"/>
            <a:ext cx="1325880"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50" name="Shape 48"/>
          <p:cNvSpPr/>
          <p:nvPr/>
        </p:nvSpPr>
        <p:spPr>
          <a:xfrm>
            <a:off x="8869680" y="1536192"/>
            <a:ext cx="1325880" cy="384048"/>
          </a:xfrm>
          <a:prstGeom prst="roundRect">
            <a:avLst>
              <a:gd name="adj" fmla="val 14286"/>
            </a:avLst>
          </a:prstGeom>
          <a:solidFill>
            <a:srgbClr val="FBEBD3"/>
          </a:solidFill>
          <a:ln w="12700">
            <a:solidFill>
              <a:srgbClr val="C77D0A"/>
            </a:solidFill>
            <a:prstDash val="solid"/>
          </a:ln>
        </p:spPr>
        <p:txBody>
          <a:bodyPr/>
          <a:lstStyle/>
          <a:p>
            <a:endParaRPr lang="en-US"/>
          </a:p>
        </p:txBody>
      </p:sp>
      <p:sp>
        <p:nvSpPr>
          <p:cNvPr id="51" name="Text 49"/>
          <p:cNvSpPr/>
          <p:nvPr/>
        </p:nvSpPr>
        <p:spPr>
          <a:xfrm>
            <a:off x="8869680" y="1536192"/>
            <a:ext cx="1325880" cy="384048"/>
          </a:xfrm>
          <a:prstGeom prst="rect">
            <a:avLst/>
          </a:prstGeom>
          <a:noFill/>
          <a:ln/>
        </p:spPr>
        <p:txBody>
          <a:bodyPr wrap="square" rtlCol="0" anchor="ctr"/>
          <a:lstStyle/>
          <a:p>
            <a:pPr marL="0" indent="0" algn="ctr">
              <a:buNone/>
            </a:pPr>
            <a:r>
              <a:rPr lang="en-US" sz="1000" b="1" dirty="0">
                <a:solidFill>
                  <a:srgbClr val="1F2933"/>
                </a:solidFill>
                <a:latin typeface="Calibri" pitchFamily="34" charset="0"/>
                <a:ea typeface="Calibri" pitchFamily="34" charset="-122"/>
                <a:cs typeface="Calibri" pitchFamily="34" charset="-120"/>
              </a:rPr>
              <a:t>Reusable</a:t>
            </a:r>
            <a:endParaRPr lang="en-US" sz="1000" dirty="0"/>
          </a:p>
        </p:txBody>
      </p:sp>
      <p:sp>
        <p:nvSpPr>
          <p:cNvPr id="52" name="Shape 50"/>
          <p:cNvSpPr/>
          <p:nvPr/>
        </p:nvSpPr>
        <p:spPr>
          <a:xfrm>
            <a:off x="8869680" y="1956816"/>
            <a:ext cx="1325880" cy="1371600"/>
          </a:xfrm>
          <a:prstGeom prst="roundRect">
            <a:avLst>
              <a:gd name="adj" fmla="val 4138"/>
            </a:avLst>
          </a:prstGeom>
          <a:solidFill>
            <a:srgbClr val="EEF2F4"/>
          </a:solidFill>
          <a:ln w="9525">
            <a:solidFill>
              <a:srgbClr val="5A6B75"/>
            </a:solidFill>
            <a:prstDash val="solid"/>
          </a:ln>
        </p:spPr>
        <p:txBody>
          <a:bodyPr/>
          <a:lstStyle/>
          <a:p>
            <a:endParaRPr lang="en-US"/>
          </a:p>
        </p:txBody>
      </p:sp>
      <p:sp>
        <p:nvSpPr>
          <p:cNvPr id="53" name="Text 51"/>
          <p:cNvSpPr/>
          <p:nvPr/>
        </p:nvSpPr>
        <p:spPr>
          <a:xfrm>
            <a:off x="8869680" y="1956816"/>
            <a:ext cx="1325880" cy="1371600"/>
          </a:xfrm>
          <a:prstGeom prst="rect">
            <a:avLst/>
          </a:prstGeom>
          <a:noFill/>
          <a:ln/>
        </p:spPr>
        <p:txBody>
          <a:bodyPr wrap="square" rtlCol="0" anchor="ctr"/>
          <a:lstStyle/>
          <a:p>
            <a:pPr marL="0" indent="0" algn="ctr">
              <a:buNone/>
            </a:pPr>
            <a:r>
              <a:rPr lang="en-US" sz="900" dirty="0">
                <a:solidFill>
                  <a:srgbClr val="1F2933"/>
                </a:solidFill>
                <a:latin typeface="Calibri" pitchFamily="34" charset="0"/>
                <a:ea typeface="Calibri" pitchFamily="34" charset="-122"/>
                <a:cs typeface="Calibri" pitchFamily="34" charset="-120"/>
              </a:rPr>
              <a:t>Common capabilities are separated from organization-specific configuration.</a:t>
            </a:r>
            <a:endParaRPr lang="en-US" sz="900" dirty="0"/>
          </a:p>
        </p:txBody>
      </p:sp>
      <p:sp>
        <p:nvSpPr>
          <p:cNvPr id="54" name="Shape 52"/>
          <p:cNvSpPr/>
          <p:nvPr/>
        </p:nvSpPr>
        <p:spPr>
          <a:xfrm>
            <a:off x="10332720" y="1115568"/>
            <a:ext cx="1325880" cy="384048"/>
          </a:xfrm>
          <a:prstGeom prst="roundRect">
            <a:avLst>
              <a:gd name="adj" fmla="val 14286"/>
            </a:avLst>
          </a:prstGeom>
          <a:solidFill>
            <a:srgbClr val="1B3A4B"/>
          </a:solidFill>
          <a:ln w="12700">
            <a:solidFill>
              <a:srgbClr val="2E86AB"/>
            </a:solidFill>
            <a:prstDash val="solid"/>
          </a:ln>
        </p:spPr>
        <p:txBody>
          <a:bodyPr/>
          <a:lstStyle/>
          <a:p>
            <a:endParaRPr lang="en-US"/>
          </a:p>
        </p:txBody>
      </p:sp>
      <p:sp>
        <p:nvSpPr>
          <p:cNvPr id="55" name="Text 53"/>
          <p:cNvSpPr/>
          <p:nvPr/>
        </p:nvSpPr>
        <p:spPr>
          <a:xfrm>
            <a:off x="10332720" y="1115568"/>
            <a:ext cx="1325880" cy="384048"/>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56" name="Shape 54"/>
          <p:cNvSpPr/>
          <p:nvPr/>
        </p:nvSpPr>
        <p:spPr>
          <a:xfrm>
            <a:off x="10332720" y="1536192"/>
            <a:ext cx="1325880" cy="384048"/>
          </a:xfrm>
          <a:prstGeom prst="roundRect">
            <a:avLst>
              <a:gd name="adj" fmla="val 14286"/>
            </a:avLst>
          </a:prstGeom>
          <a:solidFill>
            <a:srgbClr val="FBEBD3"/>
          </a:solidFill>
          <a:ln w="12700">
            <a:solidFill>
              <a:srgbClr val="C77D0A"/>
            </a:solidFill>
            <a:prstDash val="solid"/>
          </a:ln>
        </p:spPr>
        <p:txBody>
          <a:bodyPr/>
          <a:lstStyle/>
          <a:p>
            <a:endParaRPr lang="en-US"/>
          </a:p>
        </p:txBody>
      </p:sp>
      <p:sp>
        <p:nvSpPr>
          <p:cNvPr id="57" name="Text 55"/>
          <p:cNvSpPr/>
          <p:nvPr/>
        </p:nvSpPr>
        <p:spPr>
          <a:xfrm>
            <a:off x="10332720" y="1536192"/>
            <a:ext cx="1325880" cy="384048"/>
          </a:xfrm>
          <a:prstGeom prst="rect">
            <a:avLst/>
          </a:prstGeom>
          <a:noFill/>
          <a:ln/>
        </p:spPr>
        <p:txBody>
          <a:bodyPr wrap="square" rtlCol="0" anchor="ctr"/>
          <a:lstStyle/>
          <a:p>
            <a:pPr marL="0" indent="0" algn="ctr">
              <a:buNone/>
            </a:pPr>
            <a:r>
              <a:rPr lang="en-US" sz="1000" b="1" dirty="0">
                <a:solidFill>
                  <a:srgbClr val="1F2933"/>
                </a:solidFill>
                <a:latin typeface="Calibri" pitchFamily="34" charset="0"/>
                <a:ea typeface="Calibri" pitchFamily="34" charset="-122"/>
                <a:cs typeface="Calibri" pitchFamily="34" charset="-120"/>
              </a:rPr>
              <a:t>Evidence-oriented</a:t>
            </a:r>
            <a:endParaRPr lang="en-US" sz="1000" dirty="0"/>
          </a:p>
        </p:txBody>
      </p:sp>
      <p:sp>
        <p:nvSpPr>
          <p:cNvPr id="58" name="Shape 56"/>
          <p:cNvSpPr/>
          <p:nvPr/>
        </p:nvSpPr>
        <p:spPr>
          <a:xfrm>
            <a:off x="10332720" y="1956816"/>
            <a:ext cx="1325880" cy="1371600"/>
          </a:xfrm>
          <a:prstGeom prst="roundRect">
            <a:avLst>
              <a:gd name="adj" fmla="val 4138"/>
            </a:avLst>
          </a:prstGeom>
          <a:solidFill>
            <a:srgbClr val="EEF2F4"/>
          </a:solidFill>
          <a:ln w="9525">
            <a:solidFill>
              <a:srgbClr val="5A6B75"/>
            </a:solidFill>
            <a:prstDash val="solid"/>
          </a:ln>
        </p:spPr>
        <p:txBody>
          <a:bodyPr/>
          <a:lstStyle/>
          <a:p>
            <a:endParaRPr lang="en-US"/>
          </a:p>
        </p:txBody>
      </p:sp>
      <p:sp>
        <p:nvSpPr>
          <p:cNvPr id="59" name="Text 57"/>
          <p:cNvSpPr/>
          <p:nvPr/>
        </p:nvSpPr>
        <p:spPr>
          <a:xfrm>
            <a:off x="10332720" y="1956816"/>
            <a:ext cx="1325880" cy="1371600"/>
          </a:xfrm>
          <a:prstGeom prst="rect">
            <a:avLst/>
          </a:prstGeom>
          <a:noFill/>
          <a:ln/>
        </p:spPr>
        <p:txBody>
          <a:bodyPr wrap="square" rtlCol="0" anchor="ctr"/>
          <a:lstStyle/>
          <a:p>
            <a:pPr marL="0" indent="0" algn="ctr">
              <a:buNone/>
            </a:pPr>
            <a:r>
              <a:rPr lang="en-US" sz="900" dirty="0">
                <a:solidFill>
                  <a:srgbClr val="1F2933"/>
                </a:solidFill>
                <a:latin typeface="Calibri" pitchFamily="34" charset="0"/>
                <a:ea typeface="Calibri" pitchFamily="34" charset="-122"/>
                <a:cs typeface="Calibri" pitchFamily="34" charset="-120"/>
              </a:rPr>
              <a:t>Quality is evaluated rather than assumed from functionality alone.</a:t>
            </a:r>
            <a:endParaRPr lang="en-US" sz="900" dirty="0"/>
          </a:p>
        </p:txBody>
      </p:sp>
      <p:sp>
        <p:nvSpPr>
          <p:cNvPr id="60" name="Shape 58"/>
          <p:cNvSpPr/>
          <p:nvPr/>
        </p:nvSpPr>
        <p:spPr>
          <a:xfrm>
            <a:off x="4480560" y="3611880"/>
            <a:ext cx="7178040" cy="1005840"/>
          </a:xfrm>
          <a:prstGeom prst="roundRect">
            <a:avLst>
              <a:gd name="adj" fmla="val 7273"/>
            </a:avLst>
          </a:prstGeom>
          <a:solidFill>
            <a:srgbClr val="1B3A4B"/>
          </a:solidFill>
          <a:ln/>
        </p:spPr>
        <p:txBody>
          <a:bodyPr/>
          <a:lstStyle/>
          <a:p>
            <a:endParaRPr lang="en-US"/>
          </a:p>
        </p:txBody>
      </p:sp>
      <p:sp>
        <p:nvSpPr>
          <p:cNvPr id="61" name="Text 59"/>
          <p:cNvSpPr/>
          <p:nvPr/>
        </p:nvSpPr>
        <p:spPr>
          <a:xfrm>
            <a:off x="4754880" y="3611880"/>
            <a:ext cx="6629400" cy="1005840"/>
          </a:xfrm>
          <a:prstGeom prst="rect">
            <a:avLst/>
          </a:prstGeom>
          <a:noFill/>
          <a:ln/>
        </p:spPr>
        <p:txBody>
          <a:bodyPr wrap="square" rtlCol="0" anchor="ctr"/>
          <a:lstStyle/>
          <a:p>
            <a:pPr marL="0" indent="0" algn="ctr">
              <a:buNone/>
            </a:pPr>
            <a:r>
              <a:rPr lang="en-US" sz="1250" b="1" dirty="0">
                <a:solidFill>
                  <a:srgbClr val="FFFFFF"/>
                </a:solidFill>
                <a:latin typeface="Georgia" pitchFamily="34" charset="0"/>
                <a:ea typeface="Georgia" pitchFamily="34" charset="-122"/>
                <a:cs typeface="Georgia" pitchFamily="34" charset="-120"/>
              </a:rPr>
              <a:t>The contribution is not a new framework or algorithm. It is the engineering combination of specification, reusable architecture, controlled workflows and measurable evaluation under real organizational constraints.</a:t>
            </a:r>
            <a:endParaRPr lang="en-US" sz="1250" dirty="0"/>
          </a:p>
        </p:txBody>
      </p:sp>
      <p:sp>
        <p:nvSpPr>
          <p:cNvPr id="62" name="Text 60"/>
          <p:cNvSpPr/>
          <p:nvPr/>
        </p:nvSpPr>
        <p:spPr>
          <a:xfrm>
            <a:off x="4480560" y="4846320"/>
            <a:ext cx="7178040" cy="457200"/>
          </a:xfrm>
          <a:prstGeom prst="rect">
            <a:avLst/>
          </a:prstGeom>
          <a:noFill/>
          <a:ln/>
        </p:spPr>
        <p:txBody>
          <a:bodyPr wrap="square" rtlCol="0" anchor="ctr"/>
          <a:lstStyle/>
          <a:p>
            <a:pPr marL="0" indent="0" algn="ctr">
              <a:buNone/>
            </a:pPr>
            <a:r>
              <a:rPr lang="en-US" sz="1600" b="1" dirty="0">
                <a:solidFill>
                  <a:srgbClr val="1B3A4B"/>
                </a:solidFill>
                <a:latin typeface="Georgia" pitchFamily="34" charset="0"/>
                <a:ea typeface="Georgia" pitchFamily="34" charset="-122"/>
                <a:cs typeface="Georgia" pitchFamily="34" charset="-120"/>
              </a:rPr>
              <a:t>Thank You — Questions &amp; Discussion</a:t>
            </a:r>
            <a:endParaRPr lang="en-US" sz="1600" dirty="0"/>
          </a:p>
        </p:txBody>
      </p:sp>
      <p:sp>
        <p:nvSpPr>
          <p:cNvPr id="64" name="Text 61"/>
          <p:cNvSpPr/>
          <p:nvPr/>
        </p:nvSpPr>
        <p:spPr>
          <a:xfrm>
            <a:off x="502920" y="6547104"/>
            <a:ext cx="7315200" cy="256032"/>
          </a:xfrm>
          <a:prstGeom prst="rect">
            <a:avLst/>
          </a:prstGeom>
          <a:noFill/>
          <a:ln/>
        </p:spPr>
        <p:txBody>
          <a:bodyPr wrap="square" rtlCol="0" anchor="ctr"/>
          <a:lstStyle/>
          <a:p>
            <a:pPr marL="0" indent="0">
              <a:buNone/>
            </a:pPr>
            <a:r>
              <a:rPr lang="en-US" sz="1000" i="1" dirty="0">
                <a:solidFill>
                  <a:srgbClr val="5A6B75"/>
                </a:solidFill>
                <a:latin typeface="Calibri" pitchFamily="34" charset="0"/>
                <a:ea typeface="Calibri" pitchFamily="34" charset="-122"/>
                <a:cs typeface="Calibri" pitchFamily="34" charset="-120"/>
              </a:rPr>
              <a:t>GHCAA — Govt. Haraganga College Alumni Association</a:t>
            </a:r>
            <a:endParaRPr lang="en-US" sz="1000" dirty="0"/>
          </a:p>
        </p:txBody>
      </p:sp>
      <p:sp>
        <p:nvSpPr>
          <p:cNvPr id="65" name="Text 62"/>
          <p:cNvSpPr/>
          <p:nvPr/>
        </p:nvSpPr>
        <p:spPr>
          <a:xfrm>
            <a:off x="11521440" y="6547104"/>
            <a:ext cx="457200" cy="256032"/>
          </a:xfrm>
          <a:prstGeom prst="rect">
            <a:avLst/>
          </a:prstGeom>
          <a:noFill/>
          <a:ln/>
        </p:spPr>
        <p:txBody>
          <a:bodyPr wrap="square" rtlCol="0" anchor="ctr"/>
          <a:lstStyle/>
          <a:p>
            <a:pPr marL="0" indent="0" algn="r">
              <a:buNone/>
            </a:pPr>
            <a:r>
              <a:rPr lang="en-US" sz="1000" dirty="0">
                <a:solidFill>
                  <a:srgbClr val="5A6B75"/>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587</TotalTime>
  <Words>1335</Words>
  <Application>Microsoft Office PowerPoint</Application>
  <PresentationFormat>Widescreen</PresentationFormat>
  <Paragraphs>309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 Development and Evaluation of a Specification-Driven and Reusable Alumni Management Platform</dc:title>
  <dc:subject>PptxGenJS Presentation</dc:subject>
  <dc:creator>Md. Habibur Rahman</dc:creator>
  <cp:lastModifiedBy>Habibur Rahman Shalin</cp:lastModifiedBy>
  <cp:revision>2</cp:revision>
  <dcterms:created xsi:type="dcterms:W3CDTF">2026-09-21T19:43:34Z</dcterms:created>
  <dcterms:modified xsi:type="dcterms:W3CDTF">2026-09-22T05:42:32Z</dcterms:modified>
</cp:coreProperties>
</file>