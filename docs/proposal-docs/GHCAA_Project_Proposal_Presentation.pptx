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0040" y="146304"/>
            <a:ext cx="438912" cy="6711696"/>
          </a:xfrm>
          <a:prstGeom prst="rect">
            <a:avLst/>
          </a:prstGeom>
          <a:solidFill>
            <a:srgbClr val="45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2C1D6"/>
                </a:solidFill>
                <a:latin typeface="Aptos"/>
              </a:defRPr>
            </a:pPr>
            <a:r>
              <a:t>GHCAA  |  Project Proposal  |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2412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EEB84C"/>
                </a:solidFill>
                <a:latin typeface="Aptos"/>
              </a:defRPr>
            </a:pPr>
            <a:r>
              <a:t>GHCAA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1024128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F4F7FC"/>
                </a:solidFill>
                <a:latin typeface="Aptos"/>
              </a:defRPr>
            </a:pPr>
            <a:r>
              <a:t>A Specification-Driven and Reusable Alumni 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9875520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Md. Habibur Rahman</a:t>
            </a:r>
          </a:p>
          <a:p>
            <a:pPr>
              <a:spcAft>
                <a:spcPts val="10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Roll 220 | Student ID 2507220</a:t>
            </a:r>
          </a:p>
          <a:p>
            <a:pPr>
              <a:spcAft>
                <a:spcPts val="10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Executive Master in Information Technology</a:t>
            </a:r>
          </a:p>
          <a:p>
            <a:pPr>
              <a:spcAft>
                <a:spcPts val="10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Supervisor: Dr. Kazi Muheymin-Us-Sakib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0040" y="146304"/>
            <a:ext cx="438912" cy="6711696"/>
          </a:xfrm>
          <a:prstGeom prst="rect">
            <a:avLst/>
          </a:prstGeom>
          <a:solidFill>
            <a:srgbClr val="45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2C1D6"/>
                </a:solidFill>
                <a:latin typeface="Aptos"/>
              </a:defRPr>
            </a:pPr>
            <a:r>
              <a:t>GHCAA  |  Project Proposal  |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800" b="1">
                <a:solidFill>
                  <a:srgbClr val="EEB84C"/>
                </a:solidFill>
                <a:latin typeface="Aptos"/>
              </a:defRPr>
            </a:pPr>
            <a:r>
              <a:t>Problem and market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24128"/>
            <a:ext cx="10515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45C4B5"/>
                </a:solidFill>
                <a:latin typeface="Aptos"/>
              </a:defRPr>
            </a:pPr>
            <a:r>
              <a:t>Why another association platform?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10469880" cy="4526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Paper, spreadsheet and messaging records fragment institutional knowledge.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Commercial systems can be strong in CRM, campaigns, events or reporting.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They do not target the same combined constraint: constitutional governance, manual payment evidence, local identity, data sovereignty, low cost and one-maintainer operation.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Contribution: a documented combination and evaluation, not a claim that every feature is novel.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0040" y="146304"/>
            <a:ext cx="438912" cy="6711696"/>
          </a:xfrm>
          <a:prstGeom prst="rect">
            <a:avLst/>
          </a:prstGeom>
          <a:solidFill>
            <a:srgbClr val="45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2C1D6"/>
                </a:solidFill>
                <a:latin typeface="Aptos"/>
              </a:defRPr>
            </a:pPr>
            <a:r>
              <a:t>GHCAA  |  Project Proposal  |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800" b="1">
                <a:solidFill>
                  <a:srgbClr val="EEB84C"/>
                </a:solidFill>
                <a:latin typeface="Aptos"/>
              </a:defRPr>
            </a:pPr>
            <a:r>
              <a:t>Research aim and quality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24128"/>
            <a:ext cx="10515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45C4B5"/>
                </a:solidFill>
                <a:latin typeface="Aptos"/>
              </a:defRPr>
            </a:pPr>
            <a:r>
              <a:t>The project is evaluated, not only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10469880" cy="4526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Design, implement and evaluate a reusable association platform.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Functional requirements: membership, finance, events, communication and governance.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Non-functional requirements: security, privacy, reliability, usability, performance, maintainability, portability, recovery and auditability.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Evidence is separated into mechanism, executable verification and research evaluation.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Research question: can this meet association needs without enterprise cost or loss of governance control?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0040" y="146304"/>
            <a:ext cx="438912" cy="6711696"/>
          </a:xfrm>
          <a:prstGeom prst="rect">
            <a:avLst/>
          </a:prstGeom>
          <a:solidFill>
            <a:srgbClr val="45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2C1D6"/>
                </a:solidFill>
                <a:latin typeface="Aptos"/>
              </a:defRPr>
            </a:pPr>
            <a:r>
              <a:t>GHCAA  |  Project Proposal  |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800" b="1">
                <a:solidFill>
                  <a:srgbClr val="EEB84C"/>
                </a:solidFill>
                <a:latin typeface="Aptos"/>
              </a:defRPr>
            </a:pPr>
            <a:r>
              <a:t>Platform scope beyond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24128"/>
            <a:ext cx="10515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45C4B5"/>
                </a:solidFill>
                <a:latin typeface="Aptos"/>
              </a:defRPr>
            </a:pPr>
            <a:r>
              <a:t>Rules, evidence and institutional continuity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10469880" cy="4526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Membership lifecycle, identity, privacy and directory access.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Manual payment proof, officer verification, ledger and receipts.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Events, attendance, communication and real-time notifications.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Constitution versions, amendment rules, polls and election-document support.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Archive-only deletion, audit history, open-format export and failure isolation.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Governance support does not replace the Election Commission or provide a legally sufficient electronic election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0040" y="146304"/>
            <a:ext cx="438912" cy="6711696"/>
          </a:xfrm>
          <a:prstGeom prst="rect">
            <a:avLst/>
          </a:prstGeom>
          <a:solidFill>
            <a:srgbClr val="45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2C1D6"/>
                </a:solidFill>
                <a:latin typeface="Aptos"/>
              </a:defRPr>
            </a:pPr>
            <a:r>
              <a:t>GHCAA  |  Project Proposal  |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800" b="1">
                <a:solidFill>
                  <a:srgbClr val="EEB84C"/>
                </a:solidFill>
                <a:latin typeface="Aptos"/>
              </a:defRPr>
            </a:pPr>
            <a:r>
              <a:t>Reusable and configurable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24128"/>
            <a:ext cx="10515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45C4B5"/>
                </a:solidFill>
                <a:latin typeface="Aptos"/>
              </a:defRPr>
            </a:pPr>
            <a:r>
              <a:t>Common mechanism plus organisation-specific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10469880" cy="4526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Authentication, role-based authorisation and audit.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Accounting, ledger, payment-proof and document services.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Shared Angular controls and Flutter widgets.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Validation, error handling, notifications and SignalR.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Runtime organisation settings without redeployment.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Profile packs for assets, seed data, documents, tiers and public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0040" y="146304"/>
            <a:ext cx="438912" cy="6711696"/>
          </a:xfrm>
          <a:prstGeom prst="rect">
            <a:avLst/>
          </a:prstGeom>
          <a:solidFill>
            <a:srgbClr val="45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2C1D6"/>
                </a:solidFill>
                <a:latin typeface="Aptos"/>
              </a:defRPr>
            </a:pPr>
            <a:r>
              <a:t>GHCAA  |  Project Proposal  |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800" b="1">
                <a:solidFill>
                  <a:srgbClr val="EEB84C"/>
                </a:solidFill>
                <a:latin typeface="Aptos"/>
              </a:defRPr>
            </a:pPr>
            <a:r>
              <a:t>Architecture, portability and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24128"/>
            <a:ext cx="10515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45C4B5"/>
                </a:solidFill>
                <a:latin typeface="Aptos"/>
              </a:defRPr>
            </a:pPr>
            <a:r>
              <a:t>A maintainable deployment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10469880" cy="4526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Clean Architecture modular monolith: Domain -&gt; Application -&gt; Infrastructure/API.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Typed contracts, dependency inversion and framework-enforced boundaries.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PostgreSQL deployment with SQLite local/test provider-neutrality.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Container-portable deployment and GitHub Actions CI/CD.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Deployment-per-institution with a separate database for stronger isolation.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Legacy-schema migration baselining, archival preservation and open export.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No source changes is the target for supported profile/configuration changes; universal zero-code onboarding is not claimed as complete.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0040" y="146304"/>
            <a:ext cx="438912" cy="6711696"/>
          </a:xfrm>
          <a:prstGeom prst="rect">
            <a:avLst/>
          </a:prstGeom>
          <a:solidFill>
            <a:srgbClr val="45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2C1D6"/>
                </a:solidFill>
                <a:latin typeface="Aptos"/>
              </a:defRPr>
            </a:pPr>
            <a:r>
              <a:t>GHCAA  |  Project Proposal  |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800" b="1">
                <a:solidFill>
                  <a:srgbClr val="EEB84C"/>
                </a:solidFill>
                <a:latin typeface="Aptos"/>
              </a:defRPr>
            </a:pPr>
            <a:r>
              <a:t>Specification-driven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24128"/>
            <a:ext cx="10515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45C4B5"/>
                </a:solidFill>
                <a:latin typeface="Aptos"/>
              </a:defRPr>
            </a:pPr>
            <a:r>
              <a:t>From stakeholder rule to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10469880" cy="4526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Stakeholder / constitution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Formal requirement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Business rule and model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Automated test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Traceability and evaluation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Screens alone do not prove governance or accounting correctness. Quality scenarios also measure failure containment, session invalidation, vote replay rejection, maintainer effort and deployment reproducibility.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57800"/>
            <a:ext cx="1325880" cy="530352"/>
          </a:xfrm>
          <a:prstGeom prst="roundRect">
            <a:avLst/>
          </a:prstGeom>
          <a:solidFill>
            <a:srgbClr val="112440"/>
          </a:solidFill>
          <a:ln>
            <a:solidFill>
              <a:srgbClr val="45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F7FC"/>
                </a:solidFill>
                <a:latin typeface="Aptos"/>
              </a:defRPr>
            </a:pPr>
            <a:r>
              <a:t>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5376672"/>
            <a:ext cx="2743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EEB84C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5257800"/>
            <a:ext cx="1325880" cy="530352"/>
          </a:xfrm>
          <a:prstGeom prst="roundRect">
            <a:avLst/>
          </a:prstGeom>
          <a:solidFill>
            <a:srgbClr val="112440"/>
          </a:solidFill>
          <a:ln>
            <a:solidFill>
              <a:srgbClr val="45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F7FC"/>
                </a:solidFill>
                <a:latin typeface="Aptos"/>
              </a:defRPr>
            </a:pPr>
            <a:r>
              <a:t>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5376672"/>
            <a:ext cx="2743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EEB84C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5257800"/>
            <a:ext cx="1325880" cy="530352"/>
          </a:xfrm>
          <a:prstGeom prst="roundRect">
            <a:avLst/>
          </a:prstGeom>
          <a:solidFill>
            <a:srgbClr val="112440"/>
          </a:solidFill>
          <a:ln>
            <a:solidFill>
              <a:srgbClr val="45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F7FC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5376672"/>
            <a:ext cx="2743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EEB84C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19" y="5257800"/>
            <a:ext cx="1325880" cy="530352"/>
          </a:xfrm>
          <a:prstGeom prst="roundRect">
            <a:avLst/>
          </a:prstGeom>
          <a:solidFill>
            <a:srgbClr val="112440"/>
          </a:solidFill>
          <a:ln>
            <a:solidFill>
              <a:srgbClr val="45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F7FC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5376672"/>
            <a:ext cx="2743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EEB84C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5257800"/>
            <a:ext cx="1325880" cy="530352"/>
          </a:xfrm>
          <a:prstGeom prst="roundRect">
            <a:avLst/>
          </a:prstGeom>
          <a:solidFill>
            <a:srgbClr val="112440"/>
          </a:solidFill>
          <a:ln>
            <a:solidFill>
              <a:srgbClr val="45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F7FC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5376672"/>
            <a:ext cx="2743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EEB84C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5257800"/>
            <a:ext cx="1325880" cy="530352"/>
          </a:xfrm>
          <a:prstGeom prst="roundRect">
            <a:avLst/>
          </a:prstGeom>
          <a:solidFill>
            <a:srgbClr val="112440"/>
          </a:solidFill>
          <a:ln>
            <a:solidFill>
              <a:srgbClr val="45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F7FC"/>
                </a:solidFill>
                <a:latin typeface="Aptos"/>
              </a:defRPr>
            </a:pPr>
            <a:r>
              <a:t>Evaluate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0040" y="146304"/>
            <a:ext cx="438912" cy="6711696"/>
          </a:xfrm>
          <a:prstGeom prst="rect">
            <a:avLst/>
          </a:prstGeom>
          <a:solidFill>
            <a:srgbClr val="45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2C1D6"/>
                </a:solidFill>
                <a:latin typeface="Aptos"/>
              </a:defRPr>
            </a:pPr>
            <a:r>
              <a:t>GHCAA  |  Project Proposal  |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800" b="1">
                <a:solidFill>
                  <a:srgbClr val="EEB84C"/>
                </a:solidFill>
                <a:latin typeface="Aptos"/>
              </a:defRPr>
            </a:pPr>
            <a:r>
              <a:t>Testing, coverage and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24128"/>
            <a:ext cx="10515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45C4B5"/>
                </a:solidFill>
                <a:latin typeface="Aptos"/>
              </a:defRPr>
            </a:pPr>
            <a:r>
              <a:t>Quality is part of the 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10469880" cy="4526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Backend unit and integration tests; database and API tests.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Angular Vitest tests; Flutter widget and service tests.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Playwright end-to-end, security, privacy and contract tests.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Coverlet statement and branch coverage.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Requirement coverage through the traceability matrix.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Static analysis, type checks, performance, accessibility and usability evaluation.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Build -&gt; Analyse -&gt; Test -&gt; Contract check -&gt; Package -&gt; Deploy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0040" y="146304"/>
            <a:ext cx="438912" cy="6711696"/>
          </a:xfrm>
          <a:prstGeom prst="rect">
            <a:avLst/>
          </a:prstGeom>
          <a:solidFill>
            <a:srgbClr val="45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2C1D6"/>
                </a:solidFill>
                <a:latin typeface="Aptos"/>
              </a:defRPr>
            </a:pPr>
            <a:r>
              <a:t>GHCAA  |  Project Proposal  |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800" b="1">
                <a:solidFill>
                  <a:srgbClr val="EEB84C"/>
                </a:solidFill>
                <a:latin typeface="Aptos"/>
              </a:defRPr>
            </a:pPr>
            <a:r>
              <a:t>Evidence, trade-offs and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24128"/>
            <a:ext cx="10515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45C4B5"/>
                </a:solidFill>
                <a:latin typeface="Aptos"/>
              </a:defRPr>
            </a:pPr>
            <a:r>
              <a:t>Claims remain matched to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10469880" cy="4526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Payment: instructions -&gt; member payment -&gt; proof upload -&gt; officer verification -&gt; ledger and receipt.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Governance: constitution versioning, amendment voting, polls, voter-roll preparation and election-document support.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Sequential vote replay rejection is not concurrent high-contention proof.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A bounded diagnostic log is not proof of operational usefulness.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Profile packs are not unlimited multi-tenancy; separate deployments and databases are the intended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0040" y="146304"/>
            <a:ext cx="438912" cy="6711696"/>
          </a:xfrm>
          <a:prstGeom prst="rect">
            <a:avLst/>
          </a:prstGeom>
          <a:solidFill>
            <a:srgbClr val="45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2C1D6"/>
                </a:solidFill>
                <a:latin typeface="Aptos"/>
              </a:defRPr>
            </a:pPr>
            <a:r>
              <a:t>GHCAA  |  Project Proposal  |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800" b="1">
                <a:solidFill>
                  <a:srgbClr val="EEB84C"/>
                </a:solidFill>
                <a:latin typeface="Aptos"/>
              </a:defRPr>
            </a:pPr>
            <a:r>
              <a:t>Optional AI agent, timeline and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24128"/>
            <a:ext cx="10515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>
                <a:solidFill>
                  <a:srgbClr val="45C4B5"/>
                </a:solidFill>
                <a:latin typeface="Aptos"/>
              </a:defRPr>
            </a:pPr>
            <a:r>
              <a:t>A controlled extension, only if time permits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10469880" cy="4526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Advisory agent: find policies/forms, explain procedures, navigate the portal and search permitted directory information.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Never approve members, verify payments, change accounting, decide election eligibility or bypass authorisation.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Remaining delivery: traceability, measured coverage, integration, evaluation, profile onboarding and deployment evidence.</a:t>
            </a:r>
          </a:p>
          <a:p>
            <a:pPr>
              <a:spcAft>
                <a:spcPts val="10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Outcome: a working, tested and evaluated platform combining reusable services with organisation-specific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